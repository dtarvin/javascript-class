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9"/>
  </p:notesMasterIdLst>
  <p:sldIdLst>
    <p:sldId id="256" r:id="rId2"/>
    <p:sldId id="270" r:id="rId3"/>
    <p:sldId id="258" r:id="rId4"/>
    <p:sldId id="272" r:id="rId5"/>
    <p:sldId id="259" r:id="rId6"/>
    <p:sldId id="271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3" r:id="rId18"/>
    <p:sldId id="274" r:id="rId19"/>
    <p:sldId id="275" r:id="rId20"/>
    <p:sldId id="276" r:id="rId21"/>
    <p:sldId id="277" r:id="rId22"/>
    <p:sldId id="279" r:id="rId23"/>
    <p:sldId id="280" r:id="rId24"/>
    <p:sldId id="281" r:id="rId25"/>
    <p:sldId id="278" r:id="rId26"/>
    <p:sldId id="282" r:id="rId27"/>
    <p:sldId id="283" r:id="rId28"/>
  </p:sldIdLst>
  <p:sldSz cx="9144000" cy="5143500" type="screen16x9"/>
  <p:notesSz cx="6858000" cy="9144000"/>
  <p:embeddedFontLst>
    <p:embeddedFont>
      <p:font typeface="Average" panose="02000503040000020003" pitchFamily="2" charset="77"/>
      <p:regular r:id="rId30"/>
    </p:embeddedFont>
    <p:embeddedFont>
      <p:font typeface="Oswald" pitchFamily="2" charset="77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24"/>
    <p:restoredTop sz="94737"/>
  </p:normalViewPr>
  <p:slideViewPr>
    <p:cSldViewPr snapToGrid="0">
      <p:cViewPr>
        <p:scale>
          <a:sx n="108" d="100"/>
          <a:sy n="108" d="100"/>
        </p:scale>
        <p:origin x="3424" y="14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5AE21D62-C3D8-795B-64DE-F52044D1B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81bd5d554_0_0:notes">
            <a:extLst>
              <a:ext uri="{FF2B5EF4-FFF2-40B4-BE49-F238E27FC236}">
                <a16:creationId xmlns:a16="http://schemas.microsoft.com/office/drawing/2014/main" id="{9C001ADB-5E4C-F90B-D2D9-35DB3857A1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81bd5d554_0_0:notes">
            <a:extLst>
              <a:ext uri="{FF2B5EF4-FFF2-40B4-BE49-F238E27FC236}">
                <a16:creationId xmlns:a16="http://schemas.microsoft.com/office/drawing/2014/main" id="{A2DF09D2-6ACD-1D8E-9A88-29524D9843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5197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81bd5d55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81bd5d55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7C242439-4102-4719-7354-AB1D8C116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81bd5d554_0_5:notes">
            <a:extLst>
              <a:ext uri="{FF2B5EF4-FFF2-40B4-BE49-F238E27FC236}">
                <a16:creationId xmlns:a16="http://schemas.microsoft.com/office/drawing/2014/main" id="{6C9DC80F-9334-4D8E-465E-D6B26265D8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81bd5d554_0_5:notes">
            <a:extLst>
              <a:ext uri="{FF2B5EF4-FFF2-40B4-BE49-F238E27FC236}">
                <a16:creationId xmlns:a16="http://schemas.microsoft.com/office/drawing/2014/main" id="{FB93B8A6-159B-0EED-57A8-D8A7DE26AF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8409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81bd5d55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81bd5d55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B193D44D-B7A5-4D9E-B791-8C3810C42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81bd5d554_0_0:notes">
            <a:extLst>
              <a:ext uri="{FF2B5EF4-FFF2-40B4-BE49-F238E27FC236}">
                <a16:creationId xmlns:a16="http://schemas.microsoft.com/office/drawing/2014/main" id="{F25CE504-CA66-EEBB-1DDC-5D11CFA0E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81bd5d554_0_0:notes">
            <a:extLst>
              <a:ext uri="{FF2B5EF4-FFF2-40B4-BE49-F238E27FC236}">
                <a16:creationId xmlns:a16="http://schemas.microsoft.com/office/drawing/2014/main" id="{D92A7D76-4525-28BC-28BE-33A6822845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367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81bd5d55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81bd5d55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81bd5d55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81bd5d55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81bd5d554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81bd5d554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781bd5d554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781bd5d554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81bd5d554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81bd5d554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781bd5d55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781bd5d55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781bd5d554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781bd5d554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781bd5d55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781bd5d55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781bd5d554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781bd5d554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781bd5d554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781bd5d554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Asynchronous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Programming</a:t>
            </a: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David Tarvin, AIM Code School</a:t>
            </a:r>
            <a:endParaRPr sz="17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3BD28CD8-ADC0-3F4A-4C35-20270F9C0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0E30CB09-53C7-C0A1-D028-C76AAAE8B0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Synchronous programming</a:t>
            </a:r>
            <a:endParaRPr dirty="0"/>
          </a:p>
        </p:txBody>
      </p:sp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86B806E2-B73B-866E-8A59-10101F150B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Synchronous programming - things happen one at at time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JavaScript runs top to bottom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executes one line at a time</a:t>
            </a:r>
          </a:p>
          <a:p>
            <a:pPr>
              <a:spcBef>
                <a:spcPts val="600"/>
              </a:spcBef>
              <a:buChar char="-"/>
            </a:pPr>
            <a:r>
              <a:rPr lang="en-US" dirty="0"/>
              <a:t>W</a:t>
            </a:r>
            <a:r>
              <a:rPr lang="en" dirty="0" err="1"/>
              <a:t>aits</a:t>
            </a:r>
            <a:r>
              <a:rPr lang="en" dirty="0"/>
              <a:t> for each line to execute and do what it needs to do before moving on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Problematic if the task being executed takes time, like a network request or waiting for a click event</a:t>
            </a:r>
            <a:endParaRPr dirty="0"/>
          </a:p>
          <a:p>
            <a:pPr marL="914400" lvl="1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-"/>
            </a:pPr>
            <a:r>
              <a:rPr lang="en" sz="1600" dirty="0"/>
              <a:t>Program can’t make progress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236014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Synchronous programming (cont’d)</a:t>
            </a:r>
            <a:endParaRPr dirty="0"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 - program making two requests and combining the results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Synchronous - make the requests one after the other</a:t>
            </a:r>
            <a:endParaRPr dirty="0"/>
          </a:p>
          <a:p>
            <a:pPr marL="914400" lvl="1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-"/>
            </a:pPr>
            <a:r>
              <a:rPr lang="en" sz="1600" dirty="0"/>
              <a:t>Drawback - second request will be started only when the first one has finished</a:t>
            </a:r>
            <a:endParaRPr sz="1600" dirty="0"/>
          </a:p>
          <a:p>
            <a:pPr marL="914400" lvl="1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-"/>
            </a:pPr>
            <a:r>
              <a:rPr lang="en" sz="1600" dirty="0"/>
              <a:t>Total time taken will be at least the sum of the two response times</a:t>
            </a:r>
            <a:endParaRPr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F9581448-A8AF-C5E3-8159-44A5F0F27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FDE32567-9086-1B39-93AB-7E1AC5CAAD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Multithreading</a:t>
            </a:r>
            <a:endParaRPr dirty="0"/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ECDFD381-9D40-7543-60C3-C22237608E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dirty="0"/>
              <a:t>Solution for synchronous programming - start additional threads of control</a:t>
            </a:r>
            <a:endParaRPr dirty="0"/>
          </a:p>
          <a:p>
            <a:pPr indent="-317500">
              <a:spcBef>
                <a:spcPts val="600"/>
              </a:spcBef>
              <a:buSzPts val="1400"/>
              <a:buChar char="-"/>
            </a:pPr>
            <a:r>
              <a:rPr lang="en" dirty="0"/>
              <a:t>A thread is another running program whose execution may be inserted along with other programs by the operating system</a:t>
            </a:r>
            <a:endParaRPr dirty="0"/>
          </a:p>
          <a:p>
            <a:pPr lvl="1">
              <a:spcBef>
                <a:spcPts val="600"/>
              </a:spcBef>
              <a:buChar char="-"/>
            </a:pPr>
            <a:r>
              <a:rPr lang="en" sz="1600" dirty="0"/>
              <a:t>Threads could run at the same time on different processors</a:t>
            </a:r>
            <a:endParaRPr sz="1600" dirty="0"/>
          </a:p>
          <a:p>
            <a:pPr marL="914400" lvl="1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-"/>
            </a:pPr>
            <a:r>
              <a:rPr lang="en" sz="1600" dirty="0"/>
              <a:t>A second thread could start the second request, then both threads wait for results to come back, then they resynchronize to combine results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220221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JavaScript and Multithreaded Programming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doesn’t JavaScript use multi-threading?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JavaScript is a scripting language that was only intended for browsers </a:t>
            </a:r>
          </a:p>
          <a:p>
            <a:pPr lvl="1" indent="-342900">
              <a:spcBef>
                <a:spcPts val="600"/>
              </a:spcBef>
              <a:buSzPts val="1800"/>
              <a:buChar char="-"/>
            </a:pPr>
            <a:r>
              <a:rPr lang="en" sz="1600" dirty="0"/>
              <a:t>not very fast when JavaScript was created</a:t>
            </a:r>
            <a:endParaRPr sz="1600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JavaScript was kept single-threaded so that operations in the browsers would not get blocked due to multiple requests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94A17C44-8502-A629-1AB9-720C7FF9B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42B16747-E084-10ED-F463-A82AB1AF25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Asynchronous Programming</a:t>
            </a:r>
            <a:endParaRPr dirty="0"/>
          </a:p>
        </p:txBody>
      </p:sp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49E073E2-592C-459F-76CE-5455D84968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Solution for JavaScript - asynchronous programming </a:t>
            </a:r>
          </a:p>
          <a:p>
            <a:pPr>
              <a:spcBef>
                <a:spcPts val="600"/>
              </a:spcBef>
              <a:buFont typeface="Average"/>
              <a:buChar char="-"/>
            </a:pPr>
            <a:r>
              <a:rPr lang="en-US" dirty="0"/>
              <a:t>allows multiple things to happen at the same time</a:t>
            </a:r>
            <a:endParaRPr lang="en" dirty="0"/>
          </a:p>
          <a:p>
            <a:pPr lvl="1" indent="-342900">
              <a:spcBef>
                <a:spcPts val="600"/>
              </a:spcBef>
              <a:buSzPts val="1800"/>
              <a:buChar char="-"/>
            </a:pPr>
            <a:r>
              <a:rPr lang="en" sz="1600" dirty="0"/>
              <a:t>When an action is started, the program continues to run</a:t>
            </a:r>
            <a:endParaRPr sz="1600" dirty="0"/>
          </a:p>
          <a:p>
            <a:pPr lvl="1" indent="-342900">
              <a:spcBef>
                <a:spcPts val="600"/>
              </a:spcBef>
              <a:buSzPts val="1800"/>
              <a:buChar char="-"/>
            </a:pPr>
            <a:r>
              <a:rPr lang="en" sz="1600" dirty="0"/>
              <a:t>When the action finishes, the program is informed and gets access to the result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891583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Callbacks - An approach to asynchronous programming</a:t>
            </a:r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A callback function is a function that is called by another function to do something when a process finishes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A function that has to wait for something and then do something after the waiting is over will take a function as an extra argument</a:t>
            </a:r>
            <a:endParaRPr dirty="0"/>
          </a:p>
          <a:p>
            <a:pPr marL="914400" lvl="1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-"/>
            </a:pPr>
            <a:r>
              <a:rPr lang="en" sz="1600" dirty="0"/>
              <a:t>The function that has to wait for something is sometimes called the asynchronous function, or is sometimes called the  callout function</a:t>
            </a:r>
            <a:endParaRPr sz="1600" dirty="0"/>
          </a:p>
          <a:p>
            <a:pPr marL="914400" lvl="1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-"/>
            </a:pPr>
            <a:r>
              <a:rPr lang="en" sz="1600" dirty="0"/>
              <a:t>The function that is provided as an extra argument to the asynchronous (async) function is called the callback function</a:t>
            </a:r>
            <a:endParaRPr sz="1600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The async function starts a process and sets things up so that the callback function is called when the process finishes, and then returns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Callbacks (cont’d)</a:t>
            </a: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Examples of callbacks: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dirty="0" err="1"/>
              <a:t>setTimeout</a:t>
            </a:r>
            <a:r>
              <a:rPr lang="en" dirty="0"/>
              <a:t>() waits a certain number of milliseconds and then calls a function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600" dirty="0" err="1"/>
              <a:t>setTimeout</a:t>
            </a:r>
            <a:r>
              <a:rPr lang="en" sz="1600" dirty="0"/>
              <a:t>(() =&gt; console.log(‘Tick’), 500);</a:t>
            </a:r>
            <a:endParaRPr sz="16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Reading a file from a device’s storage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600" dirty="0"/>
              <a:t>Function that reads a text file’s content as a string and passes it to a callback function to console.log the results</a:t>
            </a:r>
            <a:br>
              <a:rPr lang="en" sz="1600" dirty="0"/>
            </a:br>
            <a:r>
              <a:rPr lang="en" sz="1600" dirty="0" err="1"/>
              <a:t>readTextFile</a:t>
            </a:r>
            <a:r>
              <a:rPr lang="en" sz="1600" dirty="0"/>
              <a:t>(“</a:t>
            </a:r>
            <a:r>
              <a:rPr lang="en" sz="1600" dirty="0" err="1"/>
              <a:t>shopping_list.txt</a:t>
            </a:r>
            <a:r>
              <a:rPr lang="en" sz="1600" dirty="0"/>
              <a:t>”, content =&gt; {</a:t>
            </a:r>
            <a:br>
              <a:rPr lang="en" sz="1600" dirty="0"/>
            </a:br>
            <a:r>
              <a:rPr lang="en" sz="1600" dirty="0"/>
              <a:t>    console.log(`Shopping List:\n$(content)`);</a:t>
            </a:r>
            <a:br>
              <a:rPr lang="en" sz="1600" dirty="0"/>
            </a:br>
            <a:r>
              <a:rPr lang="en" sz="1600" dirty="0"/>
              <a:t>});</a:t>
            </a:r>
            <a:endParaRPr sz="1600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600" dirty="0"/>
              <a:t>// Shopping List:</a:t>
            </a:r>
            <a:endParaRPr sz="1600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600" dirty="0"/>
              <a:t>// Peanut butter</a:t>
            </a:r>
            <a:endParaRPr sz="1600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600" dirty="0"/>
              <a:t>// Bananas</a:t>
            </a:r>
            <a:endParaRPr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Callbacks (cont’d)</a:t>
            </a:r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Drawbacks to simply using callbacks: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Performing multiple async operations in a row using callbacks means you have to keep passing new functions to handle the continuation of the computation after the actions  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Example: A function that compares two files and produces a </a:t>
            </a:r>
            <a:r>
              <a:rPr lang="en" dirty="0" err="1"/>
              <a:t>boolean</a:t>
            </a:r>
            <a:r>
              <a:rPr lang="en" dirty="0"/>
              <a:t> indicating whether their content is the same  </a:t>
            </a:r>
            <a:endParaRPr dirty="0"/>
          </a:p>
          <a:p>
            <a:pPr marL="914400" lvl="1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-"/>
            </a:pPr>
            <a:r>
              <a:rPr lang="en" sz="1600" dirty="0"/>
              <a:t>function </a:t>
            </a:r>
            <a:r>
              <a:rPr lang="en" sz="1600" dirty="0" err="1"/>
              <a:t>compareFiles</a:t>
            </a:r>
            <a:r>
              <a:rPr lang="en" sz="1600" dirty="0"/>
              <a:t>(</a:t>
            </a:r>
            <a:r>
              <a:rPr lang="en" sz="1600" dirty="0" err="1"/>
              <a:t>fileA</a:t>
            </a:r>
            <a:r>
              <a:rPr lang="en" sz="1600" dirty="0"/>
              <a:t>, </a:t>
            </a:r>
            <a:r>
              <a:rPr lang="en" sz="1600" dirty="0" err="1"/>
              <a:t>fileB</a:t>
            </a:r>
            <a:r>
              <a:rPr lang="en" sz="1600" dirty="0"/>
              <a:t>, callback) {</a:t>
            </a:r>
            <a:br>
              <a:rPr lang="en" sz="1600" dirty="0"/>
            </a:br>
            <a:r>
              <a:rPr lang="en" sz="1600" dirty="0"/>
              <a:t>    </a:t>
            </a:r>
            <a:r>
              <a:rPr lang="en" sz="1600" dirty="0" err="1"/>
              <a:t>readTextFile</a:t>
            </a:r>
            <a:r>
              <a:rPr lang="en" sz="1600" dirty="0"/>
              <a:t>(</a:t>
            </a:r>
            <a:r>
              <a:rPr lang="en" sz="1600" dirty="0" err="1"/>
              <a:t>fileA</a:t>
            </a:r>
            <a:r>
              <a:rPr lang="en" sz="1600" dirty="0"/>
              <a:t>, </a:t>
            </a:r>
            <a:r>
              <a:rPr lang="en" sz="1600" dirty="0" err="1"/>
              <a:t>contentA</a:t>
            </a:r>
            <a:r>
              <a:rPr lang="en" sz="1600" dirty="0"/>
              <a:t> =&gt; {</a:t>
            </a:r>
            <a:br>
              <a:rPr lang="en" sz="1600" dirty="0"/>
            </a:br>
            <a:r>
              <a:rPr lang="en" sz="1600" dirty="0"/>
              <a:t>        </a:t>
            </a:r>
            <a:r>
              <a:rPr lang="en" sz="1600" dirty="0" err="1"/>
              <a:t>readTextFile</a:t>
            </a:r>
            <a:r>
              <a:rPr lang="en" sz="1600" dirty="0"/>
              <a:t>(</a:t>
            </a:r>
            <a:r>
              <a:rPr lang="en" sz="1600" dirty="0" err="1"/>
              <a:t>fileB</a:t>
            </a:r>
            <a:r>
              <a:rPr lang="en" sz="1600" dirty="0"/>
              <a:t>, </a:t>
            </a:r>
            <a:r>
              <a:rPr lang="en" sz="1600" dirty="0" err="1"/>
              <a:t>contentB</a:t>
            </a:r>
            <a:r>
              <a:rPr lang="en" sz="1600" dirty="0"/>
              <a:t> =&gt; {</a:t>
            </a:r>
            <a:br>
              <a:rPr lang="en" sz="1600" dirty="0"/>
            </a:br>
            <a:r>
              <a:rPr lang="en" sz="1600" dirty="0"/>
              <a:t>            callback(</a:t>
            </a:r>
            <a:r>
              <a:rPr lang="en" sz="1600" dirty="0" err="1"/>
              <a:t>contentA</a:t>
            </a:r>
            <a:r>
              <a:rPr lang="en" sz="1600" dirty="0"/>
              <a:t> == </a:t>
            </a:r>
            <a:r>
              <a:rPr lang="en" sz="1600" dirty="0" err="1"/>
              <a:t>contentB</a:t>
            </a:r>
            <a:r>
              <a:rPr lang="en" sz="1600" dirty="0"/>
              <a:t>);</a:t>
            </a:r>
            <a:br>
              <a:rPr lang="en" sz="1600" dirty="0"/>
            </a:br>
            <a:r>
              <a:rPr lang="en" sz="1600" dirty="0"/>
              <a:t>        });</a:t>
            </a:r>
            <a:br>
              <a:rPr lang="en" sz="1600" dirty="0"/>
            </a:br>
            <a:r>
              <a:rPr lang="en" sz="1600" dirty="0"/>
              <a:t>    });</a:t>
            </a:r>
            <a:br>
              <a:rPr lang="en" sz="1600" dirty="0"/>
            </a:br>
            <a:r>
              <a:rPr lang="en" sz="1600" dirty="0"/>
              <a:t>}</a:t>
            </a:r>
            <a:endParaRPr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Callbacks (cont’d)</a:t>
            </a:r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Any function that calls a function that works asynchronously must itself be asynchronous, using a callback or similar mechanism to deliver its result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Having multiple nested callback functions is known as callback hell 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Multiple nested callback functions makes the code complex, hard to read, and challenging to read, debug,  and generally maintain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Callbacks (cont’d)</a:t>
            </a:r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3613" y="1152475"/>
            <a:ext cx="3036782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Promises</a:t>
            </a:r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Like callbacks, promises allow us to wait on certain code to finish execution before running the next bit of code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A Promise represents the eventual result of an async operation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It is a guarantee that something will happen in the future</a:t>
            </a:r>
            <a:endParaRPr dirty="0"/>
          </a:p>
          <a:p>
            <a:pPr marL="914400" lvl="1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-"/>
            </a:pPr>
            <a:r>
              <a:rPr lang="en" sz="1600" dirty="0"/>
              <a:t>Just like people, the Promise will be kept or not kept</a:t>
            </a:r>
            <a:endParaRPr sz="1600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A JavaScript Promise is a placeholder object for something that is supposed to be returned from the server and on which we can attach callbacks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Promises (cont’d)</a:t>
            </a:r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Promise has three states: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Pending - the async operation hasn’t completed yet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Fulfilled - the operation has completed and the Promise has a value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Rejected - the operation has completed with an error or has failed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Once a Promise has settled, it is settled for good and cannot transition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Promises (cont’d)</a:t>
            </a:r>
            <a:endParaRPr/>
          </a:p>
        </p:txBody>
      </p:sp>
      <p:sp>
        <p:nvSpPr>
          <p:cNvPr id="127" name="Google Shape;12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Promise syntax: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dirty="0" err="1"/>
              <a:t>runFunction</a:t>
            </a:r>
            <a:r>
              <a:rPr lang="en" dirty="0"/>
              <a:t>().then(</a:t>
            </a:r>
            <a:r>
              <a:rPr lang="en" dirty="0" err="1"/>
              <a:t>successFunc</a:t>
            </a:r>
            <a:r>
              <a:rPr lang="en" dirty="0"/>
              <a:t>, </a:t>
            </a:r>
            <a:r>
              <a:rPr lang="en" dirty="0" err="1"/>
              <a:t>failureFunc</a:t>
            </a:r>
            <a:r>
              <a:rPr lang="en" dirty="0"/>
              <a:t>);</a:t>
            </a:r>
            <a:endParaRPr dirty="0"/>
          </a:p>
          <a:p>
            <a:pPr marL="914400" lvl="1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-"/>
            </a:pPr>
            <a:r>
              <a:rPr lang="en" sz="1600" dirty="0"/>
              <a:t>First, invoke </a:t>
            </a:r>
            <a:r>
              <a:rPr lang="en" sz="1600" dirty="0" err="1"/>
              <a:t>runFunction</a:t>
            </a:r>
            <a:r>
              <a:rPr lang="en" sz="1600" dirty="0"/>
              <a:t>()</a:t>
            </a:r>
            <a:endParaRPr sz="1600" dirty="0"/>
          </a:p>
          <a:p>
            <a:pPr marL="914400" lvl="1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-"/>
            </a:pPr>
            <a:r>
              <a:rPr lang="en" sz="1600" dirty="0" err="1"/>
              <a:t>runFunction</a:t>
            </a:r>
            <a:r>
              <a:rPr lang="en" sz="1600" dirty="0"/>
              <a:t>() returns a Promise</a:t>
            </a:r>
            <a:endParaRPr sz="1600" dirty="0"/>
          </a:p>
          <a:p>
            <a:pPr marL="914400" lvl="1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-"/>
            </a:pPr>
            <a:r>
              <a:rPr lang="en" sz="1600" dirty="0"/>
              <a:t>Once the Promise is settled:</a:t>
            </a:r>
            <a:endParaRPr sz="1600" dirty="0"/>
          </a:p>
          <a:p>
            <a:pPr marL="1371600" lvl="2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-"/>
            </a:pPr>
            <a:r>
              <a:rPr lang="en" sz="1600" dirty="0"/>
              <a:t>If the Promise is fulfilled, </a:t>
            </a:r>
            <a:r>
              <a:rPr lang="en" sz="1600" dirty="0" err="1"/>
              <a:t>successFunc</a:t>
            </a:r>
            <a:r>
              <a:rPr lang="en" sz="1600" dirty="0"/>
              <a:t> is invoked</a:t>
            </a:r>
            <a:endParaRPr sz="1600" dirty="0"/>
          </a:p>
          <a:p>
            <a:pPr marL="1371600" lvl="2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-"/>
            </a:pPr>
            <a:r>
              <a:rPr lang="en" sz="1600" dirty="0"/>
              <a:t>If the Promise fails, </a:t>
            </a:r>
            <a:r>
              <a:rPr lang="en" sz="1600" dirty="0" err="1"/>
              <a:t>failureFunc</a:t>
            </a:r>
            <a:r>
              <a:rPr lang="en" sz="1600" dirty="0"/>
              <a:t> is invoked</a:t>
            </a:r>
            <a:endParaRPr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Promises (cont’d)</a:t>
            </a:r>
            <a:endParaRPr/>
          </a:p>
        </p:txBody>
      </p:sp>
      <p:sp>
        <p:nvSpPr>
          <p:cNvPr id="133" name="Google Shape;133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A Promise takes a callback function as a parameter, usually an arrow function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The callback function takes two functions as parameters - resolve and reject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They have to be included as parameters in order for them to be used</a:t>
            </a:r>
            <a:endParaRPr dirty="0"/>
          </a:p>
          <a:p>
            <a:pPr marL="914400" lvl="1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-"/>
            </a:pPr>
            <a:r>
              <a:rPr lang="en" sz="1600" dirty="0"/>
              <a:t>Can be named anything - the first will always be resolved and the second will always be reject</a:t>
            </a:r>
            <a:endParaRPr sz="1600" dirty="0"/>
          </a:p>
          <a:p>
            <a:pPr marL="914400" lvl="1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-"/>
            </a:pPr>
            <a:r>
              <a:rPr lang="en" sz="1600" dirty="0"/>
              <a:t>Don’t include parentheses after them because doing so would cause the functions to execute immediately</a:t>
            </a:r>
            <a:endParaRPr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Promises (cont’d)</a:t>
            </a:r>
            <a:endParaRPr/>
          </a:p>
        </p:txBody>
      </p:sp>
      <p:sp>
        <p:nvSpPr>
          <p:cNvPr id="139" name="Google Shape;139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The callback function passes as a parameter for the Promise can be called </a:t>
            </a:r>
            <a:r>
              <a:rPr lang="en" dirty="0" err="1"/>
              <a:t>promise_executor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The resolve and reject functions are callbacks provided by the Promise instance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Each of those functions take one parameter that is of type Object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If the Promise is resolved, the resolve method passes the parameter to the .then callback function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If the Promise is rejected, the reject method passes the parameter to the .catch callback function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7B25E-6247-3AC2-EA8C-F02104234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ED21C4-2352-2992-E60D-94F0B99DAB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101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2EA1F-BEC0-5E1E-84BC-2801EA7C9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03E2A-254D-44E8-7669-00E5DF249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339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0A13C-71D0-A6D9-CB74-8C0AE1497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Errors in JavaScript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6977C0-40CF-8CF7-45D8-76387CA690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Tarvin, AIM Code School</a:t>
            </a:r>
          </a:p>
        </p:txBody>
      </p:sp>
    </p:spTree>
    <p:extLst>
      <p:ext uri="{BB962C8B-B14F-4D97-AF65-F5344CB8AC3E}">
        <p14:creationId xmlns:p14="http://schemas.microsoft.com/office/powerpoint/2010/main" val="2513104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48A4D-948E-CE6A-C434-6656E077D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Syntax Errors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5EE78-45C4-9DF1-2CB0-C4A50C240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Occurs when syntactic rules of JavaScript are disregarded (think grammar)</a:t>
            </a:r>
          </a:p>
          <a:p>
            <a:pPr lvl="1"/>
            <a:r>
              <a:rPr lang="en-US" dirty="0"/>
              <a:t>Omitting parentheses around the condition in an if statement</a:t>
            </a:r>
          </a:p>
          <a:p>
            <a:pPr lvl="1"/>
            <a:r>
              <a:rPr lang="en-US" dirty="0"/>
              <a:t>Writing </a:t>
            </a:r>
            <a:r>
              <a:rPr lang="en-US" dirty="0" err="1"/>
              <a:t>funktion</a:t>
            </a:r>
            <a:r>
              <a:rPr lang="en-US" dirty="0"/>
              <a:t> instead of function</a:t>
            </a:r>
          </a:p>
          <a:p>
            <a:pPr lvl="1"/>
            <a:r>
              <a:rPr lang="en-US" dirty="0"/>
              <a:t>Missing quotation marks or backticks</a:t>
            </a:r>
          </a:p>
          <a:p>
            <a:pPr lvl="1"/>
            <a:r>
              <a:rPr lang="en-US" dirty="0"/>
              <a:t>Improper alignment of curly braces or other characters</a:t>
            </a:r>
          </a:p>
          <a:p>
            <a:r>
              <a:rPr lang="en-US" dirty="0"/>
              <a:t>Not detected before runtime because JavaScript is an interpreted language, not a compiled one</a:t>
            </a:r>
          </a:p>
          <a:p>
            <a:r>
              <a:rPr lang="en-US" dirty="0"/>
              <a:t>Detected when code is interpreted, as opposed to when it is executed</a:t>
            </a:r>
          </a:p>
        </p:txBody>
      </p:sp>
    </p:spTree>
    <p:extLst>
      <p:ext uri="{BB962C8B-B14F-4D97-AF65-F5344CB8AC3E}">
        <p14:creationId xmlns:p14="http://schemas.microsoft.com/office/powerpoint/2010/main" val="9800363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1859F-7E62-CD21-1984-25857CFD7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Runtime Errors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206E8-A720-82A4-7F98-A0E7D85A7F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Occurs when an erroneous piece of code is executed</a:t>
            </a:r>
          </a:p>
          <a:p>
            <a:pPr lvl="1"/>
            <a:r>
              <a:rPr lang="en-US" dirty="0"/>
              <a:t>Accessing variables that have not been declared</a:t>
            </a:r>
          </a:p>
          <a:p>
            <a:pPr lvl="1"/>
            <a:r>
              <a:rPr lang="en-US" dirty="0"/>
              <a:t>Calling a function that has not been defined</a:t>
            </a:r>
          </a:p>
        </p:txBody>
      </p:sp>
    </p:spTree>
    <p:extLst>
      <p:ext uri="{BB962C8B-B14F-4D97-AF65-F5344CB8AC3E}">
        <p14:creationId xmlns:p14="http://schemas.microsoft.com/office/powerpoint/2010/main" val="998711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D1B67-C90F-0113-69D0-6F47F9D19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Runtime Errors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29C1-840D-FD1B-4831-18E8AF024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Error – something is wrong with a variable’s reference in the code</a:t>
            </a:r>
          </a:p>
          <a:p>
            <a:pPr lvl="1"/>
            <a:r>
              <a:rPr lang="en-US" dirty="0"/>
              <a:t>Forgetting to define a value for a variable before using it</a:t>
            </a:r>
          </a:p>
          <a:p>
            <a:pPr lvl="1"/>
            <a:r>
              <a:rPr lang="en-US" dirty="0"/>
              <a:t>Trying to use an inaccessible variable in the code</a:t>
            </a:r>
          </a:p>
          <a:p>
            <a:pPr lvl="2"/>
            <a:r>
              <a:rPr lang="en-US" dirty="0"/>
              <a:t>Trying to use a block-scoped variable outside its scope</a:t>
            </a:r>
          </a:p>
          <a:p>
            <a:pPr lvl="1"/>
            <a:r>
              <a:rPr lang="en-US" dirty="0"/>
              <a:t>Misspelling a variable name</a:t>
            </a:r>
          </a:p>
        </p:txBody>
      </p:sp>
    </p:spTree>
    <p:extLst>
      <p:ext uri="{BB962C8B-B14F-4D97-AF65-F5344CB8AC3E}">
        <p14:creationId xmlns:p14="http://schemas.microsoft.com/office/powerpoint/2010/main" val="21275315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3C00-7BF3-073C-6D2E-57E33E5D9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Runtime Errors (cont’d)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9C7D5-7A5B-2CE8-B13B-798DAEB98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Error – some value doesn’t turn out to be of a particular expected type</a:t>
            </a:r>
          </a:p>
          <a:p>
            <a:pPr lvl="1"/>
            <a:r>
              <a:rPr lang="en-US" dirty="0"/>
              <a:t>Invoking objects that are not methods</a:t>
            </a:r>
          </a:p>
          <a:p>
            <a:pPr lvl="1"/>
            <a:r>
              <a:rPr lang="en-US" dirty="0"/>
              <a:t>Attempting to access properties of null or undefined objects</a:t>
            </a:r>
          </a:p>
          <a:p>
            <a:pPr lvl="1"/>
            <a:r>
              <a:rPr lang="en-US" dirty="0"/>
              <a:t>Treating a string as a number or vice versa</a:t>
            </a:r>
          </a:p>
        </p:txBody>
      </p:sp>
    </p:spTree>
    <p:extLst>
      <p:ext uri="{BB962C8B-B14F-4D97-AF65-F5344CB8AC3E}">
        <p14:creationId xmlns:p14="http://schemas.microsoft.com/office/powerpoint/2010/main" val="2205824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07F1E-B93B-BB59-4662-F873FDA7A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0DED9-A396-0318-EBBE-B7B6C1B61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Runtime Errors (cont’d)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151AD-6CC4-1B79-773E-F5581124C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Range Error – variable is set with a value outside its legal values range</a:t>
            </a:r>
          </a:p>
          <a:p>
            <a:pPr lvl="1"/>
            <a:r>
              <a:rPr lang="en-US" dirty="0"/>
              <a:t>Trying to create an array of illegal lengths</a:t>
            </a:r>
          </a:p>
          <a:p>
            <a:pPr lvl="1"/>
            <a:r>
              <a:rPr lang="en-US" dirty="0"/>
              <a:t>Passing bad values to numeric methods</a:t>
            </a:r>
          </a:p>
          <a:p>
            <a:pPr lvl="1"/>
            <a:r>
              <a:rPr lang="en-US" dirty="0"/>
              <a:t>Passing illegal values to string methods</a:t>
            </a:r>
          </a:p>
        </p:txBody>
      </p:sp>
    </p:spTree>
    <p:extLst>
      <p:ext uri="{BB962C8B-B14F-4D97-AF65-F5344CB8AC3E}">
        <p14:creationId xmlns:p14="http://schemas.microsoft.com/office/powerpoint/2010/main" val="18544799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38EFB-5CFC-E683-0D41-63EDBB0BE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Logic Errors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00339-11FF-287C-EDF6-F8D3E03AE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Errors caused by incorrect logic of the program</a:t>
            </a:r>
          </a:p>
          <a:p>
            <a:pPr lvl="1"/>
            <a:r>
              <a:rPr lang="en-US" dirty="0"/>
              <a:t>Code implemented incorrectly by the developer</a:t>
            </a:r>
          </a:p>
          <a:p>
            <a:pPr lvl="1"/>
            <a:r>
              <a:rPr lang="en-US" dirty="0"/>
              <a:t>Something in the program behaves differently than you expect</a:t>
            </a:r>
          </a:p>
        </p:txBody>
      </p:sp>
    </p:spTree>
    <p:extLst>
      <p:ext uri="{BB962C8B-B14F-4D97-AF65-F5344CB8AC3E}">
        <p14:creationId xmlns:p14="http://schemas.microsoft.com/office/powerpoint/2010/main" val="15278279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22D86-A3EB-6510-4D53-AAE91DD5A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Handling Errors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3DE13-6F4A-6232-3601-13632077F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Errors can be handled using a try-catch code block</a:t>
            </a:r>
          </a:p>
          <a:p>
            <a:r>
              <a:rPr lang="en-US" dirty="0"/>
              <a:t>function </a:t>
            </a:r>
            <a:r>
              <a:rPr lang="en-US" dirty="0" err="1"/>
              <a:t>someFunction</a:t>
            </a:r>
            <a:r>
              <a:rPr lang="en-US" dirty="0"/>
              <a:t>() {</a:t>
            </a:r>
            <a:br>
              <a:rPr lang="en-US" dirty="0"/>
            </a:br>
            <a:r>
              <a:rPr lang="en-US" dirty="0"/>
              <a:t>    try {</a:t>
            </a:r>
            <a:br>
              <a:rPr lang="en-US" dirty="0"/>
            </a:br>
            <a:r>
              <a:rPr lang="en-US" dirty="0"/>
              <a:t>        // execute some code that might produce errors here</a:t>
            </a:r>
            <a:br>
              <a:rPr lang="en-US" dirty="0"/>
            </a:br>
            <a:r>
              <a:rPr lang="en-US" dirty="0"/>
              <a:t>    } catch(err) {</a:t>
            </a:r>
            <a:br>
              <a:rPr lang="en-US" dirty="0"/>
            </a:br>
            <a:r>
              <a:rPr lang="en-US" dirty="0"/>
              <a:t>        // handle any errors here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486481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B1726-A6AB-F227-BF42-D974CC048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Error object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D9901-8F3A-0758-1373-0E0E8DA91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error object contains three properties:</a:t>
            </a:r>
          </a:p>
          <a:p>
            <a:pPr lvl="1"/>
            <a:r>
              <a:rPr lang="en-US" dirty="0"/>
              <a:t>name </a:t>
            </a:r>
          </a:p>
          <a:p>
            <a:pPr lvl="1"/>
            <a:r>
              <a:rPr lang="en-US" dirty="0"/>
              <a:t>message </a:t>
            </a:r>
          </a:p>
          <a:p>
            <a:pPr lvl="1"/>
            <a:r>
              <a:rPr lang="en-US" dirty="0"/>
              <a:t>stack </a:t>
            </a:r>
          </a:p>
          <a:p>
            <a:pPr marL="596900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A58A2E-7581-6193-3335-CB03DC4F0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71750"/>
            <a:ext cx="7772400" cy="195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601809"/>
      </p:ext>
    </p:extLst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1327</Words>
  <Application>Microsoft Macintosh PowerPoint</Application>
  <PresentationFormat>On-screen Show (16:9)</PresentationFormat>
  <Paragraphs>129</Paragraphs>
  <Slides>27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Oswald</vt:lpstr>
      <vt:lpstr>Average</vt:lpstr>
      <vt:lpstr>Arial</vt:lpstr>
      <vt:lpstr>Slate</vt:lpstr>
      <vt:lpstr>Asynchronous Programming</vt:lpstr>
      <vt:lpstr>Synchronous programming</vt:lpstr>
      <vt:lpstr>Synchronous programming (cont’d)</vt:lpstr>
      <vt:lpstr>Multithreading</vt:lpstr>
      <vt:lpstr>JavaScript and Multithreaded Programming</vt:lpstr>
      <vt:lpstr>Asynchronous Programming</vt:lpstr>
      <vt:lpstr>Callbacks - An approach to asynchronous programming</vt:lpstr>
      <vt:lpstr>Callbacks (cont’d)</vt:lpstr>
      <vt:lpstr>Callbacks (cont’d)</vt:lpstr>
      <vt:lpstr>Callbacks (cont’d)</vt:lpstr>
      <vt:lpstr>Callbacks (cont’d)</vt:lpstr>
      <vt:lpstr>Promises</vt:lpstr>
      <vt:lpstr>Promises (cont’d)</vt:lpstr>
      <vt:lpstr>Promises (cont’d)</vt:lpstr>
      <vt:lpstr>Promises (cont’d)</vt:lpstr>
      <vt:lpstr>Promises (cont’d)</vt:lpstr>
      <vt:lpstr>PowerPoint Presentation</vt:lpstr>
      <vt:lpstr>PowerPoint Presentation</vt:lpstr>
      <vt:lpstr>Errors in JavaScript</vt:lpstr>
      <vt:lpstr>Syntax Errors</vt:lpstr>
      <vt:lpstr>Runtime Errors</vt:lpstr>
      <vt:lpstr>Types of Runtime Errors</vt:lpstr>
      <vt:lpstr>Types of Runtime Errors (cont’d)</vt:lpstr>
      <vt:lpstr>Types of Runtime Errors (cont’d)</vt:lpstr>
      <vt:lpstr>Logic Errors</vt:lpstr>
      <vt:lpstr>Handling Errors</vt:lpstr>
      <vt:lpstr>Error object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Tarvin, David (drtarvin)</cp:lastModifiedBy>
  <cp:revision>1</cp:revision>
  <dcterms:modified xsi:type="dcterms:W3CDTF">2025-04-21T17:11:46Z</dcterms:modified>
</cp:coreProperties>
</file>