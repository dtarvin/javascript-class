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4"/>
    <p:restoredTop sz="94737"/>
  </p:normalViewPr>
  <p:slideViewPr>
    <p:cSldViewPr snapToGrid="0" showGuides="1">
      <p:cViewPr varScale="1">
        <p:scale>
          <a:sx n="101" d="100"/>
          <a:sy n="101" d="100"/>
        </p:scale>
        <p:origin x="8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6B30-4FB2-80F6-6B46-E55C4943E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 of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FCEEB-5CDB-CE3E-8A42-BEBD0D203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 to JavaScript in Web Development</a:t>
            </a:r>
          </a:p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249695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EB52-A8B4-F453-7CF5-54917027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9CBE7-30F0-C892-0A8C-FD0FA75FF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JavaScript is a </a:t>
            </a:r>
            <a:r>
              <a:rPr lang="en-US" sz="2800" b="1" dirty="0"/>
              <a:t>high-level, interpreted programming language</a:t>
            </a:r>
            <a:r>
              <a:rPr lang="en-US" sz="2800" dirty="0"/>
              <a:t> used primarily for </a:t>
            </a:r>
            <a:r>
              <a:rPr lang="en-US" sz="2800" b="1" dirty="0"/>
              <a:t>web development</a:t>
            </a:r>
            <a:r>
              <a:rPr lang="en-US" sz="2800" dirty="0"/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It allows for </a:t>
            </a:r>
            <a:r>
              <a:rPr lang="en-US" sz="2800" b="1" dirty="0"/>
              <a:t>interactive</a:t>
            </a:r>
            <a:r>
              <a:rPr lang="en-US" sz="2800" dirty="0"/>
              <a:t> web pages by enabling </a:t>
            </a:r>
            <a:r>
              <a:rPr lang="en-US" sz="2800" b="1" dirty="0"/>
              <a:t>dynamic content</a:t>
            </a:r>
            <a:r>
              <a:rPr lang="en-US" sz="2800" dirty="0"/>
              <a:t>, such as animations, form validations, and real-time updates.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JavaScript is </a:t>
            </a:r>
            <a:r>
              <a:rPr lang="en-US" sz="2800" b="1" dirty="0"/>
              <a:t>client-side</a:t>
            </a:r>
            <a:r>
              <a:rPr lang="en-US" sz="2800" dirty="0"/>
              <a:t> (runs in the browser) but also </a:t>
            </a:r>
            <a:r>
              <a:rPr lang="en-US" sz="2800" b="1" dirty="0"/>
              <a:t>server-side</a:t>
            </a:r>
            <a:r>
              <a:rPr lang="en-US" sz="2800" dirty="0"/>
              <a:t> with environments like Node.js.</a:t>
            </a:r>
          </a:p>
        </p:txBody>
      </p:sp>
    </p:spTree>
    <p:extLst>
      <p:ext uri="{BB962C8B-B14F-4D97-AF65-F5344CB8AC3E}">
        <p14:creationId xmlns:p14="http://schemas.microsoft.com/office/powerpoint/2010/main" val="45030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E2E2-B8EE-414B-92F9-6DA20DD1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JavaScript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71719-2F10-EF3E-95B1-8C9B7EEA5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Web Development</a:t>
            </a:r>
            <a:r>
              <a:rPr lang="en-US" dirty="0"/>
              <a:t>: JavaScript is the backbone of modern web applications.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Front-end</a:t>
            </a:r>
            <a:r>
              <a:rPr lang="en-US" dirty="0"/>
              <a:t>: Responsible for interactive elements like dropdown menus, modals, and dynamic content loading.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Back-end</a:t>
            </a:r>
            <a:r>
              <a:rPr lang="en-US" dirty="0"/>
              <a:t>: With Node.js, JavaScript is also used on the server to build scalable applications.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Mobile Apps</a:t>
            </a:r>
            <a:r>
              <a:rPr lang="en-US" dirty="0"/>
              <a:t>: Frameworks like React Native allow JavaScript to power mobile apps.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Desktop Apps</a:t>
            </a:r>
            <a:r>
              <a:rPr lang="en-US" dirty="0"/>
              <a:t>: Technologies like Electron enable JavaScript to create cross-platform desktop apps.</a:t>
            </a:r>
          </a:p>
        </p:txBody>
      </p:sp>
    </p:spTree>
    <p:extLst>
      <p:ext uri="{BB962C8B-B14F-4D97-AF65-F5344CB8AC3E}">
        <p14:creationId xmlns:p14="http://schemas.microsoft.com/office/powerpoint/2010/main" val="96295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23AB-5EEF-4F30-1754-0148B860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31D4-FE1F-6226-EB9D-9546B4FAC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Interpreted Language</a:t>
            </a:r>
            <a:r>
              <a:rPr lang="en-US" dirty="0"/>
              <a:t>: No compilation step; it is executed directly by the browser or Node.js.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Dynamically Typed</a:t>
            </a:r>
            <a:r>
              <a:rPr lang="en-US" dirty="0"/>
              <a:t>: Variable types are determined at runtime.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Event-Driven</a:t>
            </a:r>
            <a:r>
              <a:rPr lang="en-US" dirty="0"/>
              <a:t>: Uses event loops to handle asynchronous operations, making it ideal for I/O-heavy applications.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Versatile</a:t>
            </a:r>
            <a:r>
              <a:rPr lang="en-US" dirty="0"/>
              <a:t>: Can be used both on the client-side and the server-side.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/>
              <a:t>Prototype-Based</a:t>
            </a:r>
            <a:r>
              <a:rPr lang="en-US" dirty="0"/>
              <a:t>: JavaScript uses prototypes for inheritance rather than classes, although ES6 added class syntax.</a:t>
            </a:r>
          </a:p>
        </p:txBody>
      </p:sp>
    </p:spTree>
    <p:extLst>
      <p:ext uri="{BB962C8B-B14F-4D97-AF65-F5344CB8AC3E}">
        <p14:creationId xmlns:p14="http://schemas.microsoft.com/office/powerpoint/2010/main" val="378252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3982-FACA-E643-C757-E14ABCF3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in the Web Development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108E-D2FD-0FEE-B8BB-F8FBD8ADC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JavaScript is a core part of the </a:t>
            </a:r>
            <a:r>
              <a:rPr lang="en-US" b="1" dirty="0"/>
              <a:t>front-end web stack</a:t>
            </a:r>
            <a:r>
              <a:rPr lang="en-US" dirty="0"/>
              <a:t> (HTML, CSS, JavaScript).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HTML</a:t>
            </a:r>
            <a:r>
              <a:rPr lang="en-US" dirty="0"/>
              <a:t> defines the structure of the web page.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CSS</a:t>
            </a:r>
            <a:r>
              <a:rPr lang="en-US" dirty="0"/>
              <a:t> defines the style and layout.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JavaScript</a:t>
            </a:r>
            <a:r>
              <a:rPr lang="en-US" dirty="0"/>
              <a:t> adds behavior and interactivity.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Example</a:t>
            </a:r>
            <a:r>
              <a:rPr lang="en-US" dirty="0"/>
              <a:t>: Adding a dynamic button click to a page.</a:t>
            </a:r>
          </a:p>
        </p:txBody>
      </p:sp>
    </p:spTree>
    <p:extLst>
      <p:ext uri="{BB962C8B-B14F-4D97-AF65-F5344CB8AC3E}">
        <p14:creationId xmlns:p14="http://schemas.microsoft.com/office/powerpoint/2010/main" val="54839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6CC2-DAA7-9D3D-2BFA-4247584D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and the Web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888F9-9942-8612-20D1-3C12D6ABB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Runs in the Browser</a:t>
            </a:r>
            <a:r>
              <a:rPr lang="en-US" dirty="0"/>
              <a:t>: JavaScript is executed by the browser’s JavaScript engine (e.g., V8 in Chrome).</a:t>
            </a:r>
          </a:p>
          <a:p>
            <a:r>
              <a:rPr lang="en-US" b="1" dirty="0"/>
              <a:t>DOM Manipulation</a:t>
            </a:r>
            <a:r>
              <a:rPr lang="en-US" dirty="0"/>
              <a:t>: JavaScript interacts with the </a:t>
            </a:r>
            <a:r>
              <a:rPr lang="en-US" b="1" dirty="0"/>
              <a:t>Document Object Model (DOM)</a:t>
            </a:r>
            <a:r>
              <a:rPr lang="en-US" dirty="0"/>
              <a:t> to change the content of a web page.</a:t>
            </a:r>
          </a:p>
          <a:p>
            <a:r>
              <a:rPr lang="en-US" dirty="0"/>
              <a:t>Example: Changing text when user clicks a button.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2E848-FAAF-86DC-0457-44C99F99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70595"/>
            <a:ext cx="7772400" cy="21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2FAF-4D7E-FB14-7207-5D03896A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Syntax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D54B-4793-944F-9F2C-782BFCB91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Statements and Semicolons</a:t>
            </a:r>
            <a:r>
              <a:rPr lang="en-US" dirty="0"/>
              <a:t>: A statement ends with a semicolon (</a:t>
            </a:r>
            <a:r>
              <a:rPr lang="en-US" b="1" dirty="0"/>
              <a:t>;</a:t>
            </a:r>
            <a:r>
              <a:rPr lang="en-US" dirty="0"/>
              <a:t>), but it’s often optional.</a:t>
            </a:r>
          </a:p>
          <a:p>
            <a:r>
              <a:rPr lang="en-US" b="1" dirty="0"/>
              <a:t>Variables</a:t>
            </a:r>
            <a:r>
              <a:rPr lang="en-US" dirty="0"/>
              <a:t>: Declared using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,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.</a:t>
            </a:r>
          </a:p>
          <a:p>
            <a:r>
              <a:rPr lang="en-US" b="1" dirty="0"/>
              <a:t>Comments</a:t>
            </a:r>
            <a:r>
              <a:rPr lang="en-US" dirty="0"/>
              <a:t>: Use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 for single-line comments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/* … */</a:t>
            </a:r>
            <a:r>
              <a:rPr lang="en-US" dirty="0"/>
              <a:t> for multi-line comments.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ABEE9-ED4C-1454-6359-1583EC22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4560282"/>
            <a:ext cx="49911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0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901A-C956-83A7-7D83-C0385929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07CA-E0E0-BCC2-F2EA-807C010D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Syntax Overview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B7055-DDE2-B97A-EB32-B5278EE5F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Code Block</a:t>
            </a:r>
            <a:r>
              <a:rPr lang="en-US" dirty="0"/>
              <a:t>: A statement ends with a semicolon (</a:t>
            </a:r>
            <a:r>
              <a:rPr lang="en-US" b="1" dirty="0"/>
              <a:t>;</a:t>
            </a:r>
            <a:r>
              <a:rPr lang="en-US" dirty="0"/>
              <a:t>), but it’s often optional.</a:t>
            </a:r>
          </a:p>
          <a:p>
            <a:r>
              <a:rPr lang="en-US" b="1" dirty="0"/>
              <a:t>Variables</a:t>
            </a:r>
            <a:r>
              <a:rPr lang="en-US" dirty="0"/>
              <a:t>: Declared using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,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.</a:t>
            </a:r>
          </a:p>
          <a:p>
            <a:r>
              <a:rPr lang="en-US" b="1" dirty="0"/>
              <a:t>Comments</a:t>
            </a:r>
            <a:r>
              <a:rPr lang="en-US" dirty="0"/>
              <a:t>: Use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 for single-line comments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/* … */</a:t>
            </a:r>
            <a:r>
              <a:rPr lang="en-US" dirty="0"/>
              <a:t> for multi-line comments.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7EA63-8E61-C3F3-1C6E-E41AE29BF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4560282"/>
            <a:ext cx="49911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9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B31B-622B-DB49-2D6B-A6C1731C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JavaScript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6C19-F973-53C5-238D-E999467A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classic “Hello, World!” example to demonstrate syntax and output.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console.log()</a:t>
            </a:r>
            <a:r>
              <a:rPr lang="en-US" dirty="0"/>
              <a:t>: A function that outputs text to the browser’s console.</a:t>
            </a:r>
          </a:p>
          <a:p>
            <a:pPr lvl="1"/>
            <a:r>
              <a:rPr lang="en-US" dirty="0"/>
              <a:t>Why it’s important: </a:t>
            </a:r>
            <a:r>
              <a:rPr lang="en-US" b="1" dirty="0"/>
              <a:t>Console output</a:t>
            </a:r>
            <a:r>
              <a:rPr lang="en-US" dirty="0"/>
              <a:t> is essential for debugging.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EE99B-E3A9-EE15-E5D2-2AA313B5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2776390"/>
            <a:ext cx="6959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35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A64F-B95B-35A9-6FB5-996E7713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JavaScript vs. Other Languages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C2521E-3770-1756-E360-5244B4346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Dynamic vs. Static Typing</a:t>
            </a:r>
            <a:r>
              <a:rPr lang="en-US" dirty="0"/>
              <a:t>: JavaScript is dynamically typed, unlike languages like Java which are statically typed.</a:t>
            </a:r>
          </a:p>
          <a:p>
            <a:r>
              <a:rPr lang="en-US" b="1" dirty="0"/>
              <a:t>Interpreted vs. Compiled</a:t>
            </a:r>
            <a:r>
              <a:rPr lang="en-US" dirty="0"/>
              <a:t>: JavaScript is interpreted, whereas languages like C++ are compiled.</a:t>
            </a:r>
          </a:p>
        </p:txBody>
      </p:sp>
    </p:spTree>
    <p:extLst>
      <p:ext uri="{BB962C8B-B14F-4D97-AF65-F5344CB8AC3E}">
        <p14:creationId xmlns:p14="http://schemas.microsoft.com/office/powerpoint/2010/main" val="306746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4F84-61BD-5356-1AA8-89028DE7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B189-FC72-576B-E9EA-B4F385E7E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Libraries</a:t>
            </a:r>
            <a:r>
              <a:rPr lang="en-US" dirty="0"/>
              <a:t>: Collections of pre-written JavaScript code (e.g., </a:t>
            </a:r>
            <a:r>
              <a:rPr lang="en-US" b="1" dirty="0"/>
              <a:t>jQuery</a:t>
            </a:r>
            <a:r>
              <a:rPr lang="en-US" dirty="0"/>
              <a:t>, </a:t>
            </a:r>
            <a:r>
              <a:rPr lang="en-US" b="1" dirty="0"/>
              <a:t>D3.js</a:t>
            </a:r>
            <a:r>
              <a:rPr lang="en-US" dirty="0"/>
              <a:t>).</a:t>
            </a:r>
          </a:p>
          <a:p>
            <a:r>
              <a:rPr lang="en-US" b="1" dirty="0"/>
              <a:t>Frameworks</a:t>
            </a:r>
            <a:r>
              <a:rPr lang="en-US" dirty="0"/>
              <a:t>: Structured, opinionated tools for building applications (e.g., </a:t>
            </a:r>
            <a:r>
              <a:rPr lang="en-US" b="1" dirty="0"/>
              <a:t>React</a:t>
            </a:r>
            <a:r>
              <a:rPr lang="en-US" dirty="0"/>
              <a:t>, </a:t>
            </a:r>
            <a:r>
              <a:rPr lang="en-US" b="1" dirty="0" err="1"/>
              <a:t>Vue.js</a:t>
            </a:r>
            <a:r>
              <a:rPr lang="en-US" dirty="0"/>
              <a:t>, </a:t>
            </a:r>
            <a:r>
              <a:rPr lang="en-US" b="1" dirty="0"/>
              <a:t>Angular</a:t>
            </a:r>
            <a:r>
              <a:rPr lang="en-US" dirty="0"/>
              <a:t>).</a:t>
            </a:r>
          </a:p>
          <a:p>
            <a:r>
              <a:rPr lang="en-US" b="1" dirty="0"/>
              <a:t>Node.js</a:t>
            </a:r>
            <a:r>
              <a:rPr lang="en-US" dirty="0"/>
              <a:t>: JavaScript runtime for server-side programming.</a:t>
            </a:r>
          </a:p>
          <a:p>
            <a:r>
              <a:rPr lang="en-US" b="1" dirty="0"/>
              <a:t>Package Managers</a:t>
            </a:r>
            <a:r>
              <a:rPr lang="en-US" dirty="0"/>
              <a:t>: </a:t>
            </a:r>
            <a:r>
              <a:rPr lang="en-US" b="1" dirty="0" err="1"/>
              <a:t>npm</a:t>
            </a:r>
            <a:r>
              <a:rPr lang="en-US" dirty="0"/>
              <a:t> (Node Package Manager) for managing JavaScript libraries.</a:t>
            </a:r>
          </a:p>
        </p:txBody>
      </p:sp>
    </p:spTree>
    <p:extLst>
      <p:ext uri="{BB962C8B-B14F-4D97-AF65-F5344CB8AC3E}">
        <p14:creationId xmlns:p14="http://schemas.microsoft.com/office/powerpoint/2010/main" val="323319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2527-D2FB-4470-D13F-D73195B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JavaScript in the Full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D3C4-9F98-01C7-FC95-D96B8556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is used in the </a:t>
            </a:r>
            <a:r>
              <a:rPr lang="en-US" b="1" dirty="0"/>
              <a:t>full-stack development</a:t>
            </a:r>
            <a:r>
              <a:rPr lang="en-US" dirty="0"/>
              <a:t> (Front-End + Back-End).</a:t>
            </a:r>
          </a:p>
          <a:p>
            <a:r>
              <a:rPr lang="en-US" b="1" dirty="0"/>
              <a:t>Front-End</a:t>
            </a:r>
            <a:r>
              <a:rPr lang="en-US" dirty="0"/>
              <a:t>: Libraries and frameworks like </a:t>
            </a:r>
            <a:r>
              <a:rPr lang="en-US" b="1" dirty="0"/>
              <a:t>React</a:t>
            </a:r>
            <a:r>
              <a:rPr lang="en-US" dirty="0"/>
              <a:t> or </a:t>
            </a:r>
            <a:r>
              <a:rPr lang="en-US" b="1" dirty="0" err="1"/>
              <a:t>Vue.js</a:t>
            </a:r>
            <a:r>
              <a:rPr lang="en-US" dirty="0"/>
              <a:t> are used to build interactive user interfaces.</a:t>
            </a:r>
          </a:p>
          <a:p>
            <a:r>
              <a:rPr lang="en-US" b="1" dirty="0"/>
              <a:t>Back-End</a:t>
            </a:r>
            <a:r>
              <a:rPr lang="en-US" dirty="0"/>
              <a:t>: </a:t>
            </a:r>
            <a:r>
              <a:rPr lang="en-US" b="1" dirty="0"/>
              <a:t>Node.js</a:t>
            </a:r>
            <a:r>
              <a:rPr lang="en-US" dirty="0"/>
              <a:t> is used for server-side development, enabling JavaScript to handle database requests, authentication, and more.</a:t>
            </a:r>
          </a:p>
          <a:p>
            <a:r>
              <a:rPr lang="en-US" b="1" dirty="0"/>
              <a:t>Example</a:t>
            </a:r>
            <a:r>
              <a:rPr lang="en-US" dirty="0"/>
              <a:t>: Using JavaScript to fetch data from a server and display it on a page.</a:t>
            </a:r>
          </a:p>
        </p:txBody>
      </p:sp>
    </p:spTree>
    <p:extLst>
      <p:ext uri="{BB962C8B-B14F-4D97-AF65-F5344CB8AC3E}">
        <p14:creationId xmlns:p14="http://schemas.microsoft.com/office/powerpoint/2010/main" val="1567381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8279-AB35-1639-79D2-EEC66C1F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and Modern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BEDB-2CFB-962E-56A0-D1DA75BD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Page Applications (SPA)</a:t>
            </a:r>
            <a:r>
              <a:rPr lang="en-US" dirty="0"/>
              <a:t>: JavaScript is heavily used in SPAs, where only part of the page updates, reducing load times.</a:t>
            </a:r>
          </a:p>
          <a:p>
            <a:r>
              <a:rPr lang="en-US" b="1" dirty="0"/>
              <a:t>AJAX and Fetch API</a:t>
            </a:r>
            <a:r>
              <a:rPr lang="en-US" dirty="0"/>
              <a:t>: These allow JavaScript to make asynchronous HTTP requests without reloading the page.</a:t>
            </a:r>
          </a:p>
          <a:p>
            <a:r>
              <a:rPr lang="en-US" b="1" dirty="0"/>
              <a:t>Example</a:t>
            </a:r>
            <a:r>
              <a:rPr lang="en-US" dirty="0"/>
              <a:t>: Fetching data from a server in the background and updating the page dynamically.</a:t>
            </a:r>
          </a:p>
        </p:txBody>
      </p:sp>
    </p:spTree>
    <p:extLst>
      <p:ext uri="{BB962C8B-B14F-4D97-AF65-F5344CB8AC3E}">
        <p14:creationId xmlns:p14="http://schemas.microsoft.com/office/powerpoint/2010/main" val="317176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A42E-A709-9C15-C719-CF406F4B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C553-F0E2-6A8A-A7C9-D5D64533D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ES6 and Beyond</a:t>
            </a:r>
            <a:r>
              <a:rPr lang="en-US" dirty="0"/>
              <a:t>: New features like arrow functions, async/await, modules, and more.</a:t>
            </a:r>
          </a:p>
          <a:p>
            <a:r>
              <a:rPr lang="en-US" b="1" dirty="0"/>
              <a:t>JavaScript in IoT</a:t>
            </a:r>
            <a:r>
              <a:rPr lang="en-US" dirty="0"/>
              <a:t>: With frameworks like </a:t>
            </a:r>
            <a:r>
              <a:rPr lang="en-US" b="1" dirty="0"/>
              <a:t>Johnny-Five</a:t>
            </a:r>
            <a:r>
              <a:rPr lang="en-US" dirty="0"/>
              <a:t>, JavaScript can control physical devices (e.g., Arduino).</a:t>
            </a:r>
          </a:p>
          <a:p>
            <a:r>
              <a:rPr lang="en-US" b="1" dirty="0" err="1"/>
              <a:t>WebAssembly</a:t>
            </a:r>
            <a:r>
              <a:rPr lang="en-US" dirty="0"/>
              <a:t>: JavaScript will work alongside languages like C++ and Rust for high-performance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40989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7222-40C8-7D77-C4AF-4065D05D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653B1-A96B-B4C5-48E2-7667D2F92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is an essential language for web development.</a:t>
            </a:r>
          </a:p>
          <a:p>
            <a:r>
              <a:rPr lang="en-US" dirty="0"/>
              <a:t>It allows for interactive, dynamic pages and can be used both on the client-side and the server-side.</a:t>
            </a:r>
          </a:p>
          <a:p>
            <a:r>
              <a:rPr lang="en-US" dirty="0"/>
              <a:t>JavaScript is constantly evolving, with ES6+ bringing modern features that make coding easier 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96971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E1D9-38FD-43D6-75CD-07303141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D006-8831-346E-542C-4ECE610F6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  <a:p>
            <a:r>
              <a:rPr lang="en-US" dirty="0"/>
              <a:t>Variables</a:t>
            </a:r>
          </a:p>
          <a:p>
            <a:r>
              <a:rPr lang="en-US" dirty="0"/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1355000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7288-6472-8C79-0232-7587B8E7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416368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34423</TotalTime>
  <Words>858</Words>
  <Application>Microsoft Macintosh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Courier New</vt:lpstr>
      <vt:lpstr>Vapor Trail</vt:lpstr>
      <vt:lpstr>Overview of JavaScript</vt:lpstr>
      <vt:lpstr>What is JavaScript?</vt:lpstr>
      <vt:lpstr>Where is JavaScript Used?</vt:lpstr>
      <vt:lpstr>Key Features of JavaScript</vt:lpstr>
      <vt:lpstr>JavaScript in the Web Development Stack</vt:lpstr>
      <vt:lpstr>JavaScript and the Web Browser</vt:lpstr>
      <vt:lpstr>JavaScript Syntax Overview</vt:lpstr>
      <vt:lpstr>JavaScript Syntax Overview (cont’d)</vt:lpstr>
      <vt:lpstr>First JavaScript Example</vt:lpstr>
      <vt:lpstr>JavaScript vs. Other Languages</vt:lpstr>
      <vt:lpstr>JavaScript Ecosystem</vt:lpstr>
      <vt:lpstr>The Role of JavaScript in the Full Stack</vt:lpstr>
      <vt:lpstr>JavaScript and Modern Web Applications</vt:lpstr>
      <vt:lpstr>The Future of JavaScript</vt:lpstr>
      <vt:lpstr>Summary and Key Takeaways</vt:lpstr>
      <vt:lpstr>Next Steps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2</cp:revision>
  <dcterms:created xsi:type="dcterms:W3CDTF">2025-07-08T00:39:08Z</dcterms:created>
  <dcterms:modified xsi:type="dcterms:W3CDTF">2025-07-31T22:23:05Z</dcterms:modified>
</cp:coreProperties>
</file>