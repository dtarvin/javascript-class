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42" r:id="rId5"/>
    <p:sldId id="382" r:id="rId6"/>
    <p:sldId id="387" r:id="rId7"/>
    <p:sldId id="388" r:id="rId8"/>
    <p:sldId id="389" r:id="rId9"/>
    <p:sldId id="396" r:id="rId10"/>
    <p:sldId id="394" r:id="rId11"/>
    <p:sldId id="395" r:id="rId12"/>
    <p:sldId id="359" r:id="rId13"/>
    <p:sldId id="392" r:id="rId14"/>
    <p:sldId id="373" r:id="rId15"/>
    <p:sldId id="374" r:id="rId16"/>
    <p:sldId id="375" r:id="rId17"/>
    <p:sldId id="365" r:id="rId18"/>
    <p:sldId id="376" r:id="rId19"/>
    <p:sldId id="377" r:id="rId20"/>
    <p:sldId id="378" r:id="rId21"/>
    <p:sldId id="379" r:id="rId22"/>
    <p:sldId id="380" r:id="rId23"/>
    <p:sldId id="381" r:id="rId24"/>
    <p:sldId id="3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48" autoAdjust="0"/>
    <p:restoredTop sz="95488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18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8/8/25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8/8/25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BASIC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D418-7858-C956-E8E7-CA63051A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 and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C17E4-0923-FC4F-FD30-C346F12BC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135099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88087-B49C-8271-0B77-2ACBC1D5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908DA-0284-E265-8BA4-8D17F0A0116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sz="2200" dirty="0"/>
              <a:t>An </a:t>
            </a:r>
            <a:r>
              <a:rPr lang="en-US" sz="2200" b="1" dirty="0"/>
              <a:t>expression</a:t>
            </a:r>
            <a:r>
              <a:rPr lang="en-US" sz="2200" dirty="0"/>
              <a:t> is a fragment of code that produces a value</a:t>
            </a:r>
          </a:p>
          <a:p>
            <a:pPr marL="569214" lvl="1">
              <a:buFontTx/>
              <a:buChar char="-"/>
            </a:pPr>
            <a:r>
              <a:rPr lang="en-US" sz="2200" dirty="0"/>
              <a:t>Every value written literally                                         // 22, ‘psychoanalysis’</a:t>
            </a:r>
          </a:p>
          <a:p>
            <a:pPr marL="569214" lvl="1">
              <a:buFontTx/>
              <a:buChar char="-"/>
            </a:pPr>
            <a:r>
              <a:rPr lang="en-US" sz="2200" dirty="0"/>
              <a:t>Expression between parentheses                              // (car)</a:t>
            </a:r>
          </a:p>
          <a:p>
            <a:pPr marL="569214" lvl="1">
              <a:buFontTx/>
              <a:buChar char="-"/>
            </a:pPr>
            <a:r>
              <a:rPr lang="en-US" sz="2200" dirty="0"/>
              <a:t>Binary operator applied to two expressions              // 22 + 38, a + b</a:t>
            </a:r>
          </a:p>
          <a:p>
            <a:pPr marL="569214" lvl="1">
              <a:buFontTx/>
              <a:buChar char="-"/>
            </a:pPr>
            <a:r>
              <a:rPr lang="en-US" sz="2200" dirty="0"/>
              <a:t>Unary operator applied to one                                  // a++</a:t>
            </a:r>
          </a:p>
          <a:p>
            <a:r>
              <a:rPr lang="en-US" sz="2200" dirty="0"/>
              <a:t>Expressions can also contain other expressions</a:t>
            </a:r>
          </a:p>
          <a:p>
            <a:pPr marL="569214" lvl="1">
              <a:buFontTx/>
              <a:buChar char="-"/>
            </a:pPr>
            <a:r>
              <a:rPr lang="en-US" sz="2200" dirty="0"/>
              <a:t>Like a subsentence containing other subsentences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82CCB-A4EF-7441-B2C0-46E58E7E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438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68F19-AC9D-F258-BA48-77BF9DB69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48D8-A8C1-FF62-567B-7E5A64E44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78CE0-71F6-F306-D729-1BC34FD8859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sz="2200" dirty="0"/>
              <a:t>If an expression is considered like a sentence fragment, a </a:t>
            </a:r>
            <a:r>
              <a:rPr lang="en-US" sz="2200" b="1" dirty="0"/>
              <a:t>statement</a:t>
            </a:r>
            <a:r>
              <a:rPr lang="en-US" sz="2200" dirty="0"/>
              <a:t> corresponds to a full sentence</a:t>
            </a:r>
          </a:p>
          <a:p>
            <a:pPr marL="569214" lvl="1">
              <a:buFontTx/>
              <a:buChar char="-"/>
            </a:pPr>
            <a:r>
              <a:rPr lang="en-US" sz="2200" dirty="0"/>
              <a:t>A </a:t>
            </a:r>
            <a:r>
              <a:rPr lang="en-US" sz="2200" b="1" dirty="0"/>
              <a:t>program</a:t>
            </a:r>
            <a:r>
              <a:rPr lang="en-US" sz="2200" dirty="0"/>
              <a:t> is a list of statements</a:t>
            </a:r>
          </a:p>
          <a:p>
            <a:pPr marL="569214" lvl="1">
              <a:buFontTx/>
              <a:buChar char="-"/>
            </a:pPr>
            <a:r>
              <a:rPr lang="en-US" sz="2200" dirty="0"/>
              <a:t>A statement is an expression with a semicolon after it</a:t>
            </a:r>
          </a:p>
          <a:p>
            <a:pPr marL="569214" lvl="1">
              <a:buFontTx/>
              <a:buChar char="-"/>
            </a:pPr>
            <a:r>
              <a:rPr lang="en-US" sz="2200" dirty="0"/>
              <a:t>If a statement doesn’t affect the world, it’s useless           // 1;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D5960-059E-5FF7-53AD-36982E2D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45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3287-2075-F8E9-1009-DA10636C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107A-94FF-A687-6335-BE6AF33B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DD8D7-33F8-5766-FD0D-9D2FB65FE1B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sz="2200" dirty="0"/>
              <a:t>The </a:t>
            </a:r>
            <a:r>
              <a:rPr lang="en-US" sz="2200" b="1" dirty="0"/>
              <a:t>environment</a:t>
            </a:r>
            <a:r>
              <a:rPr lang="en-US" sz="2200" dirty="0"/>
              <a:t> is the collection of bindings and their values that exist at a given time</a:t>
            </a:r>
          </a:p>
          <a:p>
            <a:pPr marL="569214" lvl="1">
              <a:buFontTx/>
              <a:buChar char="-"/>
            </a:pPr>
            <a:r>
              <a:rPr lang="en-US" sz="2200" dirty="0"/>
              <a:t>Always contain bindings that are part of the language standard  </a:t>
            </a:r>
          </a:p>
          <a:p>
            <a:pPr marL="852678" lvl="2">
              <a:buFontTx/>
              <a:buChar char="-"/>
            </a:pPr>
            <a:r>
              <a:rPr lang="en-US" sz="2200" dirty="0"/>
              <a:t>Ex: NaN, Infinity</a:t>
            </a:r>
          </a:p>
          <a:p>
            <a:pPr marL="569214" lvl="1">
              <a:buFontTx/>
              <a:buChar char="-"/>
            </a:pPr>
            <a:r>
              <a:rPr lang="en-US" sz="2200" dirty="0"/>
              <a:t>Most of the time contain bindings that provide ways to interact with the surrounding system</a:t>
            </a:r>
          </a:p>
          <a:p>
            <a:pPr marL="852678" lvl="2">
              <a:buFontTx/>
              <a:buChar char="-"/>
            </a:pPr>
            <a:r>
              <a:rPr lang="en-US" sz="2200" dirty="0"/>
              <a:t>Ex: A browser has functions to interact with the currently loaded website and to read mouse and keyboard input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37069-F749-A473-0DA0-983C3A66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7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55572-2902-FD05-3575-6667D63F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12A3A-83A8-2A24-867A-6FF67A99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ED351-F5E7-ADAD-2C1B-985FA510503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r>
              <a:rPr lang="en-US" sz="2200" dirty="0"/>
              <a:t>A </a:t>
            </a:r>
            <a:r>
              <a:rPr lang="en-US" sz="2200" b="1" dirty="0"/>
              <a:t>function</a:t>
            </a:r>
            <a:r>
              <a:rPr lang="en-US" sz="2200" dirty="0"/>
              <a:t> is a piece of program wrapped in a value</a:t>
            </a:r>
          </a:p>
          <a:p>
            <a:pPr marL="569214" lvl="1">
              <a:buFontTx/>
              <a:buChar char="-"/>
            </a:pPr>
            <a:r>
              <a:rPr lang="en-US" sz="2200" dirty="0"/>
              <a:t>Ex: the binding </a:t>
            </a:r>
            <a:r>
              <a:rPr lang="en-US" sz="2200" b="1" dirty="0"/>
              <a:t>prompt</a:t>
            </a:r>
            <a:r>
              <a:rPr lang="en-US" sz="2200" dirty="0"/>
              <a:t> holds a function</a:t>
            </a:r>
          </a:p>
          <a:p>
            <a:r>
              <a:rPr lang="en-US" sz="2200" dirty="0"/>
              <a:t>Executing a function is called </a:t>
            </a:r>
            <a:r>
              <a:rPr lang="en-US" sz="2200" b="1" dirty="0"/>
              <a:t>invoking</a:t>
            </a:r>
            <a:r>
              <a:rPr lang="en-US" sz="2200" dirty="0"/>
              <a:t>, </a:t>
            </a:r>
            <a:r>
              <a:rPr lang="en-US" sz="2200" b="1" dirty="0"/>
              <a:t>calling</a:t>
            </a:r>
            <a:r>
              <a:rPr lang="en-US" sz="2200" dirty="0"/>
              <a:t> or </a:t>
            </a:r>
            <a:r>
              <a:rPr lang="en-US" sz="2200" b="1" dirty="0"/>
              <a:t>applying</a:t>
            </a:r>
            <a:r>
              <a:rPr lang="en-US" sz="2200" dirty="0"/>
              <a:t> it</a:t>
            </a:r>
          </a:p>
          <a:p>
            <a:pPr marL="569214" lvl="1">
              <a:buFontTx/>
              <a:buChar char="-"/>
            </a:pPr>
            <a:r>
              <a:rPr lang="en-US" sz="2200" dirty="0"/>
              <a:t>You call a function by putting parentheses after an expression that produces a function value</a:t>
            </a:r>
          </a:p>
          <a:p>
            <a:pPr marL="569214" lvl="1">
              <a:buFontTx/>
              <a:buChar char="-"/>
            </a:pPr>
            <a:r>
              <a:rPr lang="en-US" sz="2200" dirty="0"/>
              <a:t>You usually directly use the name of the binding that holds the function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F3068-9767-933E-C093-B081AF88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87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E2772-485C-3D5E-7BE1-E88C6BD0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CA2B-A689-DAF8-004F-BE07D202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(cont’d)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C4282-A35C-8180-BC7A-CFF0F494F824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pPr marL="569214" lvl="1">
              <a:buFontTx/>
              <a:buChar char="-"/>
            </a:pPr>
            <a:r>
              <a:rPr lang="en-US" dirty="0"/>
              <a:t>The bindings contained in the parentheses of the function definition are called </a:t>
            </a:r>
            <a:r>
              <a:rPr lang="en-US" b="1" dirty="0"/>
              <a:t>parameters</a:t>
            </a:r>
          </a:p>
          <a:p>
            <a:pPr marL="569214" lvl="1">
              <a:buFontTx/>
              <a:buChar char="-"/>
            </a:pPr>
            <a:r>
              <a:rPr lang="en-US" dirty="0"/>
              <a:t>When the function is invoked, the values placed in the parentheses are called </a:t>
            </a:r>
            <a:r>
              <a:rPr lang="en-US" b="1" dirty="0"/>
              <a:t>arguments</a:t>
            </a:r>
          </a:p>
          <a:p>
            <a:pPr marL="569214" lvl="1">
              <a:buFontTx/>
              <a:buChar char="-"/>
            </a:pPr>
            <a:r>
              <a:rPr lang="en-US" dirty="0"/>
              <a:t>Parameters:</a:t>
            </a:r>
            <a:br>
              <a:rPr lang="en-US" dirty="0"/>
            </a:br>
            <a:r>
              <a:rPr lang="en-US" dirty="0"/>
              <a:t>	function addTwoNumbers(num1, num2) {</a:t>
            </a:r>
            <a:br>
              <a:rPr lang="en-US" dirty="0"/>
            </a:br>
            <a:r>
              <a:rPr lang="en-US" dirty="0"/>
              <a:t>	    return num1 + num2;</a:t>
            </a:r>
            <a:br>
              <a:rPr lang="en-US" dirty="0"/>
            </a:br>
            <a:r>
              <a:rPr lang="en-US" dirty="0"/>
              <a:t>	}</a:t>
            </a:r>
          </a:p>
          <a:p>
            <a:pPr marL="569214" lvl="1">
              <a:buFontTx/>
              <a:buChar char="-"/>
            </a:pPr>
            <a:r>
              <a:rPr lang="en-US" dirty="0"/>
              <a:t>Arguments:</a:t>
            </a:r>
            <a:br>
              <a:rPr lang="en-US" dirty="0"/>
            </a:br>
            <a:r>
              <a:rPr lang="en-US" dirty="0"/>
              <a:t>	addTwoNumbers(8, 16);       // returns 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66030-3645-6590-B86E-5BAC4B4F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5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3763F-B0E5-903C-3BE8-5D9E9A99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DBE84-559F-B3EE-1A5F-5CA0AD03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(cont’d)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63D30-C13E-5DAA-45A5-87C907E3B157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465539"/>
            <a:ext cx="10500989" cy="3723753"/>
          </a:xfrm>
        </p:spPr>
        <p:txBody>
          <a:bodyPr/>
          <a:lstStyle/>
          <a:p>
            <a:pPr marL="569214" lvl="1">
              <a:buFontTx/>
              <a:buChar char="-"/>
            </a:pPr>
            <a:r>
              <a:rPr lang="en-US" dirty="0"/>
              <a:t>The values between the parentheses when the function is invoked are given to the program inside the function</a:t>
            </a:r>
          </a:p>
          <a:p>
            <a:pPr marL="569214" lvl="1">
              <a:buFontTx/>
              <a:buChar char="-"/>
            </a:pPr>
            <a:r>
              <a:rPr lang="en-US" dirty="0"/>
              <a:t>Different functions might need different numbers or different types of arguments</a:t>
            </a:r>
          </a:p>
          <a:p>
            <a:pPr marL="569214" lvl="1">
              <a:buFontTx/>
              <a:buChar char="-"/>
            </a:pPr>
            <a:r>
              <a:rPr lang="en-US" dirty="0"/>
              <a:t>The arguments in a function do not all need to be the same data type</a:t>
            </a:r>
          </a:p>
          <a:p>
            <a:pPr marL="569214" lvl="1">
              <a:buFontTx/>
              <a:buChar char="-"/>
            </a:pPr>
            <a:r>
              <a:rPr lang="en-US" dirty="0"/>
              <a:t>In JavaScript we do not need to state what are the data types of the arguments</a:t>
            </a:r>
          </a:p>
          <a:p>
            <a:pPr marL="852678" lvl="2">
              <a:buFontTx/>
              <a:buChar char="-"/>
            </a:pPr>
            <a:r>
              <a:rPr lang="en-US" dirty="0"/>
              <a:t>Other languages such as Java do require this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67875-1F1B-A305-4C5F-25D3C78A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92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AEDC-AA40-4075-DC89-C8BA3F9C0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877200"/>
          </a:xfrm>
        </p:spPr>
        <p:txBody>
          <a:bodyPr/>
          <a:lstStyle/>
          <a:p>
            <a:r>
              <a:rPr lang="en-US" dirty="0" err="1"/>
              <a:t>Console.logi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973EF-3A38-2E3C-79F4-CA269DFEBC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02DDF0A-9286-CC2C-FE34-6EE26B78B5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930BC-4296-8063-A0C4-2446C00F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77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The Power of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Communication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Overcoming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Nervousness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dirty="0"/>
              <a:t>SELECTING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/>
              <a:t>SPEAKING IMPACT</a:t>
            </a:r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 dirty="0"/>
              <a:t>DYNAMIC DELIVERY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41716" y="3078480"/>
            <a:ext cx="3108193" cy="3047997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67588EB3-ED1D-6AD3-5960-55BD64293774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366282485"/>
              </p:ext>
            </p:extLst>
          </p:nvPr>
        </p:nvGraphicFramePr>
        <p:xfrm>
          <a:off x="5067300" y="404813"/>
          <a:ext cx="6705602" cy="6049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3214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42065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METRIC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MEASUREMENT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TARGET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ACTUAL</a:t>
                      </a:r>
                      <a:endParaRPr lang="en-US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648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8EEA5630-8504-C8C7-2F0C-EE6D53FDDCC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050753078"/>
              </p:ext>
            </p:extLst>
          </p:nvPr>
        </p:nvGraphicFramePr>
        <p:xfrm>
          <a:off x="835025" y="2560638"/>
          <a:ext cx="10515601" cy="347715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795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n-US" dirty="0"/>
              <a:t>Mirjam Nilsson​</a:t>
            </a:r>
          </a:p>
          <a:p>
            <a:r>
              <a:rPr lang="en-US" dirty="0"/>
              <a:t>206-555-0146</a:t>
            </a:r>
          </a:p>
          <a:p>
            <a:r>
              <a:rPr lang="en-US" dirty="0"/>
              <a:t>mirjam@contoso.com</a:t>
            </a:r>
          </a:p>
          <a:p>
            <a:r>
              <a:rPr lang="en-US" dirty="0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29120</TotalTime>
  <Words>825</Words>
  <Application>Microsoft Macintosh PowerPoint</Application>
  <PresentationFormat>Widescreen</PresentationFormat>
  <Paragraphs>179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Nova</vt:lpstr>
      <vt:lpstr>Biome</vt:lpstr>
      <vt:lpstr>Calibri</vt:lpstr>
      <vt:lpstr>Custom</vt:lpstr>
      <vt:lpstr>BASIC</vt:lpstr>
      <vt:lpstr>Expressions and statement</vt:lpstr>
      <vt:lpstr>Expressions</vt:lpstr>
      <vt:lpstr>Statements</vt:lpstr>
      <vt:lpstr>Environment</vt:lpstr>
      <vt:lpstr>Function</vt:lpstr>
      <vt:lpstr>Function (cont’d)</vt:lpstr>
      <vt:lpstr>Function (cont’d)</vt:lpstr>
      <vt:lpstr>Agenda</vt:lpstr>
      <vt:lpstr>Console.logi</vt:lpstr>
      <vt:lpstr>The Power of</vt:lpstr>
      <vt:lpstr>Overcoming 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Tarvin, David (drtarvin)</cp:lastModifiedBy>
  <cp:revision>6</cp:revision>
  <dcterms:created xsi:type="dcterms:W3CDTF">2024-12-18T04:08:11Z</dcterms:created>
  <dcterms:modified xsi:type="dcterms:W3CDTF">2025-08-08T22:05:20Z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