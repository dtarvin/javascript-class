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65"/>
    <p:restoredTop sz="94661"/>
  </p:normalViewPr>
  <p:slideViewPr>
    <p:cSldViewPr snapToGrid="0" showGuides="1">
      <p:cViewPr varScale="1">
        <p:scale>
          <a:sx n="109" d="100"/>
          <a:sy n="109" d="100"/>
        </p:scale>
        <p:origin x="60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javascript.plainenglish.io/why-javascript-is-called-lightweight-5a1996db9ef6" TargetMode="External"/><Relationship Id="rId2" Type="http://schemas.openxmlformats.org/officeDocument/2006/relationships/hyperlink" Target="https://developer.mozilla.org/en-US/docs/Learn/JavaScript/First_Steps/What_is_JavaScrip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eeksforgeeks.org/introduction-to-javascript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roovetechnology.com/blog/why-javascript-is-single-threaded/#:~:text=JavaScript%20was%20designed%20to%20be,interactivity%20to%20static%20web%20pages" TargetMode="External"/><Relationship Id="rId2" Type="http://schemas.openxmlformats.org/officeDocument/2006/relationships/hyperlink" Target="https://www.freecodecamp.org/news/compiled-versus-interpreted-language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reecodecamp.org/news/just-in-time-compilation-explaine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386A6-55DC-E435-6736-812E58F4CB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About JavaScript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D85E51-1F54-37D6-A23A-E7F2724838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David Tarvin, AIM Code School</a:t>
            </a:r>
          </a:p>
        </p:txBody>
      </p:sp>
    </p:spTree>
    <p:extLst>
      <p:ext uri="{BB962C8B-B14F-4D97-AF65-F5344CB8AC3E}">
        <p14:creationId xmlns:p14="http://schemas.microsoft.com/office/powerpoint/2010/main" val="2428235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C821-793B-F9F2-A812-EFD417375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JavaScript?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BA9AD-28A1-E86A-C339-FC7C9E701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JavaScript is a scripting or programming language that allows for interactive web pages by enabling dynamic content such as: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Real-time content updates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Interactive maps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Form validation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Animated 2D/3D graphics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Scrolling video jukeboxes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Countless others</a:t>
            </a:r>
          </a:p>
        </p:txBody>
      </p:sp>
    </p:spTree>
    <p:extLst>
      <p:ext uri="{BB962C8B-B14F-4D97-AF65-F5344CB8AC3E}">
        <p14:creationId xmlns:p14="http://schemas.microsoft.com/office/powerpoint/2010/main" val="152945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1E639-BFCC-791D-61DA-B6F3C6402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what is it actually?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BC45C-4768-CD9B-78B3-1CCD269F3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JavaScript is a </a:t>
            </a:r>
            <a:r>
              <a:rPr lang="en-US" b="1" dirty="0"/>
              <a:t>lightweight</a:t>
            </a:r>
            <a:r>
              <a:rPr lang="en-US" dirty="0"/>
              <a:t>, </a:t>
            </a:r>
            <a:r>
              <a:rPr lang="en-US" b="1" dirty="0"/>
              <a:t>cross-platform</a:t>
            </a:r>
            <a:r>
              <a:rPr lang="en-US" dirty="0"/>
              <a:t>, </a:t>
            </a:r>
            <a:r>
              <a:rPr lang="en-US" b="1" dirty="0"/>
              <a:t>single-threaded</a:t>
            </a:r>
            <a:r>
              <a:rPr lang="en-US" dirty="0"/>
              <a:t>, and </a:t>
            </a:r>
            <a:r>
              <a:rPr lang="en-US" b="1" dirty="0"/>
              <a:t>interpreted</a:t>
            </a:r>
            <a:r>
              <a:rPr lang="en-US" dirty="0"/>
              <a:t> or </a:t>
            </a:r>
            <a:r>
              <a:rPr lang="en-US" b="1" dirty="0"/>
              <a:t>just-in-time compiled</a:t>
            </a:r>
            <a:r>
              <a:rPr lang="en-US" dirty="0"/>
              <a:t> programming language well-known for the development of web pages, as well as its use in many non-browser environments</a:t>
            </a:r>
          </a:p>
        </p:txBody>
      </p:sp>
    </p:spTree>
    <p:extLst>
      <p:ext uri="{BB962C8B-B14F-4D97-AF65-F5344CB8AC3E}">
        <p14:creationId xmlns:p14="http://schemas.microsoft.com/office/powerpoint/2010/main" val="3211464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2C091-EA66-B7E7-A627-7A68C23C3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lightweight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B384D-CBE1-EBD1-47EA-4DBFEE6C1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Lightweight programming languages</a:t>
            </a:r>
            <a:r>
              <a:rPr lang="en-US" dirty="0"/>
              <a:t> are those which are designed to: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Consume minimal memory resources when its code or an application is running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Ease the implementation across platforms such as web, mobile, desktop, etc.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Have a minimalist, semantic, simple syntax to help in learning quickly</a:t>
            </a:r>
          </a:p>
        </p:txBody>
      </p:sp>
    </p:spTree>
    <p:extLst>
      <p:ext uri="{BB962C8B-B14F-4D97-AF65-F5344CB8AC3E}">
        <p14:creationId xmlns:p14="http://schemas.microsoft.com/office/powerpoint/2010/main" val="3418385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60EB0-B012-9003-AC0D-B0152D36C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JavaScript lightweight?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C6445-4858-DA4D-9F48-B77B1C025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It makes applications consume fewer resources than other language implementations</a:t>
            </a:r>
          </a:p>
          <a:p>
            <a:pPr>
              <a:lnSpc>
                <a:spcPct val="150000"/>
              </a:lnSpc>
            </a:pPr>
            <a:r>
              <a:rPr lang="en-US" dirty="0"/>
              <a:t>It runs on browsers without any dependencies</a:t>
            </a:r>
          </a:p>
          <a:p>
            <a:pPr>
              <a:lnSpc>
                <a:spcPct val="150000"/>
              </a:lnSpc>
            </a:pPr>
            <a:r>
              <a:rPr lang="en-US" dirty="0"/>
              <a:t>New features are constantly added so users need not write any new code, making it leaner on resources</a:t>
            </a:r>
          </a:p>
          <a:p>
            <a:pPr>
              <a:lnSpc>
                <a:spcPct val="150000"/>
              </a:lnSpc>
            </a:pPr>
            <a:r>
              <a:rPr lang="en-US" dirty="0"/>
              <a:t>It has a minimal set of language constructs, which can be leveraged to handle any requirement for a given application</a:t>
            </a:r>
          </a:p>
          <a:p>
            <a:pPr>
              <a:lnSpc>
                <a:spcPct val="150000"/>
              </a:lnSpc>
            </a:pPr>
            <a:r>
              <a:rPr lang="en-US" dirty="0"/>
              <a:t>Learning the language does not require a great deal of effort</a:t>
            </a:r>
          </a:p>
        </p:txBody>
      </p:sp>
    </p:spTree>
    <p:extLst>
      <p:ext uri="{BB962C8B-B14F-4D97-AF65-F5344CB8AC3E}">
        <p14:creationId xmlns:p14="http://schemas.microsoft.com/office/powerpoint/2010/main" val="1470823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7DD09-1D9A-D7BA-1F97-2DC424D3E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JavaScript cross-platform?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A5ED8-B2FE-E1DB-55E6-A84300E52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Originally designed to run in the browser</a:t>
            </a:r>
          </a:p>
          <a:p>
            <a:pPr>
              <a:lnSpc>
                <a:spcPct val="150000"/>
              </a:lnSpc>
            </a:pPr>
            <a:r>
              <a:rPr lang="en-US" dirty="0"/>
              <a:t>Now used for things such as: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Native application development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Virtual reality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Building chat and voice-controlled bots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Games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Machine learning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Just about anything you can think up</a:t>
            </a:r>
          </a:p>
        </p:txBody>
      </p:sp>
    </p:spTree>
    <p:extLst>
      <p:ext uri="{BB962C8B-B14F-4D97-AF65-F5344CB8AC3E}">
        <p14:creationId xmlns:p14="http://schemas.microsoft.com/office/powerpoint/2010/main" val="3883939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B99E-AC2B-9881-B4C0-6DDE558F9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thread?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5D110-047D-1D84-4978-616238115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Threads</a:t>
            </a:r>
            <a:r>
              <a:rPr lang="en-US" dirty="0"/>
              <a:t> are lightweight processes that run concurrently in a program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Each thread has a </a:t>
            </a:r>
            <a:r>
              <a:rPr lang="en-US" b="1" dirty="0"/>
              <a:t>stack</a:t>
            </a:r>
            <a:r>
              <a:rPr lang="en-US" dirty="0"/>
              <a:t> upon which is put tasks that need completed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Threads share resources such as memory, code, and data with other threads</a:t>
            </a:r>
          </a:p>
        </p:txBody>
      </p:sp>
    </p:spTree>
    <p:extLst>
      <p:ext uri="{BB962C8B-B14F-4D97-AF65-F5344CB8AC3E}">
        <p14:creationId xmlns:p14="http://schemas.microsoft.com/office/powerpoint/2010/main" val="3938863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F0EA7-5226-9E58-1383-4C0D6567D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multi-threaded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FE265-8DBB-0E7A-D41D-6E2BD02FC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Multithreading</a:t>
            </a:r>
            <a:r>
              <a:rPr lang="en-US" dirty="0"/>
              <a:t> allows a program to perform several tasks simultaneously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Useful for running heavy computations or handling multiple requests in a web application</a:t>
            </a:r>
          </a:p>
          <a:p>
            <a:pPr>
              <a:lnSpc>
                <a:spcPct val="150000"/>
              </a:lnSpc>
            </a:pPr>
            <a:r>
              <a:rPr lang="en-US" dirty="0"/>
              <a:t>Multi-threaded languages include Java, C, C++, C#, Python and Rust</a:t>
            </a:r>
          </a:p>
        </p:txBody>
      </p:sp>
    </p:spTree>
    <p:extLst>
      <p:ext uri="{BB962C8B-B14F-4D97-AF65-F5344CB8AC3E}">
        <p14:creationId xmlns:p14="http://schemas.microsoft.com/office/powerpoint/2010/main" val="359149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36528-8D94-85A9-0392-B8F06BF6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single-threaded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00633-4BDE-8D94-09DB-EC7E04BF4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 </a:t>
            </a:r>
            <a:r>
              <a:rPr lang="en-US" b="1" dirty="0"/>
              <a:t>single-threaded</a:t>
            </a:r>
            <a:r>
              <a:rPr lang="en-US" dirty="0"/>
              <a:t> language is one that can execute only one task at a time</a:t>
            </a:r>
          </a:p>
          <a:p>
            <a:pPr>
              <a:lnSpc>
                <a:spcPct val="150000"/>
              </a:lnSpc>
            </a:pPr>
            <a:r>
              <a:rPr lang="en-US" dirty="0"/>
              <a:t>The program executes the tasks in sequence, and each task must complete before the next task starts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Long-running tasks can block the execution of other code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 result in slow and unresponsive web pages</a:t>
            </a:r>
          </a:p>
        </p:txBody>
      </p:sp>
    </p:spTree>
    <p:extLst>
      <p:ext uri="{BB962C8B-B14F-4D97-AF65-F5344CB8AC3E}">
        <p14:creationId xmlns:p14="http://schemas.microsoft.com/office/powerpoint/2010/main" val="377151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31CE3-346D-F1B3-A01D-93C66AC9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JavaScript single-threaded?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08372-A8CB-1660-61B7-680A5271F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When JavaScript was invented, its primary use was in the browser to add interactivity to web pages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Computers were slower with limited processing power</a:t>
            </a:r>
          </a:p>
          <a:p>
            <a:pPr>
              <a:lnSpc>
                <a:spcPct val="150000"/>
              </a:lnSpc>
            </a:pPr>
            <a:r>
              <a:rPr lang="en-US" dirty="0"/>
              <a:t>JavaScript was made single-threaded to keep the language simple and efficient</a:t>
            </a:r>
          </a:p>
        </p:txBody>
      </p:sp>
    </p:spTree>
    <p:extLst>
      <p:ext uri="{BB962C8B-B14F-4D97-AF65-F5344CB8AC3E}">
        <p14:creationId xmlns:p14="http://schemas.microsoft.com/office/powerpoint/2010/main" val="2884470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36E6A-7A1D-8FFA-42F0-DCF184A52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around single-thread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3FF33-1E8F-EC53-53FD-632DDB2C9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Asynchronous Programming Techniques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Uses callbacks, promises, and async/await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Allows us to perform long-running tasks without blocking the execution of other code</a:t>
            </a:r>
          </a:p>
          <a:p>
            <a:pPr>
              <a:lnSpc>
                <a:spcPct val="150000"/>
              </a:lnSpc>
            </a:pPr>
            <a:r>
              <a:rPr lang="en-US" dirty="0"/>
              <a:t>Web workers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 type of JavaScript thread that runs in the background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Allows execution of heavy computations or I/O operations without blocking the main thread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Results in a more responsive user interface</a:t>
            </a:r>
          </a:p>
        </p:txBody>
      </p:sp>
    </p:spTree>
    <p:extLst>
      <p:ext uri="{BB962C8B-B14F-4D97-AF65-F5344CB8AC3E}">
        <p14:creationId xmlns:p14="http://schemas.microsoft.com/office/powerpoint/2010/main" val="330364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11A9-8133-0A1D-D123-B6A8A9B6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compiled language?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CD332-6ED0-6CAF-C885-78733F899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 </a:t>
            </a:r>
            <a:r>
              <a:rPr lang="en-US" b="1" dirty="0"/>
              <a:t>compiled</a:t>
            </a:r>
            <a:r>
              <a:rPr lang="en-US" dirty="0"/>
              <a:t> language is a programming language that is converted from human-readable code into computer-readable machine code so that the computer’s CPU can execute it</a:t>
            </a:r>
          </a:p>
          <a:p>
            <a:pPr>
              <a:lnSpc>
                <a:spcPct val="150000"/>
              </a:lnSpc>
            </a:pPr>
            <a:r>
              <a:rPr lang="en-US" dirty="0"/>
              <a:t>Compiled languages include C, C++, and COBOL</a:t>
            </a:r>
          </a:p>
        </p:txBody>
      </p:sp>
    </p:spTree>
    <p:extLst>
      <p:ext uri="{BB962C8B-B14F-4D97-AF65-F5344CB8AC3E}">
        <p14:creationId xmlns:p14="http://schemas.microsoft.com/office/powerpoint/2010/main" val="381770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322A-5139-46E1-78CD-8FC739C4A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code?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96940-50BB-4F81-0B64-EDF5BACDE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Machine code</a:t>
            </a:r>
            <a:r>
              <a:rPr lang="en-US" dirty="0"/>
              <a:t> (</a:t>
            </a:r>
            <a:r>
              <a:rPr lang="en-US" b="1" dirty="0"/>
              <a:t>machine language</a:t>
            </a:r>
            <a:r>
              <a:rPr lang="en-US" dirty="0"/>
              <a:t>) is the elemental language of computers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Called a </a:t>
            </a:r>
            <a:r>
              <a:rPr lang="en-US" b="1" dirty="0"/>
              <a:t>low-level</a:t>
            </a:r>
            <a:r>
              <a:rPr lang="en-US" dirty="0"/>
              <a:t> language because it’s not readable by humans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Consists of binary or hexadecimal code read directly by the computer’s CPU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Allows direct control of the hardware of the computer</a:t>
            </a:r>
          </a:p>
        </p:txBody>
      </p:sp>
    </p:spTree>
    <p:extLst>
      <p:ext uri="{BB962C8B-B14F-4D97-AF65-F5344CB8AC3E}">
        <p14:creationId xmlns:p14="http://schemas.microsoft.com/office/powerpoint/2010/main" val="164399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B0090-7854-11D8-E7AC-626A77D7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interpreted language?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474D3-99C7-6EEE-6088-3962052A8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An </a:t>
            </a:r>
            <a:r>
              <a:rPr lang="en-US" b="1" dirty="0"/>
              <a:t>interpreted</a:t>
            </a:r>
            <a:r>
              <a:rPr lang="en-US" dirty="0"/>
              <a:t> language is one in which implementations perform instructions directly and easily without compiling a program into machine language instructions first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The language interpreter reads the source file line by line and converts and executes it immediately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Interpreted languages are </a:t>
            </a:r>
            <a:r>
              <a:rPr lang="en-US" b="1" dirty="0"/>
              <a:t>high-level</a:t>
            </a:r>
            <a:r>
              <a:rPr lang="en-US" dirty="0"/>
              <a:t> because they are generally readable by humans (in English)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Interpreted languages include Python, JavaScript, Perl</a:t>
            </a:r>
          </a:p>
        </p:txBody>
      </p:sp>
    </p:spTree>
    <p:extLst>
      <p:ext uri="{BB962C8B-B14F-4D97-AF65-F5344CB8AC3E}">
        <p14:creationId xmlns:p14="http://schemas.microsoft.com/office/powerpoint/2010/main" val="7223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D0AFD-7D8E-91D4-6470-DC3175345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Compiled vs interpreted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978DE-B58B-655B-88D7-C3D9557595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Compiled languages: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Run faster than interpreted languages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 be executed directly by the CPU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Deliver better performance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Give more control over hardware aspects, like memory management and CPU usage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Require recompilation every time code is edited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Are platform-dependent of the generated binary code</a:t>
            </a:r>
          </a:p>
        </p:txBody>
      </p:sp>
    </p:spTree>
    <p:extLst>
      <p:ext uri="{BB962C8B-B14F-4D97-AF65-F5344CB8AC3E}">
        <p14:creationId xmlns:p14="http://schemas.microsoft.com/office/powerpoint/2010/main" val="1286556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8A103-3D82-CA9B-9D45-2367C352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Compiled vs interpreted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D289C-112F-3D45-0D10-E68FF25A2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US" dirty="0"/>
              <a:t>Interpreted languages: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Generally slower, but changing with just-in-time compilation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More flexible</a:t>
            </a:r>
          </a:p>
          <a:p>
            <a:pPr lvl="3">
              <a:lnSpc>
                <a:spcPct val="150000"/>
              </a:lnSpc>
            </a:pPr>
            <a:r>
              <a:rPr lang="en-US" dirty="0"/>
              <a:t>Developers can make changes to the code on the fly</a:t>
            </a:r>
          </a:p>
          <a:p>
            <a:pPr lvl="3">
              <a:lnSpc>
                <a:spcPct val="150000"/>
              </a:lnSpc>
            </a:pPr>
            <a:r>
              <a:rPr lang="en-US" dirty="0"/>
              <a:t>Language can adapt to runtime conditions in an automated way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Often offer features such as dynamic typing and smaller program size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Platform independent because interpreters execute the source code themselves</a:t>
            </a:r>
          </a:p>
        </p:txBody>
      </p:sp>
    </p:spTree>
    <p:extLst>
      <p:ext uri="{BB962C8B-B14F-4D97-AF65-F5344CB8AC3E}">
        <p14:creationId xmlns:p14="http://schemas.microsoft.com/office/powerpoint/2010/main" val="78150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89AB-3161-6A06-D986-4029124A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just-in-time compilation?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AAC7D-5E40-0C29-3881-CC5D79C96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While the interpreted language is being run, the </a:t>
            </a:r>
            <a:r>
              <a:rPr lang="en-US" b="1" dirty="0"/>
              <a:t>just-in-time compiler</a:t>
            </a:r>
            <a:r>
              <a:rPr lang="en-US" dirty="0"/>
              <a:t> determines the most frequently used code and compiles it to machine code</a:t>
            </a:r>
          </a:p>
          <a:p>
            <a:pPr>
              <a:lnSpc>
                <a:spcPct val="150000"/>
              </a:lnSpc>
            </a:pPr>
            <a:r>
              <a:rPr lang="en-US" dirty="0"/>
              <a:t>Done on just sections of the entire code</a:t>
            </a:r>
          </a:p>
          <a:p>
            <a:pPr>
              <a:lnSpc>
                <a:spcPct val="150000"/>
              </a:lnSpc>
            </a:pPr>
            <a:r>
              <a:rPr lang="en-US" dirty="0"/>
              <a:t>Result – interpreter doesn’t have to interpret bytecode every time a method is invoked</a:t>
            </a:r>
          </a:p>
          <a:p>
            <a:pPr>
              <a:lnSpc>
                <a:spcPct val="150000"/>
              </a:lnSpc>
            </a:pPr>
            <a:r>
              <a:rPr lang="en-US" dirty="0"/>
              <a:t>Done during the execution of the code as opposed to prior to execution</a:t>
            </a:r>
          </a:p>
          <a:p>
            <a:pPr>
              <a:lnSpc>
                <a:spcPct val="150000"/>
              </a:lnSpc>
            </a:pPr>
            <a:r>
              <a:rPr lang="en-US" dirty="0"/>
              <a:t>Because compilation takes place at runtime, the just-in-time compiler has access to dynamic runtime information which enables it to make better optimizations</a:t>
            </a:r>
          </a:p>
        </p:txBody>
      </p:sp>
    </p:spTree>
    <p:extLst>
      <p:ext uri="{BB962C8B-B14F-4D97-AF65-F5344CB8AC3E}">
        <p14:creationId xmlns:p14="http://schemas.microsoft.com/office/powerpoint/2010/main" val="15110926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3BA14-E3E0-C394-114E-E0E636533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JavaScript to a web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F3F4A-8233-14B5-C75E-6CA89CF85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Two ways: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Adding it directly in HTML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Linking an external file to the web page</a:t>
            </a:r>
          </a:p>
        </p:txBody>
      </p:sp>
    </p:spTree>
    <p:extLst>
      <p:ext uri="{BB962C8B-B14F-4D97-AF65-F5344CB8AC3E}">
        <p14:creationId xmlns:p14="http://schemas.microsoft.com/office/powerpoint/2010/main" val="3295652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62DF8-F45E-6936-8A79-0C86CCBD9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JavaScript directly in 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969D6-50A4-CBE7-F0EC-E5467EA4E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Place JavaScript code between a pair of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&lt;script&gt;</a:t>
            </a:r>
            <a:r>
              <a:rPr lang="en-US" dirty="0"/>
              <a:t> tags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1FBA8D-E94A-FAF6-A57C-588817DE7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650" y="2930769"/>
            <a:ext cx="7124700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7562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B6AD3-08C2-54BF-D297-4AFEF16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Linking an external JavaScript file to a web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B25D9-55D1-2D90-289E-CCE9E23A5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Still need a pair of &lt;script&gt; tags</a:t>
            </a:r>
          </a:p>
          <a:p>
            <a:pPr>
              <a:lnSpc>
                <a:spcPct val="150000"/>
              </a:lnSpc>
            </a:pPr>
            <a:r>
              <a:rPr lang="en-US" dirty="0"/>
              <a:t>Opening tag has src attribute whose value is the path to the external JavaScript file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048B75-AB02-D0CA-B658-7A730BFE3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600" y="4045926"/>
            <a:ext cx="513080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3796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DD929-7999-9A5E-3677-06BCB20E2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9B59E-9853-36AA-CD5D-F5D552388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Placing &lt;script&gt; 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2055C-177D-3324-E70D-861820573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Can be placed in the HTML file within either the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&lt;head&gt;</a:t>
            </a:r>
            <a:r>
              <a:rPr lang="en-US" dirty="0"/>
              <a:t> tags or the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&lt;body&gt;</a:t>
            </a:r>
            <a:r>
              <a:rPr lang="en-US" dirty="0"/>
              <a:t> tags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Best to put within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&lt;body&gt;</a:t>
            </a:r>
            <a:r>
              <a:rPr lang="en-US" dirty="0"/>
              <a:t> tags as the last element in the body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Putting within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&lt;head&gt;</a:t>
            </a:r>
            <a:r>
              <a:rPr lang="en-US" dirty="0"/>
              <a:t> tags can cause JavaScript to run before the body of the web page is completely created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Can cause problems, errors, or unexpected results</a:t>
            </a:r>
          </a:p>
        </p:txBody>
      </p:sp>
    </p:spTree>
    <p:extLst>
      <p:ext uri="{BB962C8B-B14F-4D97-AF65-F5344CB8AC3E}">
        <p14:creationId xmlns:p14="http://schemas.microsoft.com/office/powerpoint/2010/main" val="3486579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95610-9C15-D0B8-A012-B3B7D7E93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JavaScript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C9B8C-A281-9B71-5ED8-41B3416F9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alert();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Causes a box to pop up on the screen with whatever message is put in the parentheses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alert(“Hi there!”);</a:t>
            </a:r>
          </a:p>
        </p:txBody>
      </p:sp>
    </p:spTree>
    <p:extLst>
      <p:ext uri="{BB962C8B-B14F-4D97-AF65-F5344CB8AC3E}">
        <p14:creationId xmlns:p14="http://schemas.microsoft.com/office/powerpoint/2010/main" val="1358443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028-5508-DA0B-6EE0-A48ECF03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4B8E5-E763-7658-0007-A63190839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JavaScript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E3135-A79F-BC80-9779-8A80EFCCC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prompt();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Same as alert, but also includes an input box for the user to type something in that will be saved in a variable or otherwise used in the code somehow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let age = prompt(“Please enter your age: “);</a:t>
            </a:r>
          </a:p>
        </p:txBody>
      </p:sp>
    </p:spTree>
    <p:extLst>
      <p:ext uri="{BB962C8B-B14F-4D97-AF65-F5344CB8AC3E}">
        <p14:creationId xmlns:p14="http://schemas.microsoft.com/office/powerpoint/2010/main" val="2674472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6B9AC-EC1A-53F3-E4CE-3039CDC9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5E91-1BCD-7AD0-D4CC-5B015916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JavaScript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8BB45-31CF-92BD-1001-3E609E3E5A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console.log();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Prints into the browser’s console whatever is written within the method’s parentheses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Accessing the console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Hit </a:t>
            </a:r>
            <a:r>
              <a:rPr lang="en-US" b="1" dirty="0">
                <a:cs typeface="Courier New" panose="02070309020205020404" pitchFamily="49" charset="0"/>
              </a:rPr>
              <a:t>F12</a:t>
            </a:r>
            <a:r>
              <a:rPr lang="en-US" dirty="0">
                <a:cs typeface="Courier New" panose="02070309020205020404" pitchFamily="49" charset="0"/>
              </a:rPr>
              <a:t> key or right-click on web page and click “</a:t>
            </a:r>
            <a:r>
              <a:rPr lang="en-US" b="1" dirty="0">
                <a:cs typeface="Courier New" panose="02070309020205020404" pitchFamily="49" charset="0"/>
              </a:rPr>
              <a:t>Inspect</a:t>
            </a:r>
            <a:r>
              <a:rPr lang="en-US" dirty="0">
                <a:cs typeface="Courier New" panose="02070309020205020404" pitchFamily="49" charset="0"/>
              </a:rPr>
              <a:t>” to open Developer Tools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Click on </a:t>
            </a:r>
            <a:r>
              <a:rPr lang="en-US" b="1" dirty="0">
                <a:cs typeface="Courier New" panose="02070309020205020404" pitchFamily="49" charset="0"/>
              </a:rPr>
              <a:t>Console</a:t>
            </a:r>
            <a:r>
              <a:rPr lang="en-US" dirty="0">
                <a:cs typeface="Courier New" panose="02070309020205020404" pitchFamily="49" charset="0"/>
              </a:rPr>
              <a:t> at the top of Developer Tools</a:t>
            </a:r>
          </a:p>
        </p:txBody>
      </p:sp>
    </p:spTree>
    <p:extLst>
      <p:ext uri="{BB962C8B-B14F-4D97-AF65-F5344CB8AC3E}">
        <p14:creationId xmlns:p14="http://schemas.microsoft.com/office/powerpoint/2010/main" val="5063668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3A3F8E-2A0B-869C-377A-19212E02D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4" y="0"/>
            <a:ext cx="105452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2072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EC5125-677E-8FEF-18D8-73EFE5DB9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144" y="0"/>
            <a:ext cx="65997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782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55FEE-8809-F6C2-5506-F9C6597FC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F3339-7D3E-E5C2-DEF2-FB12E7D9C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u="sng" dirty="0"/>
              <a:t>What is JavaScript</a:t>
            </a:r>
            <a:r>
              <a:rPr lang="en-US" dirty="0"/>
              <a:t>?, MDN Web Docs, </a:t>
            </a:r>
            <a:r>
              <a:rPr lang="en-US" dirty="0">
                <a:hlinkClick r:id="rId2"/>
              </a:rPr>
              <a:t>https://developer.mozilla.org/en-US/docs/Learn/JavaScript/First_Steps/What_is_JavaScript</a:t>
            </a:r>
            <a:r>
              <a:rPr lang="en-US" dirty="0"/>
              <a:t>,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u="sng" dirty="0"/>
              <a:t>Why JavaScript is called lightweight?</a:t>
            </a:r>
            <a:r>
              <a:rPr lang="en-US" dirty="0"/>
              <a:t>, Subodh Kumar, JavaScript in Plain English, Jan 3, 2022, </a:t>
            </a:r>
            <a:r>
              <a:rPr lang="en-US" dirty="0">
                <a:hlinkClick r:id="rId3"/>
              </a:rPr>
              <a:t>https://javascript.plainenglish.io/why-javascript-is-called-lightweight-5a1996db9ef6</a:t>
            </a:r>
            <a:r>
              <a:rPr lang="en-US" dirty="0"/>
              <a:t>,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u="sng" dirty="0"/>
              <a:t>Introduction to JavaScript</a:t>
            </a:r>
            <a:r>
              <a:rPr lang="en-US" dirty="0"/>
              <a:t>, </a:t>
            </a:r>
            <a:r>
              <a:rPr lang="en-US" dirty="0" err="1"/>
              <a:t>GeeksForGeeks</a:t>
            </a:r>
            <a:r>
              <a:rPr lang="en-US" dirty="0"/>
              <a:t>, last updated Feb 2, 2024, </a:t>
            </a:r>
            <a:r>
              <a:rPr lang="en-US" dirty="0">
                <a:hlinkClick r:id="rId4"/>
              </a:rPr>
              <a:t>https://www.geeksforgeeks.org/introduction-to-javascript/</a:t>
            </a:r>
            <a:r>
              <a:rPr lang="en-US" dirty="0"/>
              <a:t>, accessed May 19, 2024.</a:t>
            </a:r>
          </a:p>
        </p:txBody>
      </p:sp>
    </p:spTree>
    <p:extLst>
      <p:ext uri="{BB962C8B-B14F-4D97-AF65-F5344CB8AC3E}">
        <p14:creationId xmlns:p14="http://schemas.microsoft.com/office/powerpoint/2010/main" val="25053094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1078-975B-691B-F029-DFC375110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18BE0-4107-4276-0ADA-D8F30FECD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 startAt="4"/>
            </a:pPr>
            <a:r>
              <a:rPr lang="en-US" u="sng" dirty="0"/>
              <a:t>Interpreted vs Compiled Programming Languages: What’s the Difference?</a:t>
            </a:r>
            <a:r>
              <a:rPr lang="en-US" dirty="0"/>
              <a:t>, Free Code Camp, January 10, 2020, </a:t>
            </a:r>
            <a:r>
              <a:rPr lang="en-US" dirty="0">
                <a:hlinkClick r:id="rId2"/>
              </a:rPr>
              <a:t>https://www.freecodecamp.org/news/compiled-versus-interpreted-languages/</a:t>
            </a:r>
            <a:r>
              <a:rPr lang="en-US" dirty="0"/>
              <a:t>,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 startAt="4"/>
            </a:pPr>
            <a:r>
              <a:rPr lang="en-US" u="sng" dirty="0"/>
              <a:t>Why is JavaScript Single Threaded?</a:t>
            </a:r>
            <a:r>
              <a:rPr lang="en-US" dirty="0"/>
              <a:t>, Matt Long, Grove Technology, July 21, 2023,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https://groovetechnology.com/blog/why-javascript-is-single-threaded/#:~:text=JavaScript%20was%20designed%20to%20be,interactivity%20to%20static%20web%20pages</a:t>
            </a:r>
            <a:r>
              <a:rPr lang="en-US" u="sng" dirty="0">
                <a:solidFill>
                  <a:schemeClr val="hlink"/>
                </a:solidFill>
              </a:rPr>
              <a:t>,</a:t>
            </a:r>
            <a:r>
              <a:rPr lang="en-US" dirty="0"/>
              <a:t>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 startAt="4"/>
            </a:pPr>
            <a:r>
              <a:rPr lang="en-US" dirty="0"/>
              <a:t>Just in Time Compilation Explained, Free Code Camp, Feb 1, 2020, </a:t>
            </a:r>
            <a:r>
              <a:rPr lang="en-US" dirty="0">
                <a:hlinkClick r:id="rId4"/>
              </a:rPr>
              <a:t>https://www.freecodecamp.org/news/just-in-time-compilation-explained</a:t>
            </a:r>
            <a:r>
              <a:rPr lang="en-US">
                <a:hlinkClick r:id="rId4"/>
              </a:rPr>
              <a:t>/</a:t>
            </a:r>
            <a:r>
              <a:rPr lang="en-US"/>
              <a:t>, accessed May 19, 2024.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872806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27544</TotalTime>
  <Words>1345</Words>
  <Application>Microsoft Macintosh PowerPoint</Application>
  <PresentationFormat>Widescreen</PresentationFormat>
  <Paragraphs>126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Century Gothic</vt:lpstr>
      <vt:lpstr>Courier New</vt:lpstr>
      <vt:lpstr>Vapor Trail</vt:lpstr>
      <vt:lpstr>About JavaScript</vt:lpstr>
      <vt:lpstr>What is JavaScript?</vt:lpstr>
      <vt:lpstr>But what is it actually?</vt:lpstr>
      <vt:lpstr>What does lightweight mean?</vt:lpstr>
      <vt:lpstr>How is JavaScript lightweight?</vt:lpstr>
      <vt:lpstr>What makes JavaScript cross-platform?</vt:lpstr>
      <vt:lpstr>What is a thread?</vt:lpstr>
      <vt:lpstr>What does multi-threaded mean?</vt:lpstr>
      <vt:lpstr>What does single-threaded mean?</vt:lpstr>
      <vt:lpstr>Why is JavaScript single-threaded?</vt:lpstr>
      <vt:lpstr>Ways around single-thread limitations</vt:lpstr>
      <vt:lpstr>What is a compiled language?</vt:lpstr>
      <vt:lpstr>What is machine code?</vt:lpstr>
      <vt:lpstr>What is an interpreted language?</vt:lpstr>
      <vt:lpstr>Compiled vs interpreted</vt:lpstr>
      <vt:lpstr>Compiled vs interpreted (cont’d)</vt:lpstr>
      <vt:lpstr>What is just-in-time compilation?</vt:lpstr>
      <vt:lpstr>Adding JavaScript to a web page</vt:lpstr>
      <vt:lpstr>Adding JavaScript directly in HTML</vt:lpstr>
      <vt:lpstr>Linking an external JavaScript file to a web page</vt:lpstr>
      <vt:lpstr>Placing &lt;script&gt; tags</vt:lpstr>
      <vt:lpstr>Useful JavaScript Methods</vt:lpstr>
      <vt:lpstr>Useful JavaScript Methods</vt:lpstr>
      <vt:lpstr>Useful JavaScript Methods</vt:lpstr>
      <vt:lpstr>PowerPoint Presentation</vt:lpstr>
      <vt:lpstr>PowerPoint Presentation</vt:lpstr>
      <vt:lpstr>References</vt:lpstr>
      <vt:lpstr>References (cont’d)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Tarvin, David (drtarvin)</dc:creator>
  <cp:lastModifiedBy>Tarvin, David (drtarvin)</cp:lastModifiedBy>
  <cp:revision>4</cp:revision>
  <dcterms:created xsi:type="dcterms:W3CDTF">2025-07-13T16:27:07Z</dcterms:created>
  <dcterms:modified xsi:type="dcterms:W3CDTF">2025-08-08T21:33:49Z</dcterms:modified>
</cp:coreProperties>
</file>