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99"/>
  </p:notesMasterIdLst>
  <p:sldIdLst>
    <p:sldId id="256" r:id="rId3"/>
    <p:sldId id="257" r:id="rId4"/>
    <p:sldId id="258" r:id="rId5"/>
    <p:sldId id="259" r:id="rId6"/>
    <p:sldId id="260" r:id="rId7"/>
    <p:sldId id="261" r:id="rId8"/>
    <p:sldId id="262" r:id="rId9"/>
    <p:sldId id="263" r:id="rId10"/>
    <p:sldId id="352" r:id="rId11"/>
    <p:sldId id="351" r:id="rId12"/>
    <p:sldId id="353" r:id="rId13"/>
    <p:sldId id="350"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345" r:id="rId33"/>
    <p:sldId id="282" r:id="rId34"/>
    <p:sldId id="283" r:id="rId35"/>
    <p:sldId id="284" r:id="rId36"/>
    <p:sldId id="285" r:id="rId37"/>
    <p:sldId id="286" r:id="rId38"/>
    <p:sldId id="287" r:id="rId39"/>
    <p:sldId id="341" r:id="rId40"/>
    <p:sldId id="340" r:id="rId41"/>
    <p:sldId id="288" r:id="rId42"/>
    <p:sldId id="342" r:id="rId43"/>
    <p:sldId id="343" r:id="rId44"/>
    <p:sldId id="344" r:id="rId45"/>
    <p:sldId id="289" r:id="rId46"/>
    <p:sldId id="290" r:id="rId47"/>
    <p:sldId id="346" r:id="rId48"/>
    <p:sldId id="291" r:id="rId49"/>
    <p:sldId id="292" r:id="rId50"/>
    <p:sldId id="293" r:id="rId51"/>
    <p:sldId id="294" r:id="rId52"/>
    <p:sldId id="295" r:id="rId53"/>
    <p:sldId id="296" r:id="rId54"/>
    <p:sldId id="297" r:id="rId55"/>
    <p:sldId id="298" r:id="rId56"/>
    <p:sldId id="354" r:id="rId57"/>
    <p:sldId id="299" r:id="rId58"/>
    <p:sldId id="300" r:id="rId59"/>
    <p:sldId id="301" r:id="rId60"/>
    <p:sldId id="302" r:id="rId61"/>
    <p:sldId id="303" r:id="rId62"/>
    <p:sldId id="304" r:id="rId63"/>
    <p:sldId id="305" r:id="rId64"/>
    <p:sldId id="306" r:id="rId65"/>
    <p:sldId id="307" r:id="rId66"/>
    <p:sldId id="308" r:id="rId67"/>
    <p:sldId id="309" r:id="rId68"/>
    <p:sldId id="310" r:id="rId69"/>
    <p:sldId id="311" r:id="rId70"/>
    <p:sldId id="312" r:id="rId71"/>
    <p:sldId id="313" r:id="rId72"/>
    <p:sldId id="314" r:id="rId73"/>
    <p:sldId id="315" r:id="rId74"/>
    <p:sldId id="316" r:id="rId75"/>
    <p:sldId id="317" r:id="rId76"/>
    <p:sldId id="318" r:id="rId77"/>
    <p:sldId id="319" r:id="rId78"/>
    <p:sldId id="320" r:id="rId79"/>
    <p:sldId id="321" r:id="rId80"/>
    <p:sldId id="322" r:id="rId81"/>
    <p:sldId id="323" r:id="rId82"/>
    <p:sldId id="324" r:id="rId83"/>
    <p:sldId id="325" r:id="rId84"/>
    <p:sldId id="326" r:id="rId85"/>
    <p:sldId id="327" r:id="rId86"/>
    <p:sldId id="328" r:id="rId87"/>
    <p:sldId id="329" r:id="rId88"/>
    <p:sldId id="330" r:id="rId89"/>
    <p:sldId id="331" r:id="rId90"/>
    <p:sldId id="332" r:id="rId91"/>
    <p:sldId id="333" r:id="rId92"/>
    <p:sldId id="334" r:id="rId93"/>
    <p:sldId id="335" r:id="rId94"/>
    <p:sldId id="336" r:id="rId95"/>
    <p:sldId id="337" r:id="rId96"/>
    <p:sldId id="338" r:id="rId97"/>
    <p:sldId id="339" r:id="rId98"/>
  </p:sldIdLst>
  <p:sldSz cx="9144000" cy="5143500" type="screen16x9"/>
  <p:notesSz cx="6858000" cy="9144000"/>
  <p:embeddedFontLst>
    <p:embeddedFont>
      <p:font typeface="Amatic SC" pitchFamily="2" charset="-79"/>
      <p:regular r:id="rId100"/>
      <p:bold r:id="rId101"/>
    </p:embeddedFont>
    <p:embeddedFont>
      <p:font typeface="Fira Code" panose="020B0809050000020004" pitchFamily="49" charset="0"/>
      <p:regular r:id="rId102"/>
      <p:bold r:id="rId103"/>
    </p:embeddedFont>
    <p:embeddedFont>
      <p:font typeface="Montserrat" pitchFamily="2" charset="77"/>
      <p:regular r:id="rId104"/>
      <p:bold r:id="rId105"/>
      <p:italic r:id="rId106"/>
      <p:boldItalic r:id="rId107"/>
    </p:embeddedFont>
    <p:embeddedFont>
      <p:font typeface="Proxima Nova" panose="02000506030000020004" pitchFamily="2" charset="0"/>
      <p:regular r:id="rId108"/>
      <p:bold r:id="rId109"/>
      <p:italic r:id="rId110"/>
      <p:boldItalic r:id="rId111"/>
    </p:embeddedFont>
    <p:embeddedFont>
      <p:font typeface="Proxima Nova Semibold" panose="02000506030000020004" pitchFamily="2" charset="0"/>
      <p:regular r:id="rId112"/>
      <p:bold r:id="rId113"/>
      <p:italic r:id="rId114"/>
      <p:boldItalic r:id="rId115"/>
    </p:embeddedFont>
    <p:embeddedFont>
      <p:font typeface="Roboto Medium" panose="020F0502020204030204" pitchFamily="34" charset="0"/>
      <p:regular r:id="rId116"/>
      <p:bold r:id="rId117"/>
      <p:italic r:id="rId118"/>
      <p:boldItalic r:id="rId11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48" userDrawn="1">
          <p15:clr>
            <a:srgbClr val="747775"/>
          </p15:clr>
        </p15:guide>
        <p15:guide id="3" orient="horz" pos="1152">
          <p15:clr>
            <a:srgbClr val="747775"/>
          </p15:clr>
        </p15:guide>
        <p15:guide id="4" orient="horz" pos="1428" userDrawn="1">
          <p15:clr>
            <a:srgbClr val="747775"/>
          </p15:clr>
        </p15:guide>
        <p15:guide id="5" orient="horz" pos="1650">
          <p15:clr>
            <a:srgbClr val="747775"/>
          </p15:clr>
        </p15:guide>
        <p15:guide id="6" orient="horz" pos="1953">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096"/>
    <p:restoredTop sz="94798"/>
  </p:normalViewPr>
  <p:slideViewPr>
    <p:cSldViewPr snapToGrid="0">
      <p:cViewPr varScale="1">
        <p:scale>
          <a:sx n="146" d="100"/>
          <a:sy n="146" d="100"/>
        </p:scale>
        <p:origin x="736" y="168"/>
      </p:cViewPr>
      <p:guideLst>
        <p:guide orient="horz" pos="648"/>
        <p:guide orient="horz" pos="948"/>
        <p:guide orient="horz" pos="1152"/>
        <p:guide orient="horz" pos="1428"/>
        <p:guide orient="horz" pos="1650"/>
        <p:guide orient="horz" pos="1953"/>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font" Target="fonts/font18.fntdata"/><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font" Target="fonts/font13.fntdata"/><Relationship Id="rId16" Type="http://schemas.openxmlformats.org/officeDocument/2006/relationships/slide" Target="slides/slide14.xml"/><Relationship Id="rId107" Type="http://schemas.openxmlformats.org/officeDocument/2006/relationships/font" Target="fonts/font8.fntdata"/><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font" Target="fonts/font3.fntdata"/><Relationship Id="rId123" Type="http://schemas.openxmlformats.org/officeDocument/2006/relationships/tableStyles" Target="tableStyles.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14.fntdata"/><Relationship Id="rId118" Type="http://schemas.openxmlformats.org/officeDocument/2006/relationships/font" Target="fonts/font19.fntdata"/><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font" Target="fonts/font4.fntdata"/><Relationship Id="rId108" Type="http://schemas.openxmlformats.org/officeDocument/2006/relationships/font" Target="fonts/font9.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15.fntdata"/><Relationship Id="rId119" Type="http://schemas.openxmlformats.org/officeDocument/2006/relationships/font" Target="fonts/font20.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10.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font" Target="fonts/font5.fntdata"/><Relationship Id="rId120"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font" Target="fonts/font11.fntdata"/><Relationship Id="rId115" Type="http://schemas.openxmlformats.org/officeDocument/2006/relationships/font" Target="fonts/font16.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font" Target="fonts/font1.fntdata"/><Relationship Id="rId105" Type="http://schemas.openxmlformats.org/officeDocument/2006/relationships/font" Target="fonts/font6.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viewProps" Target="viewProps.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font" Target="fonts/font12.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notesMaster" Target="notesMasters/notesMaster1.xml"/><Relationship Id="rId101" Type="http://schemas.openxmlformats.org/officeDocument/2006/relationships/font" Target="fonts/font2.fntdata"/><Relationship Id="rId122"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p:cNvGrpSpPr/>
        <p:nvPr/>
      </p:nvGrpSpPr>
      <p:grpSpPr>
        <a:xfrm>
          <a:off x="0" y="0"/>
          <a:ext cx="0" cy="0"/>
          <a:chOff x="0" y="0"/>
          <a:chExt cx="0" cy="0"/>
        </a:xfrm>
      </p:grpSpPr>
      <p:sp>
        <p:nvSpPr>
          <p:cNvPr id="466" name="Google Shape;466;g2cd0604b252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2cd0604b252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cd0604b252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2cd0604b252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p:cNvGrpSpPr/>
        <p:nvPr/>
      </p:nvGrpSpPr>
      <p:grpSpPr>
        <a:xfrm>
          <a:off x="0" y="0"/>
          <a:ext cx="0" cy="0"/>
          <a:chOff x="0" y="0"/>
          <a:chExt cx="0" cy="0"/>
        </a:xfrm>
      </p:grpSpPr>
      <p:sp>
        <p:nvSpPr>
          <p:cNvPr id="485" name="Google Shape;485;g2cd0604b252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2cd0604b252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270932d8950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 name="Google Shape;492;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d03612ac4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d03612ac4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170006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8" Type="http://schemas.openxmlformats.org/officeDocument/2006/relationships/slide" Target="slide78.xml"/><Relationship Id="rId13" Type="http://schemas.openxmlformats.org/officeDocument/2006/relationships/slide" Target="slide83.xml"/><Relationship Id="rId3" Type="http://schemas.openxmlformats.org/officeDocument/2006/relationships/hyperlink" Target="http://bit.ly/2Tynxth" TargetMode="External"/><Relationship Id="rId7" Type="http://schemas.openxmlformats.org/officeDocument/2006/relationships/slide" Target="slide75.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49.xml"/><Relationship Id="rId1" Type="http://schemas.openxmlformats.org/officeDocument/2006/relationships/slideLayout" Target="../slideLayouts/slideLayout3.xml"/><Relationship Id="rId6" Type="http://schemas.openxmlformats.org/officeDocument/2006/relationships/slide" Target="slide77.xml"/><Relationship Id="rId11" Type="http://schemas.openxmlformats.org/officeDocument/2006/relationships/slide" Target="slide82.xml"/><Relationship Id="rId5" Type="http://schemas.openxmlformats.org/officeDocument/2006/relationships/hyperlink" Target="http://bit.ly/33VAFh3" TargetMode="External"/><Relationship Id="rId10" Type="http://schemas.openxmlformats.org/officeDocument/2006/relationships/slide" Target="slide81.xml"/><Relationship Id="rId4" Type="http://schemas.openxmlformats.org/officeDocument/2006/relationships/hyperlink" Target="http://bit.ly/30B07Gq" TargetMode="External"/><Relationship Id="rId9" Type="http://schemas.openxmlformats.org/officeDocument/2006/relationships/slide" Target="slide79.xml"/><Relationship Id="rId14" Type="http://schemas.openxmlformats.org/officeDocument/2006/relationships/slide" Target="slide8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7.xml"/></Relationships>
</file>

<file path=ppt/slides/_rels/slide6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62.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png"/></Relationships>
</file>

<file path=ppt/slides/_rels/slide6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0.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6.xml"/></Relationships>
</file>

<file path=ppt/slides/_rels/slide7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9.xml"/><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1.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72.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78.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73.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7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4.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75.xml"/></Relationships>
</file>

<file path=ppt/slides/_rels/slide8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5.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81.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76.xml"/><Relationship Id="rId1" Type="http://schemas.openxmlformats.org/officeDocument/2006/relationships/slideLayout" Target="../slideLayouts/slideLayout24.xml"/></Relationships>
</file>

<file path=ppt/slides/_rels/slide8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2.gif"/><Relationship Id="rId2" Type="http://schemas.openxmlformats.org/officeDocument/2006/relationships/notesSlide" Target="../notesSlides/notesSlide77.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1.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0.gif"/><Relationship Id="rId4" Type="http://schemas.openxmlformats.org/officeDocument/2006/relationships/image" Target="../media/image8.gif"/><Relationship Id="rId9" Type="http://schemas.openxmlformats.org/officeDocument/2006/relationships/image" Target="../media/image9.gif"/></Relationships>
</file>

<file path=ppt/slides/_rels/slide8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78.xml"/><Relationship Id="rId1" Type="http://schemas.openxmlformats.org/officeDocument/2006/relationships/slideLayout" Target="../slideLayouts/slideLayout24.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4.xml"/></Relationships>
</file>

<file path=ppt/slides/_rels/slide8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84.xml"/><Relationship Id="rId1" Type="http://schemas.openxmlformats.org/officeDocument/2006/relationships/slideLayout" Target="../slideLayouts/slideLayout24.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4.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4.xml"/></Relationships>
</file>

<file path=ppt/slides/_rels/slide9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1.xml"/><Relationship Id="rId1" Type="http://schemas.openxmlformats.org/officeDocument/2006/relationships/slideLayout" Target="../slideLayouts/slideLayout24.xm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459" name="Google Shape;459;p27"/>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460" name="Google Shape;460;p2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61" name="Google Shape;461;p27"/>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Bits, Values and Bindings</a:t>
            </a:r>
            <a:r>
              <a:rPr lang="en">
                <a:solidFill>
                  <a:schemeClr val="accent6"/>
                </a:solidFill>
              </a:rPr>
              <a:t>] </a:t>
            </a:r>
            <a:endParaRPr>
              <a:solidFill>
                <a:schemeClr val="accent6"/>
              </a:solidFill>
            </a:endParaRPr>
          </a:p>
        </p:txBody>
      </p:sp>
      <p:grpSp>
        <p:nvGrpSpPr>
          <p:cNvPr id="462" name="Google Shape;462;p27"/>
          <p:cNvGrpSpPr/>
          <p:nvPr/>
        </p:nvGrpSpPr>
        <p:grpSpPr>
          <a:xfrm>
            <a:off x="1413525" y="1759900"/>
            <a:ext cx="506100" cy="2444350"/>
            <a:chOff x="1413525" y="1759900"/>
            <a:chExt cx="506100" cy="2444350"/>
          </a:xfrm>
        </p:grpSpPr>
        <p:cxnSp>
          <p:nvCxnSpPr>
            <p:cNvPr id="463" name="Google Shape;463;p27"/>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464" name="Google Shape;464;p27"/>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68"/>
        <p:cNvGrpSpPr/>
        <p:nvPr/>
      </p:nvGrpSpPr>
      <p:grpSpPr>
        <a:xfrm>
          <a:off x="0" y="0"/>
          <a:ext cx="0" cy="0"/>
          <a:chOff x="0" y="0"/>
          <a:chExt cx="0" cy="0"/>
        </a:xfrm>
      </p:grpSpPr>
      <p:sp>
        <p:nvSpPr>
          <p:cNvPr id="469" name="Google Shape;469;p28"/>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70" name="Google Shape;470;p28"/>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Bits and Values</a:t>
            </a:r>
            <a:endParaRPr/>
          </a:p>
        </p:txBody>
      </p:sp>
      <p:sp>
        <p:nvSpPr>
          <p:cNvPr id="471" name="Google Shape;471;p28"/>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 value?</a:t>
            </a:r>
            <a:endParaRPr/>
          </a:p>
        </p:txBody>
      </p:sp>
      <p:sp>
        <p:nvSpPr>
          <p:cNvPr id="477" name="Google Shape;477;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400"/>
              <a:t>A </a:t>
            </a:r>
            <a:r>
              <a:rPr lang="en" sz="2400">
                <a:solidFill>
                  <a:schemeClr val="accent6"/>
                </a:solidFill>
              </a:rPr>
              <a:t>value</a:t>
            </a:r>
            <a:r>
              <a:rPr lang="en" sz="2400"/>
              <a:t> is a piece of information (</a:t>
            </a:r>
            <a:r>
              <a:rPr lang="en" sz="2400">
                <a:solidFill>
                  <a:schemeClr val="accent6"/>
                </a:solidFill>
              </a:rPr>
              <a:t>data</a:t>
            </a:r>
            <a:r>
              <a:rPr lang="en" sz="2400"/>
              <a:t>) that can be stored, retrieved, manipulated and used in the execution of a program</a:t>
            </a:r>
            <a:endParaRPr sz="240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Values</a:t>
            </a:r>
            <a:endParaRPr/>
          </a:p>
        </p:txBody>
      </p:sp>
      <p:sp>
        <p:nvSpPr>
          <p:cNvPr id="483" name="Google Shape;483;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Values</a:t>
            </a:r>
            <a:endParaRPr sz="2400"/>
          </a:p>
          <a:p>
            <a:pPr marL="457200" lvl="0" indent="-355600" algn="l" rtl="0">
              <a:spcBef>
                <a:spcPts val="1200"/>
              </a:spcBef>
              <a:spcAft>
                <a:spcPts val="0"/>
              </a:spcAft>
              <a:buSzPts val="2000"/>
              <a:buChar char="-"/>
            </a:pPr>
            <a:r>
              <a:rPr lang="en" sz="2000"/>
              <a:t>Chunks of bits that represent pieces of information</a:t>
            </a:r>
            <a:endParaRPr sz="2000"/>
          </a:p>
          <a:p>
            <a:pPr marL="457200" lvl="0" indent="-355600" algn="l" rtl="0">
              <a:spcBef>
                <a:spcPts val="0"/>
              </a:spcBef>
              <a:spcAft>
                <a:spcPts val="0"/>
              </a:spcAft>
              <a:buSzPts val="2000"/>
              <a:buChar char="-"/>
            </a:pPr>
            <a:r>
              <a:rPr lang="en" sz="2000"/>
              <a:t>Stored in memory locations</a:t>
            </a:r>
            <a:endParaRPr sz="2000"/>
          </a:p>
          <a:p>
            <a:pPr marL="0" lvl="0" indent="0" algn="l" rtl="0">
              <a:spcBef>
                <a:spcPts val="1200"/>
              </a:spcBef>
              <a:spcAft>
                <a:spcPts val="0"/>
              </a:spcAft>
              <a:buNone/>
            </a:pPr>
            <a:r>
              <a:rPr lang="en" sz="2400"/>
              <a:t>Creating a value</a:t>
            </a:r>
            <a:endParaRPr sz="2400"/>
          </a:p>
          <a:p>
            <a:pPr marL="457200" lvl="0" indent="-355600" algn="l" rtl="0">
              <a:spcBef>
                <a:spcPts val="1200"/>
              </a:spcBef>
              <a:spcAft>
                <a:spcPts val="0"/>
              </a:spcAft>
              <a:buSzPts val="2000"/>
              <a:buChar char="-"/>
            </a:pPr>
            <a:r>
              <a:rPr lang="en" sz="2000"/>
              <a:t>Invoke its name</a:t>
            </a:r>
            <a:endParaRPr sz="200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87"/>
        <p:cNvGrpSpPr/>
        <p:nvPr/>
      </p:nvGrpSpPr>
      <p:grpSpPr>
        <a:xfrm>
          <a:off x="0" y="0"/>
          <a:ext cx="0" cy="0"/>
          <a:chOff x="0" y="0"/>
          <a:chExt cx="0" cy="0"/>
        </a:xfrm>
      </p:grpSpPr>
      <p:sp>
        <p:nvSpPr>
          <p:cNvPr id="488" name="Google Shape;488;p3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489" name="Google Shape;489;p3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495" name="Google Shape;495;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496" name="Google Shape;496;p32"/>
          <p:cNvPicPr preferRelativeResize="0"/>
          <p:nvPr/>
        </p:nvPicPr>
        <p:blipFill>
          <a:blip r:embed="rId3">
            <a:alphaModFix/>
          </a:blip>
          <a:stretch>
            <a:fillRect/>
          </a:stretch>
        </p:blipFill>
        <p:spPr>
          <a:xfrm>
            <a:off x="3374075" y="2290150"/>
            <a:ext cx="2828925" cy="16192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Bindings</a:t>
            </a:r>
            <a:endParaRPr/>
          </a:p>
        </p:txBody>
      </p:sp>
      <p:sp>
        <p:nvSpPr>
          <p:cNvPr id="502" name="Google Shape;502;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Association of a name with a value</a:t>
            </a:r>
            <a:endParaRPr sz="2000"/>
          </a:p>
          <a:p>
            <a:pPr marL="457200" lvl="0" indent="-342900" algn="l" rtl="0">
              <a:spcBef>
                <a:spcPts val="1200"/>
              </a:spcBef>
              <a:spcAft>
                <a:spcPts val="0"/>
              </a:spcAft>
              <a:buSzPts val="1800"/>
              <a:buChar char="-"/>
            </a:pPr>
            <a:r>
              <a:rPr lang="en" sz="1800"/>
              <a:t>Also referred to as </a:t>
            </a:r>
            <a:r>
              <a:rPr lang="en" sz="1800">
                <a:solidFill>
                  <a:schemeClr val="accent6"/>
                </a:solidFill>
              </a:rPr>
              <a:t>Named Binding</a:t>
            </a:r>
            <a:endParaRPr sz="1800">
              <a:solidFill>
                <a:schemeClr val="accent6"/>
              </a:solidFill>
            </a:endParaRPr>
          </a:p>
          <a:p>
            <a:pPr marL="457200" lvl="0" indent="-342900" algn="l" rtl="0">
              <a:spcBef>
                <a:spcPts val="1000"/>
              </a:spcBef>
              <a:spcAft>
                <a:spcPts val="0"/>
              </a:spcAft>
              <a:buSzPts val="1800"/>
              <a:buChar char="-"/>
            </a:pPr>
            <a:r>
              <a:rPr lang="en" sz="1800"/>
              <a:t>Purpose </a:t>
            </a:r>
            <a:endParaRPr sz="1800"/>
          </a:p>
          <a:p>
            <a:pPr marL="914400" lvl="1" indent="-330200" algn="l" rtl="0">
              <a:spcBef>
                <a:spcPts val="1000"/>
              </a:spcBef>
              <a:spcAft>
                <a:spcPts val="0"/>
              </a:spcAft>
              <a:buSzPts val="1600"/>
              <a:buChar char="-"/>
            </a:pPr>
            <a:r>
              <a:rPr lang="en" sz="1600"/>
              <a:t>To store values generated by expressions in your code</a:t>
            </a:r>
            <a:endParaRPr sz="1600"/>
          </a:p>
          <a:p>
            <a:pPr marL="914400" lvl="1" indent="-330200" algn="l" rtl="0">
              <a:spcBef>
                <a:spcPts val="1000"/>
              </a:spcBef>
              <a:spcAft>
                <a:spcPts val="0"/>
              </a:spcAft>
              <a:buSzPts val="1600"/>
              <a:buChar char="-"/>
            </a:pPr>
            <a:r>
              <a:rPr lang="en" sz="1600"/>
              <a:t>Allows you to reference those values in your code</a:t>
            </a:r>
            <a:endParaRPr sz="1600"/>
          </a:p>
          <a:p>
            <a:pPr marL="457200" lvl="0" indent="-342900" algn="l" rtl="0">
              <a:spcBef>
                <a:spcPts val="1000"/>
              </a:spcBef>
              <a:spcAft>
                <a:spcPts val="0"/>
              </a:spcAft>
              <a:buSzPts val="1800"/>
              <a:buChar char="-"/>
            </a:pPr>
            <a:r>
              <a:rPr lang="en" sz="1800"/>
              <a:t>Without bindings the program would not be able to remember the work it has already done</a:t>
            </a:r>
            <a:endParaRPr sz="180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508" name="Google Shape;508;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6"/>
                </a:solidFill>
              </a:rPr>
              <a:t>Variable</a:t>
            </a:r>
            <a:r>
              <a:rPr lang="en" sz="2000"/>
              <a:t> - a type of binding that allows you to update the value associated with a particular name as needed</a:t>
            </a:r>
            <a:endParaRPr sz="2000"/>
          </a:p>
          <a:p>
            <a:pPr marL="0" lvl="0" indent="0" algn="l" rtl="0">
              <a:spcBef>
                <a:spcPts val="1200"/>
              </a:spcBef>
              <a:spcAft>
                <a:spcPts val="0"/>
              </a:spcAft>
              <a:buNone/>
            </a:pPr>
            <a:r>
              <a:rPr lang="en" sz="2000">
                <a:solidFill>
                  <a:schemeClr val="accent6"/>
                </a:solidFill>
              </a:rPr>
              <a:t>Constant</a:t>
            </a:r>
            <a:r>
              <a:rPr lang="en" sz="2000"/>
              <a:t> - a type of binding where the value associated with a particular name cannot be changed</a:t>
            </a:r>
            <a:endParaRPr sz="2000"/>
          </a:p>
          <a:p>
            <a:pPr marL="0" lvl="0" indent="0" algn="l" rtl="0">
              <a:spcBef>
                <a:spcPts val="1200"/>
              </a:spcBef>
              <a:spcAft>
                <a:spcPts val="120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1BF4C5-AA97-F432-184B-24EE96443C3C}"/>
              </a:ext>
            </a:extLst>
          </p:cNvPr>
          <p:cNvSpPr>
            <a:spLocks noGrp="1"/>
          </p:cNvSpPr>
          <p:nvPr>
            <p:ph type="title"/>
          </p:nvPr>
        </p:nvSpPr>
        <p:spPr/>
        <p:txBody>
          <a:bodyPr/>
          <a:lstStyle/>
          <a:p>
            <a:r>
              <a:rPr lang="en-US" dirty="0"/>
              <a:t>Declaring and assigning variables</a:t>
            </a:r>
          </a:p>
        </p:txBody>
      </p:sp>
      <p:sp>
        <p:nvSpPr>
          <p:cNvPr id="3" name="Text Placeholder 2">
            <a:extLst>
              <a:ext uri="{FF2B5EF4-FFF2-40B4-BE49-F238E27FC236}">
                <a16:creationId xmlns:a16="http://schemas.microsoft.com/office/drawing/2014/main" id="{73977A68-6E06-4E6B-0301-206EF143CBCB}"/>
              </a:ext>
            </a:extLst>
          </p:cNvPr>
          <p:cNvSpPr>
            <a:spLocks noGrp="1"/>
          </p:cNvSpPr>
          <p:nvPr>
            <p:ph type="body" idx="1"/>
          </p:nvPr>
        </p:nvSpPr>
        <p:spPr/>
        <p:txBody>
          <a:bodyPr/>
          <a:lstStyle/>
          <a:p>
            <a:pPr>
              <a:spcAft>
                <a:spcPts val="600"/>
              </a:spcAft>
            </a:pPr>
            <a:r>
              <a:rPr lang="en-US" sz="2000" dirty="0"/>
              <a:t>Two steps:</a:t>
            </a:r>
          </a:p>
          <a:p>
            <a:pPr lvl="1">
              <a:spcAft>
                <a:spcPts val="600"/>
              </a:spcAft>
            </a:pPr>
            <a:r>
              <a:rPr lang="en-US" sz="1800" dirty="0"/>
              <a:t>let age; // declaring</a:t>
            </a:r>
          </a:p>
          <a:p>
            <a:pPr lvl="1">
              <a:spcAft>
                <a:spcPts val="600"/>
              </a:spcAft>
            </a:pPr>
            <a:r>
              <a:rPr lang="en-US" sz="1800" dirty="0"/>
              <a:t>age = 42; // assigning</a:t>
            </a:r>
          </a:p>
          <a:p>
            <a:pPr>
              <a:spcAft>
                <a:spcPts val="600"/>
              </a:spcAft>
            </a:pPr>
            <a:r>
              <a:rPr lang="en-US" sz="2000" dirty="0"/>
              <a:t>One step:</a:t>
            </a:r>
          </a:p>
          <a:p>
            <a:pPr lvl="1">
              <a:spcAft>
                <a:spcPts val="600"/>
              </a:spcAft>
            </a:pPr>
            <a:r>
              <a:rPr lang="en-US" sz="1800" dirty="0"/>
              <a:t>let age = 42; // declaring and assigning</a:t>
            </a:r>
          </a:p>
        </p:txBody>
      </p:sp>
    </p:spTree>
    <p:extLst>
      <p:ext uri="{BB962C8B-B14F-4D97-AF65-F5344CB8AC3E}">
        <p14:creationId xmlns:p14="http://schemas.microsoft.com/office/powerpoint/2010/main" val="322466802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6D11B9-972F-97A6-CCCF-97F472C75B63}"/>
              </a:ext>
            </a:extLst>
          </p:cNvPr>
          <p:cNvSpPr>
            <a:spLocks noGrp="1"/>
          </p:cNvSpPr>
          <p:nvPr>
            <p:ph type="title"/>
          </p:nvPr>
        </p:nvSpPr>
        <p:spPr/>
        <p:txBody>
          <a:bodyPr/>
          <a:lstStyle/>
          <a:p>
            <a:r>
              <a:rPr lang="en-US" dirty="0"/>
              <a:t>Variable naming</a:t>
            </a:r>
          </a:p>
        </p:txBody>
      </p:sp>
      <p:sp>
        <p:nvSpPr>
          <p:cNvPr id="3" name="Text Placeholder 2">
            <a:extLst>
              <a:ext uri="{FF2B5EF4-FFF2-40B4-BE49-F238E27FC236}">
                <a16:creationId xmlns:a16="http://schemas.microsoft.com/office/drawing/2014/main" id="{76DC3AEC-F858-419D-B7F5-7E5B0C8BBADD}"/>
              </a:ext>
            </a:extLst>
          </p:cNvPr>
          <p:cNvSpPr>
            <a:spLocks noGrp="1"/>
          </p:cNvSpPr>
          <p:nvPr>
            <p:ph type="body" idx="1"/>
          </p:nvPr>
        </p:nvSpPr>
        <p:spPr/>
        <p:txBody>
          <a:bodyPr/>
          <a:lstStyle/>
          <a:p>
            <a:pPr>
              <a:spcAft>
                <a:spcPts val="600"/>
              </a:spcAft>
            </a:pPr>
            <a:r>
              <a:rPr lang="en-US" sz="1800" dirty="0"/>
              <a:t>Cannot contain spaces</a:t>
            </a:r>
          </a:p>
          <a:p>
            <a:pPr>
              <a:spcAft>
                <a:spcPts val="600"/>
              </a:spcAft>
            </a:pPr>
            <a:r>
              <a:rPr lang="en-US" sz="1800" dirty="0"/>
              <a:t>Can use underscores</a:t>
            </a:r>
          </a:p>
          <a:p>
            <a:pPr>
              <a:spcAft>
                <a:spcPts val="600"/>
              </a:spcAft>
            </a:pPr>
            <a:r>
              <a:rPr lang="en-US" sz="1800" dirty="0"/>
              <a:t>Should use camelCase</a:t>
            </a:r>
          </a:p>
          <a:p>
            <a:pPr lvl="1">
              <a:spcAft>
                <a:spcPts val="600"/>
              </a:spcAft>
            </a:pPr>
            <a:r>
              <a:rPr lang="en-US" sz="1600" dirty="0"/>
              <a:t>If variable is one word, first letter is lowercase</a:t>
            </a:r>
          </a:p>
          <a:p>
            <a:pPr lvl="2">
              <a:spcAft>
                <a:spcPts val="600"/>
              </a:spcAft>
            </a:pPr>
            <a:r>
              <a:rPr lang="en-US" dirty="0"/>
              <a:t>let car = ”Audi”;</a:t>
            </a:r>
          </a:p>
          <a:p>
            <a:pPr lvl="1">
              <a:spcAft>
                <a:spcPts val="600"/>
              </a:spcAft>
            </a:pPr>
            <a:r>
              <a:rPr lang="en-US" sz="1600" dirty="0"/>
              <a:t>If variable is two or more words put together, first letter of first word is lower case and first letter of every other word is upper case</a:t>
            </a:r>
          </a:p>
          <a:p>
            <a:pPr lvl="2">
              <a:spcAft>
                <a:spcPts val="600"/>
              </a:spcAft>
            </a:pPr>
            <a:r>
              <a:rPr lang="en-US" dirty="0"/>
              <a:t>let </a:t>
            </a:r>
            <a:r>
              <a:rPr lang="en-US" dirty="0" err="1"/>
              <a:t>numOfStudents</a:t>
            </a:r>
            <a:r>
              <a:rPr lang="en-US" dirty="0"/>
              <a:t> = 23;</a:t>
            </a:r>
          </a:p>
        </p:txBody>
      </p:sp>
    </p:spTree>
    <p:extLst>
      <p:ext uri="{BB962C8B-B14F-4D97-AF65-F5344CB8AC3E}">
        <p14:creationId xmlns:p14="http://schemas.microsoft.com/office/powerpoint/2010/main" val="156881324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4ECF2-12A8-41B2-CF2A-C25A67AA9752}"/>
              </a:ext>
            </a:extLst>
          </p:cNvPr>
          <p:cNvSpPr>
            <a:spLocks noGrp="1"/>
          </p:cNvSpPr>
          <p:nvPr>
            <p:ph type="title"/>
          </p:nvPr>
        </p:nvSpPr>
        <p:spPr/>
        <p:txBody>
          <a:bodyPr/>
          <a:lstStyle/>
          <a:p>
            <a:r>
              <a:rPr lang="en-US" dirty="0"/>
              <a:t>Variable naming (cont’d)</a:t>
            </a:r>
          </a:p>
        </p:txBody>
      </p:sp>
      <p:sp>
        <p:nvSpPr>
          <p:cNvPr id="3" name="Text Placeholder 2">
            <a:extLst>
              <a:ext uri="{FF2B5EF4-FFF2-40B4-BE49-F238E27FC236}">
                <a16:creationId xmlns:a16="http://schemas.microsoft.com/office/drawing/2014/main" id="{2C540B9C-E358-5DDF-5F35-9AD8A5366A15}"/>
              </a:ext>
            </a:extLst>
          </p:cNvPr>
          <p:cNvSpPr>
            <a:spLocks noGrp="1"/>
          </p:cNvSpPr>
          <p:nvPr>
            <p:ph type="body" idx="1"/>
          </p:nvPr>
        </p:nvSpPr>
        <p:spPr/>
        <p:txBody>
          <a:bodyPr/>
          <a:lstStyle/>
          <a:p>
            <a:pPr>
              <a:spcAft>
                <a:spcPts val="600"/>
              </a:spcAft>
            </a:pPr>
            <a:r>
              <a:rPr lang="en-US" sz="1800" dirty="0"/>
              <a:t>Name should be descriptive of what variable represents</a:t>
            </a:r>
          </a:p>
          <a:p>
            <a:pPr lvl="1">
              <a:spcAft>
                <a:spcPts val="600"/>
              </a:spcAft>
            </a:pPr>
            <a:r>
              <a:rPr lang="en-US" sz="1600" dirty="0"/>
              <a:t>Ex: for bank account balance:</a:t>
            </a:r>
            <a:r>
              <a:rPr lang="en-US" dirty="0"/>
              <a:t>	</a:t>
            </a:r>
          </a:p>
          <a:p>
            <a:pPr lvl="2">
              <a:spcAft>
                <a:spcPts val="600"/>
              </a:spcAft>
            </a:pPr>
            <a:r>
              <a:rPr lang="en-US" dirty="0"/>
              <a:t>let x = ”$10.00”; // WRONG</a:t>
            </a:r>
          </a:p>
          <a:p>
            <a:pPr lvl="2">
              <a:spcAft>
                <a:spcPts val="600"/>
              </a:spcAft>
            </a:pPr>
            <a:r>
              <a:rPr lang="en-US" dirty="0"/>
              <a:t>let </a:t>
            </a:r>
            <a:r>
              <a:rPr lang="en-US" dirty="0" err="1"/>
              <a:t>accountBalance</a:t>
            </a:r>
            <a:r>
              <a:rPr lang="en-US" dirty="0"/>
              <a:t> = “$10.00”; // RIGHT</a:t>
            </a:r>
          </a:p>
          <a:p>
            <a:pPr lvl="1">
              <a:spcAft>
                <a:spcPts val="600"/>
              </a:spcAft>
            </a:pPr>
            <a:r>
              <a:rPr lang="en-US" sz="1600" dirty="0"/>
              <a:t>Exception: temporary variables that serve a utility purpose such as incrementing a loop</a:t>
            </a:r>
          </a:p>
          <a:p>
            <a:endParaRPr lang="en-US" dirty="0"/>
          </a:p>
        </p:txBody>
      </p:sp>
    </p:spTree>
    <p:extLst>
      <p:ext uri="{BB962C8B-B14F-4D97-AF65-F5344CB8AC3E}">
        <p14:creationId xmlns:p14="http://schemas.microsoft.com/office/powerpoint/2010/main" val="103301359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0F96F-A12D-5A37-B30C-C6A39A3F54F2}"/>
              </a:ext>
            </a:extLst>
          </p:cNvPr>
          <p:cNvSpPr>
            <a:spLocks noGrp="1"/>
          </p:cNvSpPr>
          <p:nvPr>
            <p:ph type="title"/>
          </p:nvPr>
        </p:nvSpPr>
        <p:spPr/>
        <p:txBody>
          <a:bodyPr/>
          <a:lstStyle/>
          <a:p>
            <a:r>
              <a:rPr lang="en-US" dirty="0"/>
              <a:t>Reserved words (variable naming)</a:t>
            </a:r>
          </a:p>
        </p:txBody>
      </p:sp>
      <p:sp>
        <p:nvSpPr>
          <p:cNvPr id="3" name="Text Placeholder 2">
            <a:extLst>
              <a:ext uri="{FF2B5EF4-FFF2-40B4-BE49-F238E27FC236}">
                <a16:creationId xmlns:a16="http://schemas.microsoft.com/office/drawing/2014/main" id="{D819AB7B-1AAD-B36C-CA07-A192EEB94266}"/>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A9AC8681-C0E3-DE84-E5D3-F8D474A3D668}"/>
              </a:ext>
            </a:extLst>
          </p:cNvPr>
          <p:cNvPicPr>
            <a:picLocks noChangeAspect="1"/>
          </p:cNvPicPr>
          <p:nvPr/>
        </p:nvPicPr>
        <p:blipFill>
          <a:blip r:embed="rId2"/>
          <a:stretch>
            <a:fillRect/>
          </a:stretch>
        </p:blipFill>
        <p:spPr>
          <a:xfrm>
            <a:off x="1415550" y="1063175"/>
            <a:ext cx="7018300" cy="3585620"/>
          </a:xfrm>
          <a:prstGeom prst="rect">
            <a:avLst/>
          </a:prstGeom>
        </p:spPr>
      </p:pic>
    </p:spTree>
    <p:extLst>
      <p:ext uri="{BB962C8B-B14F-4D97-AF65-F5344CB8AC3E}">
        <p14:creationId xmlns:p14="http://schemas.microsoft.com/office/powerpoint/2010/main" val="290656292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Stores sequences of characters enclosed in single quotes (</a:t>
            </a:r>
            <a:r>
              <a:rPr lang="en" sz="2000">
                <a:solidFill>
                  <a:srgbClr val="F2F2F2"/>
                </a:solidFill>
              </a:rPr>
              <a:t>‘</a:t>
            </a:r>
            <a:r>
              <a:rPr lang="en" sz="2000"/>
              <a:t>), double quotes (</a:t>
            </a:r>
            <a:r>
              <a:rPr lang="en" sz="2000">
                <a:solidFill>
                  <a:srgbClr val="F2F2F2"/>
                </a:solidFill>
              </a:rPr>
              <a:t>“</a:t>
            </a:r>
            <a:r>
              <a:rPr lang="en" sz="2000"/>
              <a:t>) or backticks (</a:t>
            </a:r>
            <a:r>
              <a:rPr lang="en" sz="2000">
                <a:solidFill>
                  <a:srgbClr val="F2F2F2"/>
                </a:solidFill>
              </a:rPr>
              <a:t>`</a:t>
            </a:r>
            <a:r>
              <a:rPr lang="en" sz="2000"/>
              <a:t>)</a:t>
            </a:r>
            <a:endParaRPr sz="2000"/>
          </a:p>
          <a:p>
            <a:pPr marL="457200" lvl="0" indent="-342900" algn="l" rtl="0">
              <a:spcBef>
                <a:spcPts val="1200"/>
              </a:spcBef>
              <a:spcAft>
                <a:spcPts val="0"/>
              </a:spcAft>
              <a:buSzPts val="1800"/>
              <a:buChar char="-"/>
            </a:pPr>
            <a:r>
              <a:rPr lang="en" sz="1800"/>
              <a:t>Problem with using single quotes - you can’t then use single quotes as an apostrophe without ‘escaping’ it</a:t>
            </a:r>
            <a:endParaRPr sz="1800"/>
          </a:p>
          <a:p>
            <a:pPr marL="914400" lvl="1" indent="-330200" algn="l" rtl="0">
              <a:spcBef>
                <a:spcPts val="1000"/>
              </a:spcBef>
              <a:spcAft>
                <a:spcPts val="0"/>
              </a:spcAft>
              <a:buSzPts val="1600"/>
              <a:buChar char="-"/>
            </a:pPr>
            <a:r>
              <a:rPr lang="en" sz="1600"/>
              <a:t>Will end string prematurely and cause error</a:t>
            </a:r>
            <a:endParaRPr sz="160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Escaping a character is done using a backslash (</a:t>
            </a:r>
            <a:r>
              <a:rPr lang="en" sz="1700">
                <a:solidFill>
                  <a:srgbClr val="F2F2F2"/>
                </a:solidFill>
              </a:rPr>
              <a:t>\</a:t>
            </a:r>
            <a:r>
              <a:rPr lang="en" sz="1700"/>
              <a:t>)</a:t>
            </a:r>
            <a:endParaRPr sz="1700"/>
          </a:p>
          <a:p>
            <a:pPr marL="457200" lvl="0" indent="-336550" algn="l" rtl="0">
              <a:spcBef>
                <a:spcPts val="0"/>
              </a:spcBef>
              <a:spcAft>
                <a:spcPts val="0"/>
              </a:spcAft>
              <a:buSzPts val="1700"/>
              <a:buChar char="-"/>
            </a:pPr>
            <a:r>
              <a:rPr lang="en" sz="1700"/>
              <a:t>Used with special characters in a string so they are taken as the literal character rather than as a special character</a:t>
            </a:r>
            <a:endParaRPr sz="1700"/>
          </a:p>
          <a:p>
            <a:pPr marL="457200" lvl="0" indent="-336550" algn="l" rtl="0">
              <a:spcBef>
                <a:spcPts val="0"/>
              </a:spcBef>
              <a:spcAft>
                <a:spcPts val="0"/>
              </a:spcAft>
              <a:buSzPts val="1700"/>
              <a:buChar char="-"/>
            </a:pPr>
            <a:r>
              <a:rPr lang="en" sz="1700"/>
              <a:t>Backslash also used with certain characters to do specific things with strings</a:t>
            </a:r>
            <a:endParaRPr sz="170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Use plus sign (+) to put two or more strings together, along with variable or numbers to go with the strings</a:t>
            </a:r>
            <a:endParaRPr sz="1700"/>
          </a:p>
          <a:p>
            <a:pPr marL="457200" lvl="0" indent="-336550" algn="l" rtl="0">
              <a:spcBef>
                <a:spcPts val="1000"/>
              </a:spcBef>
              <a:spcAft>
                <a:spcPts val="0"/>
              </a:spcAft>
              <a:buSzPts val="1700"/>
              <a:buChar char="-"/>
            </a:pPr>
            <a:r>
              <a:rPr lang="en" sz="1700"/>
              <a:t>Hint - don’t forget spaces</a:t>
            </a:r>
            <a:endParaRPr sz="1700"/>
          </a:p>
          <a:p>
            <a:pPr marL="914400" lvl="0" indent="-317500" algn="l" rtl="0">
              <a:spcBef>
                <a:spcPts val="1000"/>
              </a:spcBef>
              <a:spcAft>
                <a:spcPts val="1000"/>
              </a:spcAft>
              <a:buSzPts val="1400"/>
              <a:buChar char="-"/>
            </a:pPr>
            <a:r>
              <a:rPr lang="en" sz="1400"/>
              <a:t>// Concatenation</a:t>
            </a:r>
            <a:br>
              <a:rPr lang="en" sz="1400"/>
            </a:br>
            <a:r>
              <a:rPr lang="en" sz="1400"/>
              <a:t>let numOfStudents = 23;</a:t>
            </a:r>
            <a:br>
              <a:rPr lang="en" sz="1400"/>
            </a:br>
            <a:r>
              <a:rPr lang="en" sz="1400"/>
              <a:t>console.log(“There are “ + numOfStudents + “ students in my class.”);</a:t>
            </a:r>
            <a:br>
              <a:rPr lang="en" sz="1400"/>
            </a:br>
            <a:r>
              <a:rPr lang="en" sz="1400"/>
              <a:t>// There are 23 students in my class.</a:t>
            </a:r>
            <a:endParaRPr sz="170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Done using backticks (</a:t>
            </a:r>
            <a:r>
              <a:rPr lang="en" sz="1700" dirty="0">
                <a:solidFill>
                  <a:srgbClr val="F2F2F2"/>
                </a:solidFill>
              </a:rPr>
              <a:t>`</a:t>
            </a:r>
            <a:r>
              <a:rPr lang="en" sz="1700" dirty="0"/>
              <a:t>)</a:t>
            </a:r>
            <a:endParaRPr sz="1700" dirty="0"/>
          </a:p>
          <a:p>
            <a:pPr marL="457200" lvl="0" indent="-336550" algn="l" rtl="0">
              <a:spcBef>
                <a:spcPts val="0"/>
              </a:spcBef>
              <a:spcAft>
                <a:spcPts val="0"/>
              </a:spcAft>
              <a:buSzPts val="1700"/>
              <a:buChar char="-"/>
            </a:pPr>
            <a:r>
              <a:rPr lang="en" sz="1700" dirty="0"/>
              <a:t>Allow you to put whole string together, including variables, instead of breaking string up and concatenating</a:t>
            </a:r>
            <a:endParaRPr sz="1700" dirty="0"/>
          </a:p>
          <a:p>
            <a:pPr marL="457200" lvl="0" indent="-336550" algn="l" rtl="0">
              <a:spcBef>
                <a:spcPts val="0"/>
              </a:spcBef>
              <a:spcAft>
                <a:spcPts val="0"/>
              </a:spcAft>
              <a:buSzPts val="1700"/>
              <a:buChar char="-"/>
            </a:pPr>
            <a:r>
              <a:rPr lang="en" sz="1700" dirty="0"/>
              <a:t>Variables are included by putting variable in curly braces </a:t>
            </a:r>
            <a:r>
              <a:rPr lang="en" sz="1700" dirty="0">
                <a:solidFill>
                  <a:srgbClr val="F2F2F2"/>
                </a:solidFill>
              </a:rPr>
              <a:t>{}</a:t>
            </a:r>
            <a:r>
              <a:rPr lang="en" sz="1700" dirty="0"/>
              <a:t> and prefixing the braces with a dollar sign (</a:t>
            </a:r>
            <a:r>
              <a:rPr lang="en" sz="1700" dirty="0">
                <a:solidFill>
                  <a:srgbClr val="F2F2F2"/>
                </a:solidFill>
              </a:rPr>
              <a:t>$</a:t>
            </a:r>
            <a:r>
              <a:rPr lang="en" sz="1700" dirty="0"/>
              <a:t>)</a:t>
            </a:r>
            <a:endParaRPr sz="1700" dirty="0"/>
          </a:p>
          <a:p>
            <a:pPr marL="914400" lvl="1" indent="-317500" algn="l" rtl="0">
              <a:spcBef>
                <a:spcPts val="0"/>
              </a:spcBef>
              <a:spcAft>
                <a:spcPts val="0"/>
              </a:spcAft>
              <a:buSzPts val="1400"/>
              <a:buChar char="-"/>
            </a:pPr>
            <a:r>
              <a:rPr lang="en" dirty="0"/>
              <a:t>// Template literal</a:t>
            </a:r>
            <a:br>
              <a:rPr lang="en" dirty="0"/>
            </a:br>
            <a:r>
              <a:rPr lang="en" dirty="0"/>
              <a:t>console.log(`There are </a:t>
            </a:r>
            <a:r>
              <a:rPr lang="en" dirty="0">
                <a:solidFill>
                  <a:schemeClr val="accent6"/>
                </a:solidFill>
              </a:rPr>
              <a:t>${</a:t>
            </a:r>
            <a:r>
              <a:rPr lang="en" dirty="0" err="1"/>
              <a:t>numOfStudents</a:t>
            </a:r>
            <a:r>
              <a:rPr lang="en" dirty="0">
                <a:solidFill>
                  <a:schemeClr val="accent6"/>
                </a:solidFill>
              </a:rPr>
              <a:t>}</a:t>
            </a:r>
            <a:r>
              <a:rPr lang="en" dirty="0"/>
              <a:t> students in my class.`);</a:t>
            </a:r>
            <a:br>
              <a:rPr lang="en" dirty="0"/>
            </a:br>
            <a:r>
              <a:rPr lang="en" dirty="0"/>
              <a:t>// There are 23 students in my class.</a:t>
            </a:r>
            <a:endParaRPr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Handles any numerical value</a:t>
            </a:r>
            <a:endParaRPr sz="2000"/>
          </a:p>
          <a:p>
            <a:pPr marL="457200" lvl="0" indent="-342900" algn="l" rtl="0">
              <a:spcBef>
                <a:spcPts val="1200"/>
              </a:spcBef>
              <a:spcAft>
                <a:spcPts val="0"/>
              </a:spcAft>
              <a:buSzPts val="1800"/>
              <a:buChar char="-"/>
            </a:pPr>
            <a:r>
              <a:rPr lang="en" sz="1800"/>
              <a:t>Doesn’t differentiate between integers and floats (other languages do)</a:t>
            </a:r>
            <a:endParaRPr sz="1800"/>
          </a:p>
          <a:p>
            <a:pPr marL="457200" lvl="0" indent="-342900" algn="l" rtl="0">
              <a:spcBef>
                <a:spcPts val="1000"/>
              </a:spcBef>
              <a:spcAft>
                <a:spcPts val="0"/>
              </a:spcAft>
              <a:buSzPts val="1800"/>
              <a:buChar char="-"/>
            </a:pPr>
            <a:r>
              <a:rPr lang="en" sz="1800"/>
              <a:t>Integers - numbers without decimals (15, -12, 0)</a:t>
            </a:r>
            <a:endParaRPr sz="1800"/>
          </a:p>
          <a:p>
            <a:pPr marL="457200" lvl="0" indent="-342900" algn="l" rtl="0">
              <a:spcBef>
                <a:spcPts val="1000"/>
              </a:spcBef>
              <a:spcAft>
                <a:spcPts val="0"/>
              </a:spcAft>
              <a:buSzPts val="1800"/>
              <a:buChar char="-"/>
            </a:pPr>
            <a:r>
              <a:rPr lang="en" sz="1800"/>
              <a:t>Floats - numbers with decimals (42.05, -26.00007)</a:t>
            </a:r>
            <a:endParaRPr sz="1800"/>
          </a:p>
          <a:p>
            <a:pPr marL="0" lvl="0" indent="0" algn="l" rtl="0">
              <a:spcBef>
                <a:spcPts val="1200"/>
              </a:spcBef>
              <a:spcAft>
                <a:spcPts val="120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number in JavaScript:</a:t>
            </a:r>
            <a:endParaRPr sz="1800" dirty="0"/>
          </a:p>
          <a:p>
            <a:pPr marL="0" lvl="0" indent="457200" algn="l" rtl="0">
              <a:spcBef>
                <a:spcPts val="1000"/>
              </a:spcBef>
              <a:spcAft>
                <a:spcPts val="0"/>
              </a:spcAft>
              <a:buNone/>
            </a:pPr>
            <a:r>
              <a:rPr lang="en" sz="1800" dirty="0">
                <a:solidFill>
                  <a:srgbClr val="F2F2F2"/>
                </a:solidFill>
              </a:rPr>
              <a:t>1.797693134862315e+308</a:t>
            </a:r>
            <a:endParaRPr sz="1800" dirty="0">
              <a:solidFill>
                <a:srgbClr val="F2F2F2"/>
              </a:solidFill>
            </a:endParaRPr>
          </a:p>
          <a:p>
            <a:pPr marL="457200" lvl="0" indent="-342900" algn="l" rtl="0">
              <a:spcBef>
                <a:spcPts val="1000"/>
              </a:spcBef>
              <a:spcAft>
                <a:spcPts val="0"/>
              </a:spcAft>
              <a:buSzPts val="1800"/>
              <a:buChar char="-"/>
            </a:pPr>
            <a:r>
              <a:rPr lang="en" sz="1800" dirty="0"/>
              <a:t>Any number higher than that is referred to as </a:t>
            </a:r>
            <a:r>
              <a:rPr lang="en" sz="1800" dirty="0">
                <a:solidFill>
                  <a:srgbClr val="F2F2F2"/>
                </a:solidFill>
              </a:rPr>
              <a:t>Infinity</a:t>
            </a:r>
            <a:endParaRPr sz="1800" dirty="0">
              <a:solidFill>
                <a:srgbClr val="F2F2F2"/>
              </a:solidFill>
            </a:endParaRPr>
          </a:p>
          <a:p>
            <a:pPr marL="0" lvl="0" indent="0" algn="l" rtl="0">
              <a:spcBef>
                <a:spcPts val="1000"/>
              </a:spcBef>
              <a:spcAft>
                <a:spcPts val="0"/>
              </a:spcAft>
              <a:buNone/>
            </a:pPr>
            <a:r>
              <a:rPr lang="en" sz="1800" dirty="0"/>
              <a:t>Lowest number in JavaScript:</a:t>
            </a:r>
            <a:endParaRPr sz="1800" dirty="0"/>
          </a:p>
          <a:p>
            <a:pPr marL="0" lvl="0" indent="457200" algn="l" rtl="0">
              <a:spcBef>
                <a:spcPts val="1000"/>
              </a:spcBef>
              <a:spcAft>
                <a:spcPts val="0"/>
              </a:spcAft>
              <a:buNone/>
            </a:pPr>
            <a:r>
              <a:rPr lang="en" sz="1800" dirty="0">
                <a:solidFill>
                  <a:srgbClr val="F2F2F2"/>
                </a:solidFill>
              </a:rPr>
              <a:t>1.797693134862316e+308</a:t>
            </a:r>
            <a:endParaRPr sz="1800" dirty="0">
              <a:solidFill>
                <a:srgbClr val="F2F2F2"/>
              </a:solidFill>
            </a:endParaRPr>
          </a:p>
          <a:p>
            <a:pPr marL="457200" lvl="0" indent="-342900" algn="l" rtl="0">
              <a:spcBef>
                <a:spcPts val="1000"/>
              </a:spcBef>
              <a:spcAft>
                <a:spcPts val="0"/>
              </a:spcAft>
              <a:buSzPts val="1800"/>
              <a:buChar char="-"/>
            </a:pPr>
            <a:r>
              <a:rPr lang="en" sz="1800" dirty="0"/>
              <a:t>Any number lower than that is referred to as </a:t>
            </a:r>
            <a:r>
              <a:rPr lang="en" sz="1800" dirty="0">
                <a:solidFill>
                  <a:srgbClr val="F2F2F2"/>
                </a:solidFill>
              </a:rPr>
              <a:t>-Infinity</a:t>
            </a:r>
            <a:endParaRPr sz="1800" dirty="0">
              <a:solidFill>
                <a:srgbClr val="F2F2F2"/>
              </a:solidFill>
            </a:endParaRPr>
          </a:p>
          <a:p>
            <a:pPr marL="0" lvl="0" indent="0" algn="l" rtl="0">
              <a:spcBef>
                <a:spcPts val="1200"/>
              </a:spcBef>
              <a:spcAft>
                <a:spcPts val="1200"/>
              </a:spcAft>
              <a:buNone/>
            </a:pPr>
            <a:endParaRPr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1200"/>
              </a:spcAft>
              <a:buNone/>
            </a:pPr>
            <a:r>
              <a:rPr lang="en-US" sz="1800" dirty="0" err="1"/>
              <a:t>NaN</a:t>
            </a:r>
            <a:r>
              <a:rPr lang="en-US" sz="1800" dirty="0"/>
              <a:t> – stands for “Not a Number”</a:t>
            </a:r>
          </a:p>
          <a:p>
            <a:pPr marL="342900" lvl="0" indent="-342900" algn="l" rtl="0">
              <a:spcBef>
                <a:spcPts val="1200"/>
              </a:spcBef>
              <a:spcAft>
                <a:spcPts val="1200"/>
              </a:spcAft>
              <a:buFontTx/>
              <a:buChar char="-"/>
            </a:pPr>
            <a:r>
              <a:rPr lang="en-US" sz="1600" dirty="0"/>
              <a:t>However, </a:t>
            </a:r>
            <a:r>
              <a:rPr lang="en-US" sz="1600" dirty="0" err="1"/>
              <a:t>typeof</a:t>
            </a:r>
            <a:r>
              <a:rPr lang="en-US" sz="1600" dirty="0"/>
              <a:t> </a:t>
            </a:r>
            <a:r>
              <a:rPr lang="en-US" sz="1600" dirty="0" err="1"/>
              <a:t>NaN</a:t>
            </a:r>
            <a:r>
              <a:rPr lang="en-US" sz="1600" dirty="0"/>
              <a:t> == ‘number’</a:t>
            </a:r>
          </a:p>
          <a:p>
            <a:pPr marL="800100" lvl="1" indent="-342900">
              <a:spcBef>
                <a:spcPts val="1200"/>
              </a:spcBef>
              <a:spcAft>
                <a:spcPts val="1200"/>
              </a:spcAft>
              <a:buFontTx/>
              <a:buChar char="-"/>
            </a:pPr>
            <a:r>
              <a:rPr lang="en-US" dirty="0"/>
              <a:t>It is a numeric type whose specific value cannot be represented within the limitations of the numeric type (WHAT????)</a:t>
            </a:r>
          </a:p>
          <a:p>
            <a:pPr marL="342900" indent="-342900">
              <a:spcBef>
                <a:spcPts val="1200"/>
              </a:spcBef>
              <a:spcAft>
                <a:spcPts val="1200"/>
              </a:spcAft>
              <a:buFontTx/>
              <a:buChar char="-"/>
            </a:pPr>
            <a:r>
              <a:rPr lang="en-US" sz="1600" dirty="0" err="1"/>
              <a:t>NaN</a:t>
            </a:r>
            <a:r>
              <a:rPr lang="en-US" sz="1600" dirty="0"/>
              <a:t> does not equal another </a:t>
            </a:r>
            <a:r>
              <a:rPr lang="en-US" sz="1600" dirty="0" err="1"/>
              <a:t>NaN</a:t>
            </a:r>
            <a:r>
              <a:rPr lang="en-US" sz="1600" dirty="0"/>
              <a:t> and does not even equal itself</a:t>
            </a:r>
          </a:p>
          <a:p>
            <a:pPr marL="800100" lvl="1" indent="-342900">
              <a:spcBef>
                <a:spcPts val="1200"/>
              </a:spcBef>
              <a:spcAft>
                <a:spcPts val="1200"/>
              </a:spcAft>
              <a:buFontTx/>
              <a:buChar char="-"/>
            </a:pPr>
            <a:r>
              <a:rPr lang="en-US" dirty="0"/>
              <a:t>var x = </a:t>
            </a:r>
            <a:r>
              <a:rPr lang="en-US" dirty="0" err="1"/>
              <a:t>NaN</a:t>
            </a:r>
            <a:r>
              <a:rPr lang="en-US" dirty="0"/>
              <a:t>;</a:t>
            </a:r>
            <a:br>
              <a:rPr lang="en-US" dirty="0"/>
            </a:br>
            <a:r>
              <a:rPr lang="en-US" dirty="0"/>
              <a:t>console.log(x == x); // false</a:t>
            </a:r>
            <a:endParaRPr dirty="0"/>
          </a:p>
        </p:txBody>
      </p:sp>
    </p:spTree>
    <p:extLst>
      <p:ext uri="{BB962C8B-B14F-4D97-AF65-F5344CB8AC3E}">
        <p14:creationId xmlns:p14="http://schemas.microsoft.com/office/powerpoint/2010/main" val="128456564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a:t>Adding two numbers results in a number</a:t>
            </a:r>
            <a:endParaRPr sz="2000"/>
          </a:p>
          <a:p>
            <a:pPr marL="914400" lvl="1" indent="-330200" algn="l" rtl="0">
              <a:spcBef>
                <a:spcPts val="1000"/>
              </a:spcBef>
              <a:spcAft>
                <a:spcPts val="0"/>
              </a:spcAft>
              <a:buSzPts val="1600"/>
              <a:buChar char="-"/>
            </a:pPr>
            <a:r>
              <a:rPr lang="en" sz="1600"/>
              <a:t>console.log(10 + 20); // 30</a:t>
            </a:r>
            <a:endParaRPr sz="1600"/>
          </a:p>
          <a:p>
            <a:pPr marL="457200" lvl="0" indent="-355600" algn="l" rtl="0">
              <a:spcBef>
                <a:spcPts val="1000"/>
              </a:spcBef>
              <a:spcAft>
                <a:spcPts val="0"/>
              </a:spcAft>
              <a:buSzPts val="2000"/>
              <a:buChar char="-"/>
            </a:pPr>
            <a:r>
              <a:rPr lang="en" sz="2000"/>
              <a:t>Adding two strings results in concatenation</a:t>
            </a:r>
            <a:endParaRPr sz="2000"/>
          </a:p>
          <a:p>
            <a:pPr marL="914400" lvl="1" indent="-342900" algn="l" rtl="0">
              <a:spcBef>
                <a:spcPts val="1000"/>
              </a:spcBef>
              <a:spcAft>
                <a:spcPts val="0"/>
              </a:spcAft>
              <a:buSzPts val="1800"/>
              <a:buChar char="-"/>
            </a:pPr>
            <a:r>
              <a:rPr lang="en" sz="1800"/>
              <a:t>A number surrounded by quotes is a numeric string</a:t>
            </a:r>
            <a:endParaRPr sz="1800"/>
          </a:p>
          <a:p>
            <a:pPr marL="914400" lvl="1" indent="-330200" algn="l" rtl="0">
              <a:spcBef>
                <a:spcPts val="1000"/>
              </a:spcBef>
              <a:spcAft>
                <a:spcPts val="0"/>
              </a:spcAft>
              <a:buSzPts val="1600"/>
              <a:buChar char="-"/>
            </a:pPr>
            <a:r>
              <a:rPr lang="en" sz="1600"/>
              <a:t>console.log(“10” + “20”); // 1020</a:t>
            </a:r>
            <a:endParaRPr sz="160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Adding a number and a numeric string results in concatenation</a:t>
            </a:r>
            <a:endParaRPr sz="2400"/>
          </a:p>
          <a:p>
            <a:pPr marL="0" lvl="0" indent="0" algn="l" rtl="0">
              <a:spcBef>
                <a:spcPts val="1000"/>
              </a:spcBef>
              <a:spcAft>
                <a:spcPts val="0"/>
              </a:spcAft>
              <a:buNone/>
            </a:pPr>
            <a:endParaRPr sz="2400"/>
          </a:p>
          <a:p>
            <a:pPr marL="914400" lvl="1" indent="-355600" algn="l" rtl="0">
              <a:spcBef>
                <a:spcPts val="1000"/>
              </a:spcBef>
              <a:spcAft>
                <a:spcPts val="0"/>
              </a:spcAft>
              <a:buSzPts val="2000"/>
              <a:buChar char="-"/>
            </a:pPr>
            <a:r>
              <a:rPr lang="en" sz="2000"/>
              <a:t>console.log(10 + “20”); // 1020</a:t>
            </a:r>
            <a:endParaRPr sz="2000"/>
          </a:p>
          <a:p>
            <a:pPr marL="914400" lvl="1" indent="-355600" algn="l" rtl="0">
              <a:spcBef>
                <a:spcPts val="0"/>
              </a:spcBef>
              <a:spcAft>
                <a:spcPts val="0"/>
              </a:spcAft>
              <a:buSzPts val="2000"/>
              <a:buChar char="-"/>
            </a:pPr>
            <a:r>
              <a:rPr lang="en" sz="2000"/>
              <a:t>console.log(“10” + 20); // 1020</a:t>
            </a:r>
            <a:endParaRPr sz="200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t>const bigIntOne = 135n;</a:t>
            </a:r>
            <a:endParaRPr sz="1600" dirty="0"/>
          </a:p>
          <a:p>
            <a:pPr marL="457200" lvl="0" indent="-342900" algn="l" rtl="0">
              <a:spcBef>
                <a:spcPts val="1000"/>
              </a:spcBef>
              <a:spcAft>
                <a:spcPts val="0"/>
              </a:spcAft>
              <a:buSzPts val="1800"/>
              <a:buChar char="-"/>
            </a:pPr>
            <a:r>
              <a:rPr lang="en" sz="1800" dirty="0"/>
              <a:t>Call BigInt() on a whole numerical value or a string with only an integer value</a:t>
            </a:r>
            <a:endParaRPr sz="1800" dirty="0"/>
          </a:p>
          <a:p>
            <a:pPr marL="914400" lvl="1" indent="-330200" algn="l" rtl="0">
              <a:spcBef>
                <a:spcPts val="1000"/>
              </a:spcBef>
              <a:spcAft>
                <a:spcPts val="0"/>
              </a:spcAft>
              <a:buSzPts val="1600"/>
              <a:buChar char="-"/>
            </a:pPr>
            <a:r>
              <a:rPr lang="en" sz="1600" dirty="0"/>
              <a:t>const bigIntTwo = BigInt(964);</a:t>
            </a:r>
            <a:endParaRPr sz="1600" dirty="0"/>
          </a:p>
          <a:p>
            <a:pPr marL="1371600" lvl="2" indent="-330200" algn="l" rtl="0">
              <a:spcBef>
                <a:spcPts val="0"/>
              </a:spcBef>
              <a:spcAft>
                <a:spcPts val="0"/>
              </a:spcAft>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t>const bigIntThree = BigInt(“857”);</a:t>
            </a:r>
            <a:endParaRPr sz="1600" dirty="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Type coercion involves the conversion of values from one data type to another</a:t>
            </a:r>
          </a:p>
          <a:p>
            <a:pPr marL="342900" lvl="0" indent="-342900" algn="l" rtl="0">
              <a:spcBef>
                <a:spcPts val="0"/>
              </a:spcBef>
              <a:spcAft>
                <a:spcPts val="0"/>
              </a:spcAft>
              <a:buFontTx/>
              <a:buChar char="-"/>
            </a:pPr>
            <a:r>
              <a:rPr lang="en-US" sz="1800" dirty="0"/>
              <a:t>Typically performed during operations or comparisons of different data types</a:t>
            </a:r>
          </a:p>
          <a:p>
            <a:pPr marL="342900" lvl="0" indent="-342900" algn="l" rtl="0">
              <a:spcBef>
                <a:spcPts val="0"/>
              </a:spcBef>
              <a:spcAft>
                <a:spcPts val="0"/>
              </a:spcAft>
              <a:buFontTx/>
              <a:buChar char="-"/>
            </a:pPr>
            <a:r>
              <a:rPr lang="en-US" sz="1800" dirty="0"/>
              <a:t>Done when necessary to complete the operation or comparison</a:t>
            </a:r>
          </a:p>
          <a:p>
            <a:pPr marL="800100" lvl="1" indent="-342900">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Differences from numbers</a:t>
            </a:r>
          </a:p>
          <a:p>
            <a:pPr marL="342900" lvl="0" indent="-342900" algn="l" rtl="0">
              <a:spcBef>
                <a:spcPts val="0"/>
              </a:spcBef>
              <a:spcAft>
                <a:spcPts val="0"/>
              </a:spcAft>
              <a:buFontTx/>
              <a:buChar char="-"/>
            </a:pPr>
            <a:r>
              <a:rPr lang="en-US" sz="1800" dirty="0"/>
              <a:t>Cannot be used with methods from the Math object</a:t>
            </a:r>
          </a:p>
          <a:p>
            <a:pPr marL="285750" lvl="0" indent="-285750" algn="l" rtl="0">
              <a:spcBef>
                <a:spcPts val="0"/>
              </a:spcBef>
              <a:spcAft>
                <a:spcPts val="0"/>
              </a:spcAft>
              <a:buFontTx/>
              <a:buChar char="-"/>
            </a:pPr>
            <a:r>
              <a:rPr lang="en-US" sz="1800" dirty="0"/>
              <a:t>Cannot be mixed with a number value in operations (addition, subtraction, etc.)</a:t>
            </a:r>
          </a:p>
          <a:p>
            <a:pPr marL="742950" lvl="1" indent="-285750">
              <a:buFontTx/>
              <a:buChar char="-"/>
            </a:pPr>
            <a:r>
              <a:rPr lang="en-US" sz="1600" dirty="0"/>
              <a:t>Would need to be coerced to the same type (change </a:t>
            </a:r>
            <a:r>
              <a:rPr lang="en-US" sz="1600" dirty="0" err="1"/>
              <a:t>BigInt</a:t>
            </a:r>
            <a:r>
              <a:rPr lang="en-US" sz="1600" dirty="0"/>
              <a: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Two values: true or false</a:t>
            </a:r>
          </a:p>
          <a:p>
            <a:pPr marL="0" lvl="0" indent="0" algn="l" rtl="0">
              <a:spcBef>
                <a:spcPts val="0"/>
              </a:spcBef>
              <a:spcAft>
                <a:spcPts val="1200"/>
              </a:spcAft>
              <a:buNone/>
            </a:pPr>
            <a:r>
              <a:rPr lang="en-US" sz="2000" dirty="0"/>
              <a:t>Can convert a non-</a:t>
            </a:r>
            <a:r>
              <a:rPr lang="en-US" sz="2000" dirty="0" err="1"/>
              <a:t>boolean</a:t>
            </a:r>
            <a:r>
              <a:rPr lang="en-US" sz="2000" dirty="0"/>
              <a:t> value (like a string) to a </a:t>
            </a:r>
            <a:r>
              <a:rPr lang="en-US" sz="2000" dirty="0" err="1"/>
              <a:t>boolean</a:t>
            </a:r>
            <a:r>
              <a:rPr lang="en-US" sz="2000" dirty="0"/>
              <a:t> one of two ways</a:t>
            </a:r>
          </a:p>
          <a:p>
            <a:pPr marL="342900" lvl="0" indent="-342900" algn="l" rtl="0">
              <a:spcBef>
                <a:spcPts val="0"/>
              </a:spcBef>
              <a:spcAft>
                <a:spcPts val="1200"/>
              </a:spcAft>
              <a:buFontTx/>
              <a:buChar char="-"/>
            </a:pPr>
            <a:r>
              <a:rPr lang="en-US" sz="1800" dirty="0"/>
              <a:t>Precede the value with two exclamation marks (!!</a:t>
            </a:r>
            <a:r>
              <a:rPr lang="en-US" sz="1800" dirty="0" err="1"/>
              <a:t>numOfStudents</a:t>
            </a:r>
            <a:r>
              <a:rPr lang="en-US" sz="1800" dirty="0"/>
              <a:t>)</a:t>
            </a:r>
          </a:p>
          <a:p>
            <a:pPr marL="342900" lvl="0" indent="-342900" algn="l" rtl="0">
              <a:spcBef>
                <a:spcPts val="0"/>
              </a:spcBef>
              <a:spcAft>
                <a:spcPts val="1200"/>
              </a:spcAft>
              <a:buFontTx/>
              <a:buChar char="-"/>
            </a:pPr>
            <a:r>
              <a:rPr lang="en-US" sz="1800" dirty="0"/>
              <a:t>Use the Boolean function – Boolean()</a:t>
            </a:r>
          </a:p>
          <a:p>
            <a:pPr marL="800100" lvl="1" indent="-342900">
              <a:spcAft>
                <a:spcPts val="1200"/>
              </a:spcAft>
              <a:buFontTx/>
              <a:buChar char="-"/>
            </a:pPr>
            <a:r>
              <a:rPr lang="en-US" sz="1600" dirty="0"/>
              <a:t>Boolean(</a:t>
            </a:r>
            <a:r>
              <a:rPr lang="en-US" sz="1600" dirty="0" err="1"/>
              <a:t>numOfStudents</a:t>
            </a:r>
            <a:r>
              <a:rPr lang="en-US" sz="1600" dirty="0"/>
              <a:t>)</a:t>
            </a:r>
          </a:p>
          <a:p>
            <a:pPr marL="800100" lvl="1" indent="-342900">
              <a:spcAft>
                <a:spcPts val="1200"/>
              </a:spcAft>
              <a:buFontTx/>
              <a:buChar char="-"/>
            </a:pPr>
            <a:r>
              <a:rPr lang="en-US" sz="1600" dirty="0"/>
              <a:t>Never use the word new with Boolean()</a:t>
            </a:r>
            <a:endParaRPr sz="1600" dirty="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352758614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a:t>
            </a:r>
            <a:r>
              <a:rPr lang="en-US" sz="1600" dirty="0" err="1"/>
              <a:t>NaN</a:t>
            </a:r>
            <a:r>
              <a:rPr lang="en-US" sz="1600" dirty="0"/>
              <a:t>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a:t>
            </a:r>
            <a:r>
              <a:rPr lang="en-US" sz="1600" dirty="0" err="1"/>
              <a:t>BigInts</a:t>
            </a:r>
            <a:r>
              <a:rPr lang="en-US" sz="1600" dirty="0"/>
              <a:t>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t>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t>let str1 = “JavaScript is fun!”;</a:t>
            </a:r>
            <a:br>
              <a:rPr lang="en-US" dirty="0"/>
            </a:br>
            <a:r>
              <a:rPr lang="en-US" dirty="0"/>
              <a:t>let str2 = “JavaScript is fun!”;</a:t>
            </a:r>
            <a:br>
              <a:rPr lang="en-US" dirty="0"/>
            </a:br>
            <a:r>
              <a:rPr lang="en-US" dirty="0" err="1"/>
              <a:t>console.log</a:t>
            </a:r>
            <a:r>
              <a:rPr lang="en-US" dirty="0"/>
              <a:t>(str1 == str2); // true</a:t>
            </a:r>
          </a:p>
          <a:p>
            <a:pPr marL="628650" lvl="1" indent="-171450">
              <a:spcAft>
                <a:spcPts val="1200"/>
              </a:spcAft>
              <a:buFont typeface="Arial" panose="020B0604020202020204" pitchFamily="34" charset="0"/>
              <a:buChar char="•"/>
            </a:pPr>
            <a:r>
              <a:rPr lang="en-US" dirty="0"/>
              <a:t>let sym1 = Symbol(“JavaScript is fun!”);</a:t>
            </a:r>
            <a:br>
              <a:rPr lang="en-US" dirty="0"/>
            </a:br>
            <a:r>
              <a:rPr lang="en-US" dirty="0"/>
              <a:t>let sym2 = Symbol(“JavaScript is fun!”);</a:t>
            </a:r>
            <a:br>
              <a:rPr lang="en-US" dirty="0"/>
            </a:br>
            <a:r>
              <a:rPr lang="en-US" dirty="0" err="1"/>
              <a:t>console.log</a:t>
            </a:r>
            <a:r>
              <a:rPr lang="en-US" dirty="0"/>
              <a:t>(sym1 == sym2); // false</a:t>
            </a:r>
          </a:p>
          <a:p>
            <a:pPr marL="0" lvl="0" indent="0" algn="l" rtl="0">
              <a:spcBef>
                <a:spcPts val="0"/>
              </a:spcBef>
              <a:spcAft>
                <a:spcPts val="1200"/>
              </a:spcAft>
              <a:buNone/>
            </a:pPr>
            <a:endParaRPr dirty="0"/>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undefined – means the variable has not been assigned a value</a:t>
            </a:r>
          </a:p>
          <a:p>
            <a:pPr marL="0" lvl="0" indent="0" algn="l" rtl="0">
              <a:spcBef>
                <a:spcPts val="0"/>
              </a:spcBef>
              <a:spcAft>
                <a:spcPts val="1200"/>
              </a:spcAft>
              <a:buNone/>
            </a:pPr>
            <a:r>
              <a:rPr lang="en-US" sz="2000" dirty="0"/>
              <a:t>	var a;</a:t>
            </a:r>
            <a:br>
              <a:rPr lang="en-US" sz="2000" dirty="0"/>
            </a:br>
            <a:r>
              <a:rPr lang="en-US" sz="2000" dirty="0"/>
              <a:t>	console.log(a); // undefined</a:t>
            </a:r>
            <a:br>
              <a:rPr lang="en-US" sz="2000" dirty="0"/>
            </a:br>
            <a:r>
              <a:rPr lang="en-US" sz="2000" dirty="0"/>
              <a:t>	</a:t>
            </a:r>
            <a:r>
              <a:rPr lang="en-US" sz="2000" dirty="0" err="1"/>
              <a:t>typeof</a:t>
            </a:r>
            <a:r>
              <a:rPr lang="en-US" sz="2000" dirty="0"/>
              <a:t> (a); // ‘undefined’</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2000" dirty="0"/>
              <a:t>BAD PRACTICE – would cause a variable that has not been assigned a value and a variable that has been manually given a value of undefined to be considered equal</a:t>
            </a:r>
          </a:p>
        </p:txBody>
      </p:sp>
    </p:spTree>
    <p:extLst>
      <p:ext uri="{BB962C8B-B14F-4D97-AF65-F5344CB8AC3E}">
        <p14:creationId xmlns:p14="http://schemas.microsoft.com/office/powerpoint/2010/main" val="155836020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null – means the variable has no value or an empty value</a:t>
            </a:r>
          </a:p>
          <a:p>
            <a:pPr marL="342900" lvl="0" indent="-342900" algn="l" rtl="0">
              <a:spcBef>
                <a:spcPts val="0"/>
              </a:spcBef>
              <a:spcAft>
                <a:spcPts val="1200"/>
              </a:spcAft>
              <a:buFontTx/>
              <a:buChar char="-"/>
            </a:pPr>
            <a:r>
              <a:rPr lang="en-US" sz="2000" dirty="0"/>
              <a:t>BUT – it is a type of assignment value because you can assign a value of null to a variable</a:t>
            </a:r>
          </a:p>
          <a:p>
            <a:pPr marL="342900" lvl="0" indent="-342900" algn="l" rtl="0">
              <a:spcBef>
                <a:spcPts val="0"/>
              </a:spcBef>
              <a:spcAft>
                <a:spcPts val="1200"/>
              </a:spcAft>
              <a:buFontTx/>
              <a:buChar char="-"/>
            </a:pPr>
            <a:r>
              <a:rPr lang="en-US" sz="2000" dirty="0"/>
              <a:t>null == undefined but null !== undefined (more on this later)</a:t>
            </a:r>
          </a:p>
          <a:p>
            <a:pPr marL="342900" lvl="0" indent="-342900" algn="l" rtl="0">
              <a:spcBef>
                <a:spcPts val="0"/>
              </a:spcBef>
              <a:spcAft>
                <a:spcPts val="1200"/>
              </a:spcAft>
              <a:buFontTx/>
              <a:buChar char="-"/>
            </a:pPr>
            <a:r>
              <a:rPr lang="en-US" sz="2000" dirty="0" err="1"/>
              <a:t>typeof</a:t>
            </a:r>
            <a:r>
              <a:rPr lang="en-US" sz="2000" dirty="0"/>
              <a:t> null; // ‘object’</a:t>
            </a:r>
            <a:endParaRPr sz="2000" dirty="0"/>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a:t>Object</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37583199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34089</TotalTime>
  <Words>4404</Words>
  <Application>Microsoft Macintosh PowerPoint</Application>
  <PresentationFormat>On-screen Show (16:9)</PresentationFormat>
  <Paragraphs>648</Paragraphs>
  <Slides>96</Slides>
  <Notes>91</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96</vt:i4>
      </vt:variant>
    </vt:vector>
  </HeadingPairs>
  <TitlesOfParts>
    <vt:vector size="106" baseType="lpstr">
      <vt:lpstr>Proxima Nova</vt:lpstr>
      <vt:lpstr>Montserrat</vt:lpstr>
      <vt:lpstr>Arial</vt:lpstr>
      <vt:lpstr>Amatic SC</vt:lpstr>
      <vt:lpstr>Roboto Medium</vt:lpstr>
      <vt:lpstr>Fira Code</vt:lpstr>
      <vt:lpstr>Proxima Nova Semibold</vt:lpstr>
      <vt:lpstr>Calibri</vt:lpstr>
      <vt:lpstr>Programming Language Workshop for Beginners by Slidesgo</vt:lpstr>
      <vt:lpstr>Slidesgo Final Pages</vt:lpstr>
      <vt:lpstr>JavaScript {</vt:lpstr>
      <vt:lpstr>PowerPoint Presentation</vt:lpstr>
      <vt:lpstr>What is a value?</vt:lpstr>
      <vt:lpstr>Values</vt:lpstr>
      <vt:lpstr>Bits</vt:lpstr>
      <vt:lpstr>Binary</vt:lpstr>
      <vt:lpstr>Bindings</vt:lpstr>
      <vt:lpstr>Binding - variables and constants</vt:lpstr>
      <vt:lpstr>Declaring and assigning variables</vt:lpstr>
      <vt:lpstr>Variable naming</vt:lpstr>
      <vt:lpstr>Variable naming (cont’d)</vt:lpstr>
      <vt:lpstr>Reserved words (variable naming)</vt:lpstr>
      <vt:lpstr>JavaScript {</vt:lpstr>
      <vt:lpstr>Two categories of data types</vt:lpstr>
      <vt:lpstr>7 Primitive Data Types</vt:lpstr>
      <vt:lpstr>Non-primitive data types</vt:lpstr>
      <vt:lpstr>Data type string</vt:lpstr>
      <vt:lpstr>Escape character (string)</vt:lpstr>
      <vt:lpstr>Escape character (string)</vt:lpstr>
      <vt:lpstr>Newline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NaN (number) </vt:lpstr>
      <vt:lpstr>Adding numbers and strings (number) </vt:lpstr>
      <vt:lpstr>Adding numbers and strings (number) </vt:lpstr>
      <vt:lpstr>Adding numbers and strings (number) </vt:lpstr>
      <vt:lpstr>Adding numbers and strings (number) </vt:lpstr>
      <vt:lpstr>Data type BigInt</vt:lpstr>
      <vt:lpstr>Data type BigInt (cont’d)</vt:lpstr>
      <vt:lpstr>Type Coercion (BigInt)</vt:lpstr>
      <vt:lpstr>BigInt vs number (BigInt)</vt:lpstr>
      <vt:lpstr>Data type boolean</vt:lpstr>
      <vt:lpstr>Truthy/falsy values (boolean)</vt:lpstr>
      <vt:lpstr>Truthy/falsy values (boolean)</vt:lpstr>
      <vt:lpstr>Truthy/falsy values (cont’d)</vt:lpstr>
      <vt:lpstr>Symbol</vt:lpstr>
      <vt:lpstr>undefined </vt:lpstr>
      <vt:lpstr>undefined (cont’d)</vt:lpstr>
      <vt:lpstr>null </vt:lpstr>
      <vt:lpstr>Immutability</vt:lpstr>
      <vt:lpstr>Copying by value vs by reference</vt:lpstr>
      <vt:lpstr>Copying by value vs by reference</vt:lpstr>
      <vt:lpstr>Copying by value</vt:lpstr>
      <vt:lpstr>Copy by reference</vt:lpstr>
      <vt:lpstr>Contents Of ‘This Template’;</vt:lpstr>
      <vt:lpstr>01</vt:lpstr>
      <vt:lpstr>Object</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14</cp:revision>
  <dcterms:modified xsi:type="dcterms:W3CDTF">2025-02-11T22:43:54Z</dcterms:modified>
</cp:coreProperties>
</file>