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139"/>
  </p:notesMasterIdLst>
  <p:sldIdLst>
    <p:sldId id="256" r:id="rId3"/>
    <p:sldId id="258" r:id="rId4"/>
    <p:sldId id="369" r:id="rId5"/>
    <p:sldId id="374" r:id="rId6"/>
    <p:sldId id="375" r:id="rId7"/>
    <p:sldId id="259" r:id="rId8"/>
    <p:sldId id="377" r:id="rId9"/>
    <p:sldId id="380" r:id="rId10"/>
    <p:sldId id="381" r:id="rId11"/>
    <p:sldId id="382" r:id="rId12"/>
    <p:sldId id="383" r:id="rId13"/>
    <p:sldId id="384" r:id="rId14"/>
    <p:sldId id="385" r:id="rId15"/>
    <p:sldId id="386" r:id="rId16"/>
    <p:sldId id="387" r:id="rId17"/>
    <p:sldId id="398" r:id="rId18"/>
    <p:sldId id="404" r:id="rId19"/>
    <p:sldId id="399" r:id="rId20"/>
    <p:sldId id="403" r:id="rId21"/>
    <p:sldId id="405" r:id="rId22"/>
    <p:sldId id="388" r:id="rId23"/>
    <p:sldId id="389" r:id="rId24"/>
    <p:sldId id="394" r:id="rId25"/>
    <p:sldId id="395" r:id="rId26"/>
    <p:sldId id="390" r:id="rId27"/>
    <p:sldId id="396" r:id="rId28"/>
    <p:sldId id="391" r:id="rId29"/>
    <p:sldId id="397" r:id="rId30"/>
    <p:sldId id="379" r:id="rId31"/>
    <p:sldId id="376" r:id="rId32"/>
    <p:sldId id="260" r:id="rId33"/>
    <p:sldId id="261" r:id="rId34"/>
    <p:sldId id="262" r:id="rId35"/>
    <p:sldId id="263" r:id="rId36"/>
    <p:sldId id="352" r:id="rId37"/>
    <p:sldId id="351" r:id="rId38"/>
    <p:sldId id="353" r:id="rId39"/>
    <p:sldId id="350" r:id="rId40"/>
    <p:sldId id="264" r:id="rId41"/>
    <p:sldId id="265" r:id="rId42"/>
    <p:sldId id="266" r:id="rId43"/>
    <p:sldId id="268" r:id="rId44"/>
    <p:sldId id="269" r:id="rId45"/>
    <p:sldId id="270" r:id="rId46"/>
    <p:sldId id="271" r:id="rId47"/>
    <p:sldId id="272" r:id="rId48"/>
    <p:sldId id="273" r:id="rId49"/>
    <p:sldId id="274" r:id="rId50"/>
    <p:sldId id="275" r:id="rId51"/>
    <p:sldId id="276" r:id="rId52"/>
    <p:sldId id="277" r:id="rId53"/>
    <p:sldId id="278" r:id="rId54"/>
    <p:sldId id="279" r:id="rId55"/>
    <p:sldId id="280" r:id="rId56"/>
    <p:sldId id="281" r:id="rId57"/>
    <p:sldId id="345" r:id="rId58"/>
    <p:sldId id="282" r:id="rId59"/>
    <p:sldId id="283" r:id="rId60"/>
    <p:sldId id="284" r:id="rId61"/>
    <p:sldId id="285" r:id="rId62"/>
    <p:sldId id="286" r:id="rId63"/>
    <p:sldId id="287" r:id="rId64"/>
    <p:sldId id="341" r:id="rId65"/>
    <p:sldId id="340" r:id="rId66"/>
    <p:sldId id="288" r:id="rId67"/>
    <p:sldId id="342" r:id="rId68"/>
    <p:sldId id="343" r:id="rId69"/>
    <p:sldId id="344" r:id="rId70"/>
    <p:sldId id="289" r:id="rId71"/>
    <p:sldId id="290" r:id="rId72"/>
    <p:sldId id="346" r:id="rId73"/>
    <p:sldId id="291" r:id="rId74"/>
    <p:sldId id="267" r:id="rId75"/>
    <p:sldId id="354" r:id="rId76"/>
    <p:sldId id="356" r:id="rId77"/>
    <p:sldId id="363" r:id="rId78"/>
    <p:sldId id="364" r:id="rId79"/>
    <p:sldId id="357" r:id="rId80"/>
    <p:sldId id="358" r:id="rId81"/>
    <p:sldId id="359" r:id="rId82"/>
    <p:sldId id="360" r:id="rId83"/>
    <p:sldId id="362" r:id="rId84"/>
    <p:sldId id="361" r:id="rId85"/>
    <p:sldId id="365" r:id="rId86"/>
    <p:sldId id="366" r:id="rId87"/>
    <p:sldId id="367" r:id="rId88"/>
    <p:sldId id="368" r:id="rId89"/>
    <p:sldId id="355" r:id="rId90"/>
    <p:sldId id="292" r:id="rId91"/>
    <p:sldId id="293" r:id="rId92"/>
    <p:sldId id="294" r:id="rId93"/>
    <p:sldId id="295" r:id="rId94"/>
    <p:sldId id="296" r:id="rId95"/>
    <p:sldId id="297" r:id="rId96"/>
    <p:sldId id="298" r:id="rId97"/>
    <p:sldId id="299" r:id="rId98"/>
    <p:sldId id="300" r:id="rId99"/>
    <p:sldId id="301" r:id="rId100"/>
    <p:sldId id="302" r:id="rId101"/>
    <p:sldId id="303" r:id="rId102"/>
    <p:sldId id="304" r:id="rId103"/>
    <p:sldId id="305" r:id="rId104"/>
    <p:sldId id="306" r:id="rId105"/>
    <p:sldId id="307" r:id="rId106"/>
    <p:sldId id="308" r:id="rId107"/>
    <p:sldId id="309" r:id="rId108"/>
    <p:sldId id="310" r:id="rId109"/>
    <p:sldId id="311" r:id="rId110"/>
    <p:sldId id="312" r:id="rId111"/>
    <p:sldId id="313" r:id="rId112"/>
    <p:sldId id="314" r:id="rId113"/>
    <p:sldId id="315" r:id="rId114"/>
    <p:sldId id="316" r:id="rId115"/>
    <p:sldId id="317" r:id="rId116"/>
    <p:sldId id="318" r:id="rId117"/>
    <p:sldId id="319" r:id="rId118"/>
    <p:sldId id="320" r:id="rId119"/>
    <p:sldId id="321" r:id="rId120"/>
    <p:sldId id="322" r:id="rId121"/>
    <p:sldId id="323" r:id="rId122"/>
    <p:sldId id="324" r:id="rId123"/>
    <p:sldId id="325" r:id="rId124"/>
    <p:sldId id="326" r:id="rId125"/>
    <p:sldId id="327" r:id="rId126"/>
    <p:sldId id="328" r:id="rId127"/>
    <p:sldId id="329" r:id="rId128"/>
    <p:sldId id="330" r:id="rId129"/>
    <p:sldId id="331" r:id="rId130"/>
    <p:sldId id="332" r:id="rId131"/>
    <p:sldId id="333" r:id="rId132"/>
    <p:sldId id="334" r:id="rId133"/>
    <p:sldId id="335" r:id="rId134"/>
    <p:sldId id="336" r:id="rId135"/>
    <p:sldId id="337" r:id="rId136"/>
    <p:sldId id="338" r:id="rId137"/>
    <p:sldId id="339" r:id="rId138"/>
  </p:sldIdLst>
  <p:sldSz cx="9144000" cy="5143500" type="screen16x9"/>
  <p:notesSz cx="6858000" cy="9144000"/>
  <p:embeddedFontLst>
    <p:embeddedFont>
      <p:font typeface="Amatic SC" pitchFamily="2" charset="-79"/>
      <p:regular r:id="rId140"/>
      <p:bold r:id="rId141"/>
    </p:embeddedFont>
    <p:embeddedFont>
      <p:font typeface="Fira Code" panose="020B0809050000020004" pitchFamily="49" charset="0"/>
      <p:regular r:id="rId142"/>
      <p:bold r:id="rId143"/>
    </p:embeddedFont>
    <p:embeddedFont>
      <p:font typeface="Montserrat" pitchFamily="2" charset="77"/>
      <p:regular r:id="rId144"/>
      <p:bold r:id="rId145"/>
      <p:italic r:id="rId146"/>
      <p:boldItalic r:id="rId147"/>
    </p:embeddedFont>
    <p:embeddedFont>
      <p:font typeface="Proxima Nova" panose="02000506030000020004" pitchFamily="2" charset="0"/>
      <p:regular r:id="rId148"/>
      <p:bold r:id="rId149"/>
      <p:italic r:id="rId150"/>
      <p:boldItalic r:id="rId151"/>
    </p:embeddedFont>
    <p:embeddedFont>
      <p:font typeface="Proxima Nova Semibold" panose="02000506030000020004" pitchFamily="2" charset="0"/>
      <p:regular r:id="rId152"/>
      <p:bold r:id="rId153"/>
      <p:italic r:id="rId154"/>
      <p:boldItalic r:id="rId155"/>
    </p:embeddedFont>
    <p:embeddedFont>
      <p:font typeface="Roboto Medium" panose="020F0502020204030204" pitchFamily="34" charset="0"/>
      <p:regular r:id="rId156"/>
      <p:bold r:id="rId157"/>
      <p:italic r:id="rId158"/>
      <p:boldItalic r:id="rId1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52" userDrawn="1">
          <p15:clr>
            <a:srgbClr val="747775"/>
          </p15:clr>
        </p15:guide>
        <p15:guide id="5" orient="horz" pos="1644" userDrawn="1">
          <p15:clr>
            <a:srgbClr val="747775"/>
          </p15:clr>
        </p15:guide>
        <p15:guide id="6" orient="horz" pos="1956" userDrawn="1">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908"/>
    <p:restoredTop sz="94737"/>
  </p:normalViewPr>
  <p:slideViewPr>
    <p:cSldViewPr snapToGrid="0">
      <p:cViewPr>
        <p:scale>
          <a:sx n="150" d="100"/>
          <a:sy n="150" d="100"/>
        </p:scale>
        <p:origin x="2200" y="784"/>
      </p:cViewPr>
      <p:guideLst>
        <p:guide orient="horz" pos="648"/>
        <p:guide orient="horz" pos="936"/>
        <p:guide orient="horz" pos="1152"/>
        <p:guide orient="horz" pos="1452"/>
        <p:guide orient="horz" pos="1644"/>
        <p:guide orient="horz" pos="1956"/>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font" Target="fonts/font20.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font" Target="fonts/font10.fntdata"/><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presProps" Target="presProps.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notesMaster" Target="notesMasters/notesMaster1.xml"/><Relationship Id="rId85" Type="http://schemas.openxmlformats.org/officeDocument/2006/relationships/slide" Target="slides/slide83.xml"/><Relationship Id="rId150" Type="http://schemas.openxmlformats.org/officeDocument/2006/relationships/font" Target="fonts/font11.fntdata"/><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slide" Target="slides/slide122.xml"/><Relationship Id="rId129" Type="http://schemas.openxmlformats.org/officeDocument/2006/relationships/slide" Target="slides/slide127.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font" Target="fonts/font1.fntdata"/><Relationship Id="rId145" Type="http://schemas.openxmlformats.org/officeDocument/2006/relationships/font" Target="fonts/font6.fntdata"/><Relationship Id="rId16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slide" Target="slides/slide128.xml"/><Relationship Id="rId135" Type="http://schemas.openxmlformats.org/officeDocument/2006/relationships/slide" Target="slides/slide133.xml"/><Relationship Id="rId151" Type="http://schemas.openxmlformats.org/officeDocument/2006/relationships/font" Target="fonts/font12.fntdata"/><Relationship Id="rId156" Type="http://schemas.openxmlformats.org/officeDocument/2006/relationships/font" Target="fonts/font17.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font" Target="fonts/font2.fntdata"/><Relationship Id="rId146" Type="http://schemas.openxmlformats.org/officeDocument/2006/relationships/font" Target="fonts/font7.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font" Target="fonts/font18.fntdata"/><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font" Target="fonts/font13.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font" Target="fonts/font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font" Target="fonts/font3.fntdata"/><Relationship Id="rId163" Type="http://schemas.openxmlformats.org/officeDocument/2006/relationships/tableStyles" Target="tableStyles.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font" Target="fonts/font19.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font" Target="fonts/font14.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font" Target="fonts/font4.fntdata"/><Relationship Id="rId148" Type="http://schemas.openxmlformats.org/officeDocument/2006/relationships/font" Target="fonts/font9.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font" Target="fonts/font15.fntdata"/><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font" Target="fonts/font5.fntdata"/><Relationship Id="rId90" Type="http://schemas.openxmlformats.org/officeDocument/2006/relationships/slide" Target="slides/slide88.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font" Target="fonts/font1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cd0604b252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a:extLst>
            <a:ext uri="{FF2B5EF4-FFF2-40B4-BE49-F238E27FC236}">
              <a16:creationId xmlns:a16="http://schemas.microsoft.com/office/drawing/2014/main" id="{90019B7E-3A16-D610-1E5D-B720128AF5FA}"/>
            </a:ext>
          </a:extLst>
        </p:cNvPr>
        <p:cNvGrpSpPr/>
        <p:nvPr/>
      </p:nvGrpSpPr>
      <p:grpSpPr>
        <a:xfrm>
          <a:off x="0" y="0"/>
          <a:ext cx="0" cy="0"/>
          <a:chOff x="0" y="0"/>
          <a:chExt cx="0" cy="0"/>
        </a:xfrm>
      </p:grpSpPr>
      <p:sp>
        <p:nvSpPr>
          <p:cNvPr id="473" name="Google Shape;473;g2cd0604b252_0_39:notes">
            <a:extLst>
              <a:ext uri="{FF2B5EF4-FFF2-40B4-BE49-F238E27FC236}">
                <a16:creationId xmlns:a16="http://schemas.microsoft.com/office/drawing/2014/main" id="{EEB0E599-6272-F969-039D-12AD2794AA8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a:extLst>
              <a:ext uri="{FF2B5EF4-FFF2-40B4-BE49-F238E27FC236}">
                <a16:creationId xmlns:a16="http://schemas.microsoft.com/office/drawing/2014/main" id="{79CE95BC-7928-E8CB-A8C1-CD8AB7091F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7834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a:extLst>
            <a:ext uri="{FF2B5EF4-FFF2-40B4-BE49-F238E27FC236}">
              <a16:creationId xmlns:a16="http://schemas.microsoft.com/office/drawing/2014/main" id="{36165A2C-DF39-ECEC-E48D-82A381FAE8A4}"/>
            </a:ext>
          </a:extLst>
        </p:cNvPr>
        <p:cNvGrpSpPr/>
        <p:nvPr/>
      </p:nvGrpSpPr>
      <p:grpSpPr>
        <a:xfrm>
          <a:off x="0" y="0"/>
          <a:ext cx="0" cy="0"/>
          <a:chOff x="0" y="0"/>
          <a:chExt cx="0" cy="0"/>
        </a:xfrm>
      </p:grpSpPr>
      <p:sp>
        <p:nvSpPr>
          <p:cNvPr id="554" name="Google Shape;554;g2bc7beed1be_0_66:notes">
            <a:extLst>
              <a:ext uri="{FF2B5EF4-FFF2-40B4-BE49-F238E27FC236}">
                <a16:creationId xmlns:a16="http://schemas.microsoft.com/office/drawing/2014/main" id="{303E334E-9AC5-9B39-5800-E8E749120EF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a:extLst>
              <a:ext uri="{FF2B5EF4-FFF2-40B4-BE49-F238E27FC236}">
                <a16:creationId xmlns:a16="http://schemas.microsoft.com/office/drawing/2014/main" id="{0166E04C-1E52-990C-9C25-9944F10329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40696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a:extLst>
            <a:ext uri="{FF2B5EF4-FFF2-40B4-BE49-F238E27FC236}">
              <a16:creationId xmlns:a16="http://schemas.microsoft.com/office/drawing/2014/main" id="{999722C9-47C7-66EE-CA5E-5D6FB2D610C2}"/>
            </a:ext>
          </a:extLst>
        </p:cNvPr>
        <p:cNvGrpSpPr/>
        <p:nvPr/>
      </p:nvGrpSpPr>
      <p:grpSpPr>
        <a:xfrm>
          <a:off x="0" y="0"/>
          <a:ext cx="0" cy="0"/>
          <a:chOff x="0" y="0"/>
          <a:chExt cx="0" cy="0"/>
        </a:xfrm>
      </p:grpSpPr>
      <p:sp>
        <p:nvSpPr>
          <p:cNvPr id="554" name="Google Shape;554;g2bc7beed1be_0_66:notes">
            <a:extLst>
              <a:ext uri="{FF2B5EF4-FFF2-40B4-BE49-F238E27FC236}">
                <a16:creationId xmlns:a16="http://schemas.microsoft.com/office/drawing/2014/main" id="{5C7CDB65-8FB9-160C-975C-70CC2EB6CCA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a:extLst>
              <a:ext uri="{FF2B5EF4-FFF2-40B4-BE49-F238E27FC236}">
                <a16:creationId xmlns:a16="http://schemas.microsoft.com/office/drawing/2014/main" id="{5A47A503-5C26-AEAE-F81C-20EC1EA4EFF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60561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2cd0604b252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288E82D6-872F-2EDB-8164-1CF8891AFDB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6E4D8B65-FA89-FC4A-A9FB-6ED30D9034A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D4E76F0-4902-1A53-F790-55FCF618DB3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961339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9CB2B801-5484-CF74-A116-16C95DE7009E}"/>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A6D90871-E25B-3E39-2929-5D0088CBC05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41C53700-4B4C-E0BE-5985-08FFEAAC7DC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5910275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B23CCD75-334A-A55B-1501-97E5363324F2}"/>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398348A1-6CB1-F940-C6B5-A47375A6648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0F0E9317-8E01-DB7B-172C-9C448A6B2A0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295574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588C9F48-3376-D430-F495-C0562AC0F4C4}"/>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D0A01B1D-80E5-07F8-B400-5E76966E7A7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0DDFA3D5-0083-CC64-C1E2-B635A12FF18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13805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47C2F400-1F23-7835-B126-D60AB121A835}"/>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820BFB94-04A7-51BB-777E-BB4F337D80F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CDCEE470-D1EF-5E07-63F5-AEE8AD2EA24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593872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22AAD209-5200-BF1E-DDA0-F773911371F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4B289DAC-ED4E-8D52-A4A5-72C4FE68E71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4DA0AAFB-C447-76C2-D7CD-03A97B856AF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32340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6263304B-3F7A-E2F6-D8E1-20FA5E220105}"/>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8C3CA0F-D095-C3BC-EEC1-B673F902910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486903E-E7F5-2992-7F35-FA9B28F9B15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979319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EA6E1B09-2FFD-2258-4C7E-2C8A2116DE91}"/>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5CD38D1-DD68-39F1-07AF-53AE6F34254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82434552-01D2-C9C4-801D-04A1B3B9749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401771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DFD4D690-62CE-C286-03EA-CFF4904600D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55BF828-BC88-D048-A314-37C6D7BC10C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DB12AE3-6DD2-4223-2E85-DAA1E53B029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369848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8E970197-989B-F3B5-E7D2-AEF2DE8B94C8}"/>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649B8508-351D-23A2-D42F-3F81C9D6B90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CC712ED-5CAC-07F1-52F5-47DD994A4A5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439187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18977E2A-E901-E946-A59D-642A69C6393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B62D892E-DCD6-D1D7-CDD8-EB9C8F66950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24B85B6-B9B7-75EB-5C21-5A3BAFCB0B0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6211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F4EB23AE-F5E4-9E8C-8A83-52E415E010D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21370EE8-4506-F2E9-372A-6017E2AC7C5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E69D9C6-2C33-AF7D-23AE-1828497B819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0901151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3EA75079-36DD-58B8-5410-A19B2BAC1202}"/>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FD739C1B-9440-D600-C23F-A88D414C6B0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109169EF-71AE-C27F-8191-4C58A3C40C1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754054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E9CC2233-97F1-0E1A-72F1-3BED776620C9}"/>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3FE8278E-136C-2F18-069A-6125EC4C71E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59A3148E-E76E-7C3E-02D4-56806F1A343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86234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E4A685B9-153B-3087-8A8D-8916EFD666B0}"/>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9CFF2BAD-8FDF-46DD-B208-AD4603968E7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68B474CD-F8B5-B612-8568-68C68BB7B9C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8505420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638E930B-AF65-1F7A-2BD8-69B8AAF8418D}"/>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4999DA6-CA9C-3203-A909-3E0857B773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E1E5B7E-97DF-BD93-5EB7-94052DEFAD2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628207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ABCBDA71-9201-437A-0553-054E599C132C}"/>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72CFFC54-A0F7-52B1-3717-02C69BF710D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9C2B8626-7378-FACD-C72C-BACB9DF1EE3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18286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B75DA5F5-3B92-E303-04A7-C8A6B137D6F2}"/>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E93AFA45-6E9E-ABEF-4EE9-438E365873F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29C61E1-9DE5-DAB0-D8BF-FF7BBE1B77D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5486375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F26A116A-ADD9-427C-A58D-5758D5963947}"/>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D48CCBDB-FF53-5C29-BA56-6B3D6E876A1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93F5FC48-BF2C-069F-D28C-FD33F2592C1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0690276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7F019420-A2BB-426B-531F-3EDB700FE71A}"/>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767EE33-8E3F-1E17-2CA2-8AF0437C5CF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A22483FA-93C4-7343-4B6D-9A18A057FA3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459763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A8BFFFD0-B488-BE6E-8CAD-B5D3812F1C97}"/>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01C783B0-CE67-1B8E-6973-374797105A2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E40AE93E-9318-30E0-FA3B-41DFA80E947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068558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9165B6F4-465D-801D-AFDD-61EB2D3AF43A}"/>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C3A73FE4-CCCE-FABD-5744-71A649CB9B0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9CDC1511-2B02-FAD7-7758-C1612269B3F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5443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a:extLst>
            <a:ext uri="{FF2B5EF4-FFF2-40B4-BE49-F238E27FC236}">
              <a16:creationId xmlns:a16="http://schemas.microsoft.com/office/drawing/2014/main" id="{F1FFEEC3-21F7-C937-E7D8-8AC7B359FB4B}"/>
            </a:ext>
          </a:extLst>
        </p:cNvPr>
        <p:cNvGrpSpPr/>
        <p:nvPr/>
      </p:nvGrpSpPr>
      <p:grpSpPr>
        <a:xfrm>
          <a:off x="0" y="0"/>
          <a:ext cx="0" cy="0"/>
          <a:chOff x="0" y="0"/>
          <a:chExt cx="0" cy="0"/>
        </a:xfrm>
      </p:grpSpPr>
      <p:sp>
        <p:nvSpPr>
          <p:cNvPr id="479" name="Google Shape;479;g2cd0604b252_0_17:notes">
            <a:extLst>
              <a:ext uri="{FF2B5EF4-FFF2-40B4-BE49-F238E27FC236}">
                <a16:creationId xmlns:a16="http://schemas.microsoft.com/office/drawing/2014/main" id="{4BBA76DA-B4CC-AB85-CB08-858AA665D81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a:extLst>
              <a:ext uri="{FF2B5EF4-FFF2-40B4-BE49-F238E27FC236}">
                <a16:creationId xmlns:a16="http://schemas.microsoft.com/office/drawing/2014/main" id="{282C401E-2C10-430F-13C9-5239DA8AC93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0170784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p:cNvGrpSpPr/>
        <p:nvPr/>
      </p:nvGrpSpPr>
      <p:grpSpPr>
        <a:xfrm>
          <a:off x="0" y="0"/>
          <a:ext cx="0" cy="0"/>
          <a:chOff x="0" y="0"/>
          <a:chExt cx="0" cy="0"/>
        </a:xfrm>
      </p:grpSpPr>
      <p:sp>
        <p:nvSpPr>
          <p:cNvPr id="485" name="Google Shape;485;g2cd0604b252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2cd0604b252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270932d8950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 name="Google Shape;492;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d03612ac4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d03612ac4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170006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673530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8.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6.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8" Type="http://schemas.openxmlformats.org/officeDocument/2006/relationships/slide" Target="slide118.xml"/><Relationship Id="rId13" Type="http://schemas.openxmlformats.org/officeDocument/2006/relationships/slide" Target="slide123.xml"/><Relationship Id="rId3" Type="http://schemas.openxmlformats.org/officeDocument/2006/relationships/hyperlink" Target="http://bit.ly/2Tynxth" TargetMode="External"/><Relationship Id="rId7" Type="http://schemas.openxmlformats.org/officeDocument/2006/relationships/slide" Target="slide115.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74.xml"/><Relationship Id="rId1" Type="http://schemas.openxmlformats.org/officeDocument/2006/relationships/slideLayout" Target="../slideLayouts/slideLayout3.xml"/><Relationship Id="rId6" Type="http://schemas.openxmlformats.org/officeDocument/2006/relationships/slide" Target="slide117.xml"/><Relationship Id="rId11" Type="http://schemas.openxmlformats.org/officeDocument/2006/relationships/slide" Target="slide122.xml"/><Relationship Id="rId5" Type="http://schemas.openxmlformats.org/officeDocument/2006/relationships/hyperlink" Target="http://bit.ly/33VAFh3" TargetMode="External"/><Relationship Id="rId10" Type="http://schemas.openxmlformats.org/officeDocument/2006/relationships/slide" Target="slide121.xml"/><Relationship Id="rId4" Type="http://schemas.openxmlformats.org/officeDocument/2006/relationships/hyperlink" Target="http://bit.ly/30B07Gq" TargetMode="External"/><Relationship Id="rId9" Type="http://schemas.openxmlformats.org/officeDocument/2006/relationships/slide" Target="slide119.xml"/><Relationship Id="rId14" Type="http://schemas.openxmlformats.org/officeDocument/2006/relationships/slide" Target="slide12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8.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4.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8.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7.xml"/></Relationships>
</file>

<file path=ppt/slides/_rels/slide10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85.xml"/><Relationship Id="rId1" Type="http://schemas.openxmlformats.org/officeDocument/2006/relationships/slideLayout" Target="../slideLayouts/slideLayout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87.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5.png"/></Relationships>
</file>

<file path=ppt/slides/_rels/slide108.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0.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6.xml"/></Relationships>
</file>

<file path=ppt/slides/_rels/slide1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4.xml"/><Relationship Id="rId1" Type="http://schemas.openxmlformats.org/officeDocument/2006/relationships/slideLayout" Target="../slideLayouts/slideLayout1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5.xml"/></Relationships>
</file>

<file path=ppt/slides/_rels/slide117.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97.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118.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98.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11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9.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115.xml"/></Relationships>
</file>

<file path=ppt/slides/_rels/slide12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0.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121.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101.xml"/><Relationship Id="rId1" Type="http://schemas.openxmlformats.org/officeDocument/2006/relationships/slideLayout" Target="../slideLayouts/slideLayout24.xml"/></Relationships>
</file>

<file path=ppt/slides/_rels/slide12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2.gif"/><Relationship Id="rId2" Type="http://schemas.openxmlformats.org/officeDocument/2006/relationships/notesSlide" Target="../notesSlides/notesSlide102.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1.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0.gif"/><Relationship Id="rId4" Type="http://schemas.openxmlformats.org/officeDocument/2006/relationships/image" Target="../media/image18.gif"/><Relationship Id="rId9" Type="http://schemas.openxmlformats.org/officeDocument/2006/relationships/image" Target="../media/image19.gif"/></Relationships>
</file>

<file path=ppt/slides/_rels/slide12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03.xml"/><Relationship Id="rId1" Type="http://schemas.openxmlformats.org/officeDocument/2006/relationships/slideLayout" Target="../slideLayouts/slideLayout24.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4.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4.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4.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4.xml"/></Relationships>
</file>

<file path=ppt/slides/_rels/slide12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09.xml"/><Relationship Id="rId1" Type="http://schemas.openxmlformats.org/officeDocument/2006/relationships/slideLayout" Target="../slideLayouts/slideLayout24.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4.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4.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4.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4.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4.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4.xml"/></Relationships>
</file>

<file path=ppt/slides/_rels/slide13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16.xml"/><Relationship Id="rId1" Type="http://schemas.openxmlformats.org/officeDocument/2006/relationships/slideLayout" Target="../slideLayouts/slideLayout24.xm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459" name="Google Shape;459;p27"/>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460" name="Google Shape;460;p2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61" name="Google Shape;461;p27"/>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a:t>
            </a:r>
            <a:r>
              <a:rPr lang="en" dirty="0">
                <a:solidFill>
                  <a:schemeClr val="accent1"/>
                </a:solidFill>
              </a:rPr>
              <a:t>Functions</a:t>
            </a:r>
            <a:r>
              <a:rPr lang="en" dirty="0">
                <a:solidFill>
                  <a:schemeClr val="accent6"/>
                </a:solidFill>
              </a:rPr>
              <a:t>] </a:t>
            </a:r>
            <a:endParaRPr dirty="0">
              <a:solidFill>
                <a:schemeClr val="accent6"/>
              </a:solidFill>
            </a:endParaRPr>
          </a:p>
        </p:txBody>
      </p:sp>
      <p:grpSp>
        <p:nvGrpSpPr>
          <p:cNvPr id="462" name="Google Shape;462;p27"/>
          <p:cNvGrpSpPr/>
          <p:nvPr/>
        </p:nvGrpSpPr>
        <p:grpSpPr>
          <a:xfrm>
            <a:off x="1413525" y="1759900"/>
            <a:ext cx="506100" cy="2444350"/>
            <a:chOff x="1413525" y="1759900"/>
            <a:chExt cx="506100" cy="2444350"/>
          </a:xfrm>
        </p:grpSpPr>
        <p:cxnSp>
          <p:nvCxnSpPr>
            <p:cNvPr id="463" name="Google Shape;463;p27"/>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464" name="Google Shape;464;p27"/>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dirty="0"/>
              <a:t>Review of what we’ve learned - functions</a:t>
            </a:r>
            <a:endParaRPr sz="2200" dirty="0"/>
          </a:p>
        </p:txBody>
      </p:sp>
      <p:sp>
        <p:nvSpPr>
          <p:cNvPr id="477" name="Google Shape;477;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1800" dirty="0"/>
              <a:t>A </a:t>
            </a:r>
            <a:r>
              <a:rPr lang="en" sz="1800" dirty="0">
                <a:solidFill>
                  <a:schemeClr val="accent6"/>
                </a:solidFill>
              </a:rPr>
              <a:t>function</a:t>
            </a:r>
            <a:r>
              <a:rPr lang="en" sz="1800" dirty="0"/>
              <a:t> is a piece of program wrapped in a value – a reusable code block – that can be called by code outside the function itself</a:t>
            </a:r>
          </a:p>
          <a:p>
            <a:pPr marL="0" lvl="0" indent="0" algn="l" rtl="0">
              <a:spcBef>
                <a:spcPts val="0"/>
              </a:spcBef>
              <a:spcAft>
                <a:spcPts val="1200"/>
              </a:spcAft>
              <a:buNone/>
            </a:pPr>
            <a:r>
              <a:rPr lang="en" sz="1800" dirty="0"/>
              <a:t>The </a:t>
            </a:r>
            <a:r>
              <a:rPr lang="en" sz="1800" dirty="0">
                <a:solidFill>
                  <a:schemeClr val="accent6"/>
                </a:solidFill>
              </a:rPr>
              <a:t>function body </a:t>
            </a:r>
            <a:r>
              <a:rPr lang="en" sz="1800" dirty="0"/>
              <a:t>contains the sequence of code statements to be executed when the function is called</a:t>
            </a:r>
          </a:p>
          <a:p>
            <a:pPr marL="0" lvl="0" indent="0" algn="l" rtl="0">
              <a:spcBef>
                <a:spcPts val="0"/>
              </a:spcBef>
              <a:spcAft>
                <a:spcPts val="1200"/>
              </a:spcAft>
              <a:buNone/>
            </a:pPr>
            <a:r>
              <a:rPr lang="en" sz="1800" dirty="0"/>
              <a:t>We </a:t>
            </a:r>
            <a:r>
              <a:rPr lang="en" sz="1800" dirty="0">
                <a:solidFill>
                  <a:schemeClr val="accent6"/>
                </a:solidFill>
              </a:rPr>
              <a:t>execute</a:t>
            </a:r>
            <a:r>
              <a:rPr lang="en" sz="1800" dirty="0"/>
              <a:t> a function by putting </a:t>
            </a:r>
            <a:r>
              <a:rPr lang="en" sz="1800" dirty="0">
                <a:solidFill>
                  <a:schemeClr val="accent6"/>
                </a:solidFill>
              </a:rPr>
              <a:t>parentheses</a:t>
            </a:r>
            <a:r>
              <a:rPr lang="en" sz="1800" dirty="0"/>
              <a:t> after an expression that produces a function value</a:t>
            </a:r>
            <a:endParaRPr sz="18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5">
          <a:extLst>
            <a:ext uri="{FF2B5EF4-FFF2-40B4-BE49-F238E27FC236}">
              <a16:creationId xmlns:a16="http://schemas.microsoft.com/office/drawing/2014/main" id="{E5D01A11-6C00-10BC-8F22-3F474FC2A519}"/>
            </a:ext>
          </a:extLst>
        </p:cNvPr>
        <p:cNvGrpSpPr/>
        <p:nvPr/>
      </p:nvGrpSpPr>
      <p:grpSpPr>
        <a:xfrm>
          <a:off x="0" y="0"/>
          <a:ext cx="0" cy="0"/>
          <a:chOff x="0" y="0"/>
          <a:chExt cx="0" cy="0"/>
        </a:xfrm>
      </p:grpSpPr>
      <p:sp>
        <p:nvSpPr>
          <p:cNvPr id="476" name="Google Shape;476;p29">
            <a:extLst>
              <a:ext uri="{FF2B5EF4-FFF2-40B4-BE49-F238E27FC236}">
                <a16:creationId xmlns:a16="http://schemas.microsoft.com/office/drawing/2014/main" id="{60AA01EF-8FB0-1E57-BCF3-A408CFE89B56}"/>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dirty="0"/>
              <a:t>Functions – review (cont’d)</a:t>
            </a:r>
            <a:endParaRPr sz="2200" dirty="0"/>
          </a:p>
        </p:txBody>
      </p:sp>
      <p:sp>
        <p:nvSpPr>
          <p:cNvPr id="477" name="Google Shape;477;p29">
            <a:extLst>
              <a:ext uri="{FF2B5EF4-FFF2-40B4-BE49-F238E27FC236}">
                <a16:creationId xmlns:a16="http://schemas.microsoft.com/office/drawing/2014/main" id="{7E83312C-6685-8067-D4C9-C710B911568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000" dirty="0"/>
              <a:t>Any bindings in the parentheses following a function are called </a:t>
            </a:r>
            <a:r>
              <a:rPr lang="en" sz="2000" dirty="0">
                <a:solidFill>
                  <a:schemeClr val="accent6"/>
                </a:solidFill>
              </a:rPr>
              <a:t>parameters</a:t>
            </a:r>
            <a:r>
              <a:rPr lang="en" sz="2000" dirty="0"/>
              <a:t> (there might not be any)</a:t>
            </a:r>
          </a:p>
          <a:p>
            <a:pPr marL="0" lvl="0" indent="0" algn="l" rtl="0">
              <a:spcBef>
                <a:spcPts val="0"/>
              </a:spcBef>
              <a:spcAft>
                <a:spcPts val="1200"/>
              </a:spcAft>
              <a:buNone/>
            </a:pPr>
            <a:r>
              <a:rPr lang="en" sz="2000" dirty="0"/>
              <a:t>Values are supplied for those bindings when calling the function – those values are called </a:t>
            </a:r>
            <a:r>
              <a:rPr lang="en" sz="2000" dirty="0">
                <a:solidFill>
                  <a:schemeClr val="accent6"/>
                </a:solidFill>
              </a:rPr>
              <a:t>arguments</a:t>
            </a:r>
          </a:p>
          <a:p>
            <a:pPr marL="0" lvl="0" indent="0" algn="l" rtl="0">
              <a:spcBef>
                <a:spcPts val="0"/>
              </a:spcBef>
              <a:spcAft>
                <a:spcPts val="1200"/>
              </a:spcAft>
              <a:buNone/>
            </a:pPr>
            <a:r>
              <a:rPr lang="en" sz="2000" dirty="0"/>
              <a:t>Arguments in a function do not all need to be the same data type</a:t>
            </a:r>
            <a:endParaRPr sz="2000" dirty="0">
              <a:solidFill>
                <a:schemeClr val="accent6"/>
              </a:solidFill>
            </a:endParaRPr>
          </a:p>
        </p:txBody>
      </p:sp>
    </p:spTree>
    <p:extLst>
      <p:ext uri="{BB962C8B-B14F-4D97-AF65-F5344CB8AC3E}">
        <p14:creationId xmlns:p14="http://schemas.microsoft.com/office/powerpoint/2010/main" val="414741711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56">
          <a:extLst>
            <a:ext uri="{FF2B5EF4-FFF2-40B4-BE49-F238E27FC236}">
              <a16:creationId xmlns:a16="http://schemas.microsoft.com/office/drawing/2014/main" id="{D1450E7E-113B-F884-16BC-FF6709945B1D}"/>
            </a:ext>
          </a:extLst>
        </p:cNvPr>
        <p:cNvGrpSpPr/>
        <p:nvPr/>
      </p:nvGrpSpPr>
      <p:grpSpPr>
        <a:xfrm>
          <a:off x="0" y="0"/>
          <a:ext cx="0" cy="0"/>
          <a:chOff x="0" y="0"/>
          <a:chExt cx="0" cy="0"/>
        </a:xfrm>
      </p:grpSpPr>
      <p:sp>
        <p:nvSpPr>
          <p:cNvPr id="557" name="Google Shape;557;p39">
            <a:extLst>
              <a:ext uri="{FF2B5EF4-FFF2-40B4-BE49-F238E27FC236}">
                <a16:creationId xmlns:a16="http://schemas.microsoft.com/office/drawing/2014/main" id="{E2206415-D706-8995-5721-B016CEDFD9F0}"/>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Functions as first-class objects</a:t>
            </a:r>
            <a:endParaRPr dirty="0"/>
          </a:p>
        </p:txBody>
      </p:sp>
      <p:sp>
        <p:nvSpPr>
          <p:cNvPr id="558" name="Google Shape;558;p39">
            <a:extLst>
              <a:ext uri="{FF2B5EF4-FFF2-40B4-BE49-F238E27FC236}">
                <a16:creationId xmlns:a16="http://schemas.microsoft.com/office/drawing/2014/main" id="{B53985DB-5B75-C35B-0184-0A3EC14CD68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In JavaScript, a function is a first-class object</a:t>
            </a:r>
            <a:endParaRPr sz="2000" dirty="0"/>
          </a:p>
          <a:p>
            <a:pPr marL="457200" lvl="0" indent="-342900" algn="l" rtl="0">
              <a:spcBef>
                <a:spcPts val="1200"/>
              </a:spcBef>
              <a:spcAft>
                <a:spcPts val="0"/>
              </a:spcAft>
              <a:buSzPts val="1800"/>
              <a:buChar char="-"/>
            </a:pPr>
            <a:r>
              <a:rPr lang="en-US" sz="1800" dirty="0"/>
              <a:t>This means a function can be passed to other functions, returned from functions, and assigned to variables and properties</a:t>
            </a:r>
          </a:p>
          <a:p>
            <a:pPr marL="457200" lvl="0" indent="-342900" algn="l" rtl="0">
              <a:spcBef>
                <a:spcPts val="1200"/>
              </a:spcBef>
              <a:spcAft>
                <a:spcPts val="0"/>
              </a:spcAft>
              <a:buSzPts val="1800"/>
              <a:buChar char="-"/>
            </a:pPr>
            <a:r>
              <a:rPr lang="en-US" sz="1800" dirty="0"/>
              <a:t>A function can also have properties and methods like any other object</a:t>
            </a:r>
            <a:endParaRPr sz="1800" dirty="0"/>
          </a:p>
          <a:p>
            <a:pPr marL="914400" lvl="1" indent="-330200" algn="l" rtl="0">
              <a:spcBef>
                <a:spcPts val="1000"/>
              </a:spcBef>
              <a:spcAft>
                <a:spcPts val="0"/>
              </a:spcAft>
              <a:buSzPts val="1600"/>
              <a:buChar char="-"/>
            </a:pPr>
            <a:r>
              <a:rPr lang="en" sz="1600" dirty="0"/>
              <a:t>The difference between functions and other objects is that functions can be called</a:t>
            </a:r>
          </a:p>
        </p:txBody>
      </p:sp>
    </p:spTree>
    <p:extLst>
      <p:ext uri="{BB962C8B-B14F-4D97-AF65-F5344CB8AC3E}">
        <p14:creationId xmlns:p14="http://schemas.microsoft.com/office/powerpoint/2010/main" val="384815604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56">
          <a:extLst>
            <a:ext uri="{FF2B5EF4-FFF2-40B4-BE49-F238E27FC236}">
              <a16:creationId xmlns:a16="http://schemas.microsoft.com/office/drawing/2014/main" id="{68AEE2E1-E47B-1AA2-80E7-122917723A11}"/>
            </a:ext>
          </a:extLst>
        </p:cNvPr>
        <p:cNvGrpSpPr/>
        <p:nvPr/>
      </p:nvGrpSpPr>
      <p:grpSpPr>
        <a:xfrm>
          <a:off x="0" y="0"/>
          <a:ext cx="0" cy="0"/>
          <a:chOff x="0" y="0"/>
          <a:chExt cx="0" cy="0"/>
        </a:xfrm>
      </p:grpSpPr>
      <p:sp>
        <p:nvSpPr>
          <p:cNvPr id="557" name="Google Shape;557;p39">
            <a:extLst>
              <a:ext uri="{FF2B5EF4-FFF2-40B4-BE49-F238E27FC236}">
                <a16:creationId xmlns:a16="http://schemas.microsoft.com/office/drawing/2014/main" id="{9430661D-7EFA-4065-658F-42C499388B03}"/>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Defining functions</a:t>
            </a:r>
            <a:endParaRPr dirty="0"/>
          </a:p>
        </p:txBody>
      </p:sp>
      <p:sp>
        <p:nvSpPr>
          <p:cNvPr id="558" name="Google Shape;558;p39">
            <a:extLst>
              <a:ext uri="{FF2B5EF4-FFF2-40B4-BE49-F238E27FC236}">
                <a16:creationId xmlns:a16="http://schemas.microsoft.com/office/drawing/2014/main" id="{F465FE33-BE2E-A7E3-56D9-7E5409AF630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JavaScript has several ways to define a function</a:t>
            </a:r>
            <a:endParaRPr sz="2000" dirty="0"/>
          </a:p>
          <a:p>
            <a:pPr marL="457200" lvl="0" indent="-342900" algn="l" rtl="0">
              <a:spcBef>
                <a:spcPts val="1200"/>
              </a:spcBef>
              <a:spcAft>
                <a:spcPts val="0"/>
              </a:spcAft>
              <a:buSzPts val="1800"/>
              <a:buChar char="-"/>
            </a:pPr>
            <a:r>
              <a:rPr lang="en-US" sz="1800" dirty="0"/>
              <a:t>Function declaration</a:t>
            </a:r>
          </a:p>
          <a:p>
            <a:pPr marL="457200" lvl="0" indent="-342900" algn="l" rtl="0">
              <a:spcBef>
                <a:spcPts val="1200"/>
              </a:spcBef>
              <a:spcAft>
                <a:spcPts val="0"/>
              </a:spcAft>
              <a:buSzPts val="1800"/>
              <a:buChar char="-"/>
            </a:pPr>
            <a:r>
              <a:rPr lang="en-US" sz="1800" dirty="0"/>
              <a:t>Function expression</a:t>
            </a:r>
          </a:p>
          <a:p>
            <a:pPr marL="457200" lvl="0" indent="-342900" algn="l" rtl="0">
              <a:spcBef>
                <a:spcPts val="1200"/>
              </a:spcBef>
              <a:spcAft>
                <a:spcPts val="0"/>
              </a:spcAft>
              <a:buSzPts val="1800"/>
              <a:buChar char="-"/>
            </a:pPr>
            <a:r>
              <a:rPr lang="en-US" sz="1800" dirty="0"/>
              <a:t>Arrow function</a:t>
            </a:r>
          </a:p>
          <a:p>
            <a:pPr marL="457200" lvl="0" indent="-342900" algn="l" rtl="0">
              <a:spcBef>
                <a:spcPts val="1200"/>
              </a:spcBef>
              <a:spcAft>
                <a:spcPts val="0"/>
              </a:spcAft>
              <a:buSzPts val="1800"/>
              <a:buChar char="-"/>
            </a:pPr>
            <a:r>
              <a:rPr lang="en-US" sz="1800" dirty="0"/>
              <a:t>Method (covered when we discussed objects)</a:t>
            </a:r>
          </a:p>
          <a:p>
            <a:pPr marL="457200" lvl="0" indent="-342900" algn="l" rtl="0">
              <a:spcBef>
                <a:spcPts val="1200"/>
              </a:spcBef>
              <a:spcAft>
                <a:spcPts val="0"/>
              </a:spcAft>
              <a:buSzPts val="1800"/>
              <a:buChar char="-"/>
            </a:pPr>
            <a:r>
              <a:rPr lang="en-US" sz="1800" dirty="0"/>
              <a:t>Function constructor (rarely used)</a:t>
            </a:r>
            <a:endParaRPr lang="en" sz="1600" dirty="0"/>
          </a:p>
        </p:txBody>
      </p:sp>
    </p:spTree>
    <p:extLst>
      <p:ext uri="{BB962C8B-B14F-4D97-AF65-F5344CB8AC3E}">
        <p14:creationId xmlns:p14="http://schemas.microsoft.com/office/powerpoint/2010/main" val="174918326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declaration</a:t>
            </a:r>
            <a:endParaRPr dirty="0"/>
          </a:p>
        </p:txBody>
      </p:sp>
      <p:sp>
        <p:nvSpPr>
          <p:cNvPr id="483" name="Google Shape;483;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declaration - when a function is defined using the function keyword followed by a function name with a set of parentheses right afterward</a:t>
            </a:r>
            <a:endParaRPr sz="2000" dirty="0"/>
          </a:p>
          <a:p>
            <a:pPr marL="457200" lvl="0" indent="-355600" algn="l" rtl="0">
              <a:spcBef>
                <a:spcPts val="1200"/>
              </a:spcBef>
              <a:spcAft>
                <a:spcPts val="0"/>
              </a:spcAft>
              <a:buSzPts val="2000"/>
              <a:buChar char="-"/>
            </a:pPr>
            <a:r>
              <a:rPr lang="en-US" sz="1800" dirty="0"/>
              <a:t>function multiply(x, y) {</a:t>
            </a:r>
            <a:br>
              <a:rPr lang="en-US" sz="1800" dirty="0"/>
            </a:br>
            <a:r>
              <a:rPr lang="en-US" sz="1800" dirty="0"/>
              <a:t>  return x * y;</a:t>
            </a:r>
            <a:br>
              <a:rPr lang="en-US" sz="1800" dirty="0"/>
            </a:br>
            <a:r>
              <a:rPr lang="en-US" sz="1800" dirty="0"/>
              <a: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610D6F68-E996-95FF-2FF1-C421FDB810E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59C4B648-FCA0-9D79-FE47-479379F4C15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declaration (cont’d)</a:t>
            </a:r>
            <a:endParaRPr dirty="0"/>
          </a:p>
        </p:txBody>
      </p:sp>
      <p:sp>
        <p:nvSpPr>
          <p:cNvPr id="483" name="Google Shape;483;p30">
            <a:extLst>
              <a:ext uri="{FF2B5EF4-FFF2-40B4-BE49-F238E27FC236}">
                <a16:creationId xmlns:a16="http://schemas.microsoft.com/office/drawing/2014/main" id="{B50BB788-1322-A5F3-B661-6C808714B477}"/>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declarations are called using the name of the function followed immediately by a set of parentheses, either empty or containing arguments</a:t>
            </a:r>
            <a:endParaRPr sz="2000" dirty="0"/>
          </a:p>
          <a:p>
            <a:pPr marL="457200" lvl="0" indent="-355600" algn="l" rtl="0">
              <a:spcBef>
                <a:spcPts val="1200"/>
              </a:spcBef>
              <a:spcAft>
                <a:spcPts val="0"/>
              </a:spcAft>
              <a:buSzPts val="2000"/>
              <a:buChar char="-"/>
            </a:pPr>
            <a:r>
              <a:rPr lang="en-US" sz="1800" dirty="0"/>
              <a:t>multiply(6, 5);</a:t>
            </a:r>
            <a:endParaRPr sz="2000" dirty="0"/>
          </a:p>
        </p:txBody>
      </p:sp>
    </p:spTree>
    <p:extLst>
      <p:ext uri="{BB962C8B-B14F-4D97-AF65-F5344CB8AC3E}">
        <p14:creationId xmlns:p14="http://schemas.microsoft.com/office/powerpoint/2010/main" val="6003144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7F362984-47D0-229B-96C9-493DC46AFAE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5C642452-1EDF-673C-33EF-EFF8B37A1C7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expression</a:t>
            </a:r>
            <a:endParaRPr dirty="0"/>
          </a:p>
        </p:txBody>
      </p:sp>
      <p:sp>
        <p:nvSpPr>
          <p:cNvPr id="483" name="Google Shape;483;p30">
            <a:extLst>
              <a:ext uri="{FF2B5EF4-FFF2-40B4-BE49-F238E27FC236}">
                <a16:creationId xmlns:a16="http://schemas.microsoft.com/office/drawing/2014/main" id="{2EC1AC02-BEE9-2B6A-2C26-CF5E9BA258B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Function expression – when a function is defined within an expression </a:t>
            </a:r>
            <a:endParaRPr sz="2000" dirty="0"/>
          </a:p>
          <a:p>
            <a:pPr marL="457200" lvl="0" indent="-355600" algn="l" rtl="0">
              <a:spcBef>
                <a:spcPts val="1200"/>
              </a:spcBef>
              <a:spcAft>
                <a:spcPts val="0"/>
              </a:spcAft>
              <a:buSzPts val="2000"/>
              <a:buChar char="-"/>
            </a:pPr>
            <a:r>
              <a:rPr lang="en-US" sz="1800" dirty="0"/>
              <a:t>Example – when a function is assigned to a variable</a:t>
            </a:r>
          </a:p>
          <a:p>
            <a:pPr lvl="1" indent="-355600">
              <a:spcBef>
                <a:spcPts val="1200"/>
              </a:spcBef>
              <a:buSzPts val="2000"/>
              <a:buChar char="-"/>
            </a:pPr>
            <a:r>
              <a:rPr lang="en-US" sz="1600" dirty="0"/>
              <a:t>let multiply = function(x, y) {</a:t>
            </a:r>
            <a:br>
              <a:rPr lang="en-US" sz="1600" dirty="0"/>
            </a:br>
            <a:r>
              <a:rPr lang="en-US" sz="1600" dirty="0"/>
              <a:t>  return x * y;</a:t>
            </a:r>
            <a:br>
              <a:rPr lang="en-US" sz="1600" dirty="0"/>
            </a:br>
            <a:r>
              <a:rPr lang="en-US" sz="1600" dirty="0"/>
              <a:t>}</a:t>
            </a:r>
          </a:p>
          <a:p>
            <a:pPr indent="-355600">
              <a:spcBef>
                <a:spcPts val="1200"/>
              </a:spcBef>
              <a:buSzPts val="2000"/>
              <a:buChar char="-"/>
            </a:pPr>
            <a:r>
              <a:rPr lang="en-US" sz="1800" dirty="0"/>
              <a:t>Call using the name of the variable to which the function was assigned</a:t>
            </a:r>
          </a:p>
          <a:p>
            <a:pPr lvl="1" indent="-355600">
              <a:spcBef>
                <a:spcPts val="1200"/>
              </a:spcBef>
              <a:buSzPts val="2000"/>
              <a:buChar char="-"/>
            </a:pPr>
            <a:r>
              <a:rPr lang="en-US" sz="1600" dirty="0"/>
              <a:t>multiply(5,6);</a:t>
            </a:r>
            <a:endParaRPr sz="1600" dirty="0"/>
          </a:p>
        </p:txBody>
      </p:sp>
    </p:spTree>
    <p:extLst>
      <p:ext uri="{BB962C8B-B14F-4D97-AF65-F5344CB8AC3E}">
        <p14:creationId xmlns:p14="http://schemas.microsoft.com/office/powerpoint/2010/main" val="280539795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2CEEA37-7E55-F6B2-1BCE-271772DA0D3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A33BEA4-D703-995D-B7E3-49C0A9E5A88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expression (cont’d)</a:t>
            </a:r>
            <a:endParaRPr dirty="0"/>
          </a:p>
        </p:txBody>
      </p:sp>
      <p:sp>
        <p:nvSpPr>
          <p:cNvPr id="483" name="Google Shape;483;p30">
            <a:extLst>
              <a:ext uri="{FF2B5EF4-FFF2-40B4-BE49-F238E27FC236}">
                <a16:creationId xmlns:a16="http://schemas.microsoft.com/office/drawing/2014/main" id="{3BEAE94B-D8D9-4194-95E4-2501526D8AAA}"/>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400" dirty="0"/>
              <a:t>Two types of function expression</a:t>
            </a:r>
            <a:endParaRPr sz="2400" dirty="0"/>
          </a:p>
          <a:p>
            <a:pPr marL="457200" lvl="0" indent="-355600" algn="l" rtl="0">
              <a:spcBef>
                <a:spcPts val="1200"/>
              </a:spcBef>
              <a:spcAft>
                <a:spcPts val="0"/>
              </a:spcAft>
              <a:buSzPts val="2000"/>
              <a:buChar char="-"/>
            </a:pPr>
            <a:r>
              <a:rPr lang="en-US" sz="2000" dirty="0"/>
              <a:t>Anonymous function</a:t>
            </a:r>
          </a:p>
          <a:p>
            <a:pPr marL="457200" lvl="0" indent="-355600" algn="l" rtl="0">
              <a:spcBef>
                <a:spcPts val="1200"/>
              </a:spcBef>
              <a:spcAft>
                <a:spcPts val="0"/>
              </a:spcAft>
              <a:buSzPts val="2000"/>
              <a:buChar char="-"/>
            </a:pPr>
            <a:r>
              <a:rPr lang="en-US" sz="2000" dirty="0"/>
              <a:t>Named function</a:t>
            </a:r>
          </a:p>
        </p:txBody>
      </p:sp>
    </p:spTree>
    <p:extLst>
      <p:ext uri="{BB962C8B-B14F-4D97-AF65-F5344CB8AC3E}">
        <p14:creationId xmlns:p14="http://schemas.microsoft.com/office/powerpoint/2010/main" val="363529517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6B00E3EF-D01C-1196-7B9E-985399A964CF}"/>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FE12838-B34E-CA3C-092E-6F3C4303D7D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Anonymous function</a:t>
            </a:r>
            <a:endParaRPr dirty="0"/>
          </a:p>
        </p:txBody>
      </p:sp>
      <p:sp>
        <p:nvSpPr>
          <p:cNvPr id="483" name="Google Shape;483;p30">
            <a:extLst>
              <a:ext uri="{FF2B5EF4-FFF2-40B4-BE49-F238E27FC236}">
                <a16:creationId xmlns:a16="http://schemas.microsoft.com/office/drawing/2014/main" id="{3ED57C1A-BE23-2FD7-BD01-84C55B8940E7}"/>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An </a:t>
            </a:r>
            <a:r>
              <a:rPr lang="en-US" sz="2000" dirty="0">
                <a:solidFill>
                  <a:schemeClr val="accent6"/>
                </a:solidFill>
              </a:rPr>
              <a:t>anonymous</a:t>
            </a:r>
            <a:r>
              <a:rPr lang="en-US" sz="2000" dirty="0"/>
              <a:t> function is a function expression where the name is omitted</a:t>
            </a:r>
            <a:endParaRPr sz="2000" dirty="0"/>
          </a:p>
          <a:p>
            <a:pPr marL="457200" lvl="0" indent="-355600" algn="l" rtl="0">
              <a:spcBef>
                <a:spcPts val="1200"/>
              </a:spcBef>
              <a:spcAft>
                <a:spcPts val="0"/>
              </a:spcAft>
              <a:buSzPts val="2000"/>
              <a:buChar char="-"/>
            </a:pPr>
            <a:r>
              <a:rPr lang="en-US" sz="1800" dirty="0"/>
              <a:t>Most commonly used type of function expression</a:t>
            </a:r>
          </a:p>
          <a:p>
            <a:pPr marL="457200" lvl="0" indent="-355600" algn="l" rtl="0">
              <a:spcBef>
                <a:spcPts val="1200"/>
              </a:spcBef>
              <a:spcAft>
                <a:spcPts val="0"/>
              </a:spcAft>
              <a:buSzPts val="2000"/>
              <a:buChar char="-"/>
            </a:pPr>
            <a:r>
              <a:rPr lang="en-US" sz="1800" dirty="0"/>
              <a:t>let greeting = </a:t>
            </a:r>
            <a:r>
              <a:rPr lang="en-US" sz="1800" dirty="0">
                <a:solidFill>
                  <a:schemeClr val="accent6"/>
                </a:solidFill>
              </a:rPr>
              <a:t>function(name) </a:t>
            </a:r>
            <a:r>
              <a:rPr lang="en-US" sz="1800" dirty="0"/>
              <a:t>{</a:t>
            </a:r>
            <a:br>
              <a:rPr lang="en-US" sz="1800" dirty="0"/>
            </a:br>
            <a:r>
              <a:rPr lang="en-US" sz="1800" dirty="0"/>
              <a:t>  console.log(`Hello ${name}.`);</a:t>
            </a:r>
            <a:br>
              <a:rPr lang="en-US" sz="1800" dirty="0"/>
            </a:br>
            <a:r>
              <a:rPr lang="en-US" sz="1800" dirty="0"/>
              <a:t>};</a:t>
            </a:r>
          </a:p>
          <a:p>
            <a:pPr marL="457200" lvl="0" indent="-355600" algn="l" rtl="0">
              <a:spcBef>
                <a:spcPts val="1200"/>
              </a:spcBef>
              <a:spcAft>
                <a:spcPts val="0"/>
              </a:spcAft>
              <a:buSzPts val="2000"/>
              <a:buChar char="-"/>
            </a:pPr>
            <a:r>
              <a:rPr lang="en-US" sz="1800" dirty="0"/>
              <a:t>The name cannot be omitted in a function declaration, only in a function expression</a:t>
            </a:r>
          </a:p>
        </p:txBody>
      </p:sp>
    </p:spTree>
    <p:extLst>
      <p:ext uri="{BB962C8B-B14F-4D97-AF65-F5344CB8AC3E}">
        <p14:creationId xmlns:p14="http://schemas.microsoft.com/office/powerpoint/2010/main" val="40723258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34D67684-FA0E-5002-9FF0-35C5A664233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E096DABA-925C-F07D-4257-8B4B6509AB20}"/>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Named function</a:t>
            </a:r>
            <a:endParaRPr dirty="0"/>
          </a:p>
        </p:txBody>
      </p:sp>
      <p:sp>
        <p:nvSpPr>
          <p:cNvPr id="483" name="Google Shape;483;p30">
            <a:extLst>
              <a:ext uri="{FF2B5EF4-FFF2-40B4-BE49-F238E27FC236}">
                <a16:creationId xmlns:a16="http://schemas.microsoft.com/office/drawing/2014/main" id="{BBB12452-2F01-CFD1-5A9E-2DA25A30FFA2}"/>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A </a:t>
            </a:r>
            <a:r>
              <a:rPr lang="en-US" sz="2000" dirty="0">
                <a:solidFill>
                  <a:schemeClr val="accent6"/>
                </a:solidFill>
              </a:rPr>
              <a:t>named</a:t>
            </a:r>
            <a:r>
              <a:rPr lang="en-US" sz="2000" dirty="0"/>
              <a:t> function is a function expression where the name is not omitted</a:t>
            </a:r>
            <a:endParaRPr sz="2000" dirty="0"/>
          </a:p>
          <a:p>
            <a:pPr marL="457200" lvl="0" indent="-355600" algn="l" rtl="0">
              <a:spcBef>
                <a:spcPts val="1200"/>
              </a:spcBef>
              <a:spcAft>
                <a:spcPts val="0"/>
              </a:spcAft>
              <a:buSzPts val="2000"/>
              <a:buChar char="-"/>
            </a:pPr>
            <a:r>
              <a:rPr lang="en-US" sz="1800" dirty="0"/>
              <a:t>Used so the function can be called within itself</a:t>
            </a:r>
          </a:p>
          <a:p>
            <a:pPr marL="457200" lvl="0" indent="-355600" algn="l" rtl="0">
              <a:spcBef>
                <a:spcPts val="1200"/>
              </a:spcBef>
              <a:spcAft>
                <a:spcPts val="0"/>
              </a:spcAft>
              <a:buSzPts val="2000"/>
              <a:buChar char="-"/>
            </a:pPr>
            <a:r>
              <a:rPr lang="en-US" sz="1800" dirty="0"/>
              <a:t>Mainly used for recursion (a later topic)</a:t>
            </a:r>
          </a:p>
          <a:p>
            <a:pPr marL="457200" lvl="0" indent="-355600" algn="l" rtl="0">
              <a:spcBef>
                <a:spcPts val="1200"/>
              </a:spcBef>
              <a:spcAft>
                <a:spcPts val="0"/>
              </a:spcAft>
              <a:buSzPts val="2000"/>
              <a:buChar char="-"/>
            </a:pPr>
            <a:r>
              <a:rPr lang="en-US" sz="1800" dirty="0"/>
              <a:t>let greeting = </a:t>
            </a:r>
            <a:r>
              <a:rPr lang="en-US" sz="1800" dirty="0">
                <a:solidFill>
                  <a:schemeClr val="accent6"/>
                </a:solidFill>
              </a:rPr>
              <a:t>function greet(name)</a:t>
            </a:r>
            <a:r>
              <a:rPr lang="en-US" sz="1800" dirty="0"/>
              <a:t> {</a:t>
            </a:r>
            <a:br>
              <a:rPr lang="en-US" sz="1800" dirty="0"/>
            </a:br>
            <a:r>
              <a:rPr lang="en-US" sz="1800" dirty="0"/>
              <a:t>  console.log(`Hello ${name}.`);</a:t>
            </a:r>
            <a:br>
              <a:rPr lang="en-US" sz="1800" dirty="0"/>
            </a:br>
            <a:r>
              <a:rPr lang="en-US" sz="1800" dirty="0"/>
              <a:t>};</a:t>
            </a:r>
          </a:p>
        </p:txBody>
      </p:sp>
    </p:spTree>
    <p:extLst>
      <p:ext uri="{BB962C8B-B14F-4D97-AF65-F5344CB8AC3E}">
        <p14:creationId xmlns:p14="http://schemas.microsoft.com/office/powerpoint/2010/main" val="277370900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0C2F02E9-7BC0-BBF9-68FC-0206BF7D7D69}"/>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CAC5006C-5CF4-6BA3-5656-EF1E3C14247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a:t>
            </a:r>
            <a:endParaRPr dirty="0"/>
          </a:p>
        </p:txBody>
      </p:sp>
      <p:sp>
        <p:nvSpPr>
          <p:cNvPr id="483" name="Google Shape;483;p30">
            <a:extLst>
              <a:ext uri="{FF2B5EF4-FFF2-40B4-BE49-F238E27FC236}">
                <a16:creationId xmlns:a16="http://schemas.microsoft.com/office/drawing/2014/main" id="{258F67A5-A211-EEF2-8D43-137FB3EA630E}"/>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1800" dirty="0"/>
              <a:t>An arrow function is a function expression that does not use the function keyword but instead uses an arrow =&gt; placed between the list of parameters and the opening curly brace</a:t>
            </a:r>
            <a:endParaRPr sz="1800" dirty="0"/>
          </a:p>
          <a:p>
            <a:pPr marL="457200" lvl="0" indent="-355600" algn="l" rtl="0">
              <a:spcBef>
                <a:spcPts val="1200"/>
              </a:spcBef>
              <a:spcAft>
                <a:spcPts val="0"/>
              </a:spcAft>
              <a:buSzPts val="2000"/>
              <a:buChar char="-"/>
            </a:pPr>
            <a:r>
              <a:rPr lang="en-US" sz="1600" dirty="0"/>
              <a:t>const multiply = </a:t>
            </a:r>
            <a:r>
              <a:rPr lang="en-US" sz="1600" dirty="0">
                <a:solidFill>
                  <a:schemeClr val="accent6"/>
                </a:solidFill>
              </a:rPr>
              <a:t>(x, y) =&gt; {</a:t>
            </a:r>
            <a:br>
              <a:rPr lang="en-US" sz="1600" dirty="0">
                <a:solidFill>
                  <a:schemeClr val="accent6"/>
                </a:solidFill>
              </a:rPr>
            </a:br>
            <a:r>
              <a:rPr lang="en-US" sz="1600" dirty="0"/>
              <a:t>  return x * y;</a:t>
            </a:r>
            <a:br>
              <a:rPr lang="en-US" sz="1600" dirty="0"/>
            </a:br>
            <a:r>
              <a:rPr lang="en-US" sz="1600" dirty="0"/>
              <a:t>};</a:t>
            </a:r>
            <a:br>
              <a:rPr lang="en-US" sz="1600" dirty="0"/>
            </a:br>
            <a:r>
              <a:rPr lang="en-US" sz="1600" dirty="0">
                <a:solidFill>
                  <a:srgbClr val="00B050"/>
                </a:solidFill>
              </a:rPr>
              <a:t>// same as</a:t>
            </a:r>
            <a:br>
              <a:rPr lang="en-US" sz="1600" dirty="0"/>
            </a:br>
            <a:r>
              <a:rPr lang="en-US" sz="1600" dirty="0"/>
              <a:t>const multiply = </a:t>
            </a:r>
            <a:r>
              <a:rPr lang="en-US" sz="1600" dirty="0">
                <a:solidFill>
                  <a:schemeClr val="accent6"/>
                </a:solidFill>
              </a:rPr>
              <a:t>function(x, y) {</a:t>
            </a:r>
            <a:br>
              <a:rPr lang="en-US" sz="1600" dirty="0">
                <a:solidFill>
                  <a:schemeClr val="accent6"/>
                </a:solidFill>
              </a:rPr>
            </a:br>
            <a:r>
              <a:rPr lang="en-US" sz="1600" dirty="0"/>
              <a:t>  return x * y;</a:t>
            </a:r>
            <a:br>
              <a:rPr lang="en-US" sz="1600" dirty="0"/>
            </a:br>
            <a:r>
              <a:rPr lang="en-US" sz="1600" dirty="0"/>
              <a:t>}</a:t>
            </a:r>
          </a:p>
        </p:txBody>
      </p:sp>
    </p:spTree>
    <p:extLst>
      <p:ext uri="{BB962C8B-B14F-4D97-AF65-F5344CB8AC3E}">
        <p14:creationId xmlns:p14="http://schemas.microsoft.com/office/powerpoint/2010/main" val="10095530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021EB66-D360-A3EA-EE8F-AA01D9E5753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6D39C3E4-36A1-9CC4-7F05-863E61E81E9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F6D0C250-4FB8-2095-A7EF-CBAABD794F83}"/>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55600" algn="l" rtl="0">
              <a:spcBef>
                <a:spcPts val="1200"/>
              </a:spcBef>
              <a:spcAft>
                <a:spcPts val="0"/>
              </a:spcAft>
              <a:buSzPts val="2000"/>
              <a:buChar char="-"/>
            </a:pPr>
            <a:r>
              <a:rPr lang="en-US" sz="2000" dirty="0"/>
              <a:t>An arrow function must be anonymous</a:t>
            </a:r>
          </a:p>
          <a:p>
            <a:pPr marL="457200" lvl="0" indent="-355600" algn="l" rtl="0">
              <a:spcBef>
                <a:spcPts val="1200"/>
              </a:spcBef>
              <a:spcAft>
                <a:spcPts val="0"/>
              </a:spcAft>
              <a:buSzPts val="2000"/>
              <a:buChar char="-"/>
            </a:pPr>
            <a:r>
              <a:rPr lang="en-US" sz="2000" dirty="0"/>
              <a:t>If there is only one parameter, you can omit the parentheses around the parameter</a:t>
            </a:r>
          </a:p>
          <a:p>
            <a:pPr lvl="1" indent="-355600">
              <a:spcBef>
                <a:spcPts val="1200"/>
              </a:spcBef>
              <a:buSzPts val="2000"/>
              <a:buChar char="-"/>
            </a:pPr>
            <a:r>
              <a:rPr lang="en-US" sz="1800" dirty="0"/>
              <a:t>const square1 = (x) { return x * x };</a:t>
            </a:r>
          </a:p>
          <a:p>
            <a:pPr lvl="1" indent="-355600">
              <a:spcBef>
                <a:spcPts val="1200"/>
              </a:spcBef>
              <a:buSzPts val="2000"/>
              <a:buChar char="-"/>
            </a:pPr>
            <a:r>
              <a:rPr lang="en-US" sz="1800" dirty="0"/>
              <a:t>const square2 = x =&gt; { return x * x };</a:t>
            </a:r>
          </a:p>
        </p:txBody>
      </p:sp>
    </p:spTree>
    <p:extLst>
      <p:ext uri="{BB962C8B-B14F-4D97-AF65-F5344CB8AC3E}">
        <p14:creationId xmlns:p14="http://schemas.microsoft.com/office/powerpoint/2010/main" val="42824119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0B521F53-6902-224A-84F4-F46C7ACCF5F7}"/>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9F0AE9D-0421-9B94-2F06-BAFC0DDFEEAC}"/>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34504B76-1C24-3D38-4437-68670A62FABA}"/>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If the body is a single expression, the result of the expression is automatically returned from the function</a:t>
            </a:r>
          </a:p>
          <a:p>
            <a:pPr lvl="1" indent="-355600">
              <a:spcBef>
                <a:spcPts val="1200"/>
              </a:spcBef>
              <a:buSzPts val="2000"/>
              <a:buChar char="-"/>
            </a:pPr>
            <a:r>
              <a:rPr lang="en-US" sz="1800" dirty="0"/>
              <a:t>You can omit the return keyword and the curly braces</a:t>
            </a:r>
          </a:p>
          <a:p>
            <a:pPr lvl="1" indent="-355600">
              <a:spcBef>
                <a:spcPts val="1200"/>
              </a:spcBef>
              <a:buSzPts val="2000"/>
              <a:buChar char="-"/>
            </a:pPr>
            <a:r>
              <a:rPr lang="en-US" sz="1800" dirty="0"/>
              <a:t>const square3 = x =&gt; x * x;</a:t>
            </a:r>
          </a:p>
        </p:txBody>
      </p:sp>
    </p:spTree>
    <p:extLst>
      <p:ext uri="{BB962C8B-B14F-4D97-AF65-F5344CB8AC3E}">
        <p14:creationId xmlns:p14="http://schemas.microsoft.com/office/powerpoint/2010/main" val="72850926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B6044FAF-898F-56E7-114C-3010A7555614}"/>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736A6E34-3D74-BBA3-D733-DB62E14CCD21}"/>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Arrow function (cont’d)</a:t>
            </a:r>
            <a:endParaRPr dirty="0"/>
          </a:p>
        </p:txBody>
      </p:sp>
      <p:sp>
        <p:nvSpPr>
          <p:cNvPr id="483" name="Google Shape;483;p30">
            <a:extLst>
              <a:ext uri="{FF2B5EF4-FFF2-40B4-BE49-F238E27FC236}">
                <a16:creationId xmlns:a16="http://schemas.microsoft.com/office/drawing/2014/main" id="{695E4CC0-F996-DB52-3578-3D18279E9D1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If the arrow function has no parameters at all, the parameter list is just an empty set of parentheses</a:t>
            </a:r>
          </a:p>
          <a:p>
            <a:pPr lvl="1" indent="-355600">
              <a:spcBef>
                <a:spcPts val="1200"/>
              </a:spcBef>
              <a:buSzPts val="2000"/>
              <a:buChar char="-"/>
            </a:pPr>
            <a:r>
              <a:rPr lang="en-US" sz="1800" dirty="0"/>
              <a:t>const horn = () =&gt; {</a:t>
            </a:r>
            <a:br>
              <a:rPr lang="en-US" sz="1800" dirty="0"/>
            </a:br>
            <a:r>
              <a:rPr lang="en-US" sz="1800" dirty="0"/>
              <a:t>  console.log(“Toot”);</a:t>
            </a:r>
            <a:br>
              <a:rPr lang="en-US" sz="1800" dirty="0"/>
            </a:br>
            <a:r>
              <a:rPr lang="en-US" sz="1800" dirty="0"/>
              <a:t>};</a:t>
            </a:r>
          </a:p>
        </p:txBody>
      </p:sp>
    </p:spTree>
    <p:extLst>
      <p:ext uri="{BB962C8B-B14F-4D97-AF65-F5344CB8AC3E}">
        <p14:creationId xmlns:p14="http://schemas.microsoft.com/office/powerpoint/2010/main" val="176248073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110E623B-BE16-7F5E-D3BE-4C3EB9BD0835}"/>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E568B226-F8CC-D2EB-CFC6-F8EFE10E780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Optional arguments</a:t>
            </a:r>
            <a:endParaRPr dirty="0"/>
          </a:p>
        </p:txBody>
      </p:sp>
      <p:sp>
        <p:nvSpPr>
          <p:cNvPr id="483" name="Google Shape;483;p30">
            <a:extLst>
              <a:ext uri="{FF2B5EF4-FFF2-40B4-BE49-F238E27FC236}">
                <a16:creationId xmlns:a16="http://schemas.microsoft.com/office/drawing/2014/main" id="{967D3EE6-587F-5CBB-69AE-D967F30C86B1}"/>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r>
              <a:rPr lang="en-US" sz="1800" dirty="0"/>
              <a:t>A function can be called with more arguments or fewer arguments than there are parameters defined in the function declaration.</a:t>
            </a:r>
          </a:p>
          <a:p>
            <a:pPr indent="-355600">
              <a:spcBef>
                <a:spcPts val="1200"/>
              </a:spcBef>
              <a:buSzPts val="2000"/>
              <a:buChar char="-"/>
            </a:pPr>
            <a:r>
              <a:rPr lang="en-US" sz="1600" dirty="0"/>
              <a:t>If more, JavaScript will ignore the extra arguments and just use the arguments necessary for the parameters</a:t>
            </a:r>
          </a:p>
          <a:p>
            <a:pPr indent="-355600">
              <a:spcBef>
                <a:spcPts val="1200"/>
              </a:spcBef>
              <a:buSzPts val="2000"/>
              <a:buChar char="-"/>
            </a:pPr>
            <a:r>
              <a:rPr lang="en-US" sz="1600" dirty="0"/>
              <a:t>If fewer, the parameters missing arguments are assigned the value undefined</a:t>
            </a:r>
          </a:p>
          <a:p>
            <a:pPr indent="-355600">
              <a:spcBef>
                <a:spcPts val="1200"/>
              </a:spcBef>
              <a:buSzPts val="2000"/>
              <a:buChar char="-"/>
            </a:pPr>
            <a:endParaRPr lang="en-US" sz="1800" dirty="0"/>
          </a:p>
        </p:txBody>
      </p:sp>
    </p:spTree>
    <p:extLst>
      <p:ext uri="{BB962C8B-B14F-4D97-AF65-F5344CB8AC3E}">
        <p14:creationId xmlns:p14="http://schemas.microsoft.com/office/powerpoint/2010/main" val="37591909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E0654F2-5097-857A-59D8-F0B34AFBD21B}"/>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859E369D-5DEA-FCCD-6758-7D76181D844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Optional arguments</a:t>
            </a:r>
            <a:endParaRPr dirty="0"/>
          </a:p>
        </p:txBody>
      </p:sp>
      <p:sp>
        <p:nvSpPr>
          <p:cNvPr id="483" name="Google Shape;483;p30">
            <a:extLst>
              <a:ext uri="{FF2B5EF4-FFF2-40B4-BE49-F238E27FC236}">
                <a16:creationId xmlns:a16="http://schemas.microsoft.com/office/drawing/2014/main" id="{0B5605D6-0EDD-1AD3-5EE9-AD9E5FDBFEE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r>
              <a:rPr lang="en-US" sz="1800" dirty="0"/>
              <a:t>A function can be called with more arguments or fewer arguments than there are parameters defined in the function declaration.</a:t>
            </a:r>
          </a:p>
          <a:p>
            <a:pPr indent="-355600">
              <a:spcBef>
                <a:spcPts val="1200"/>
              </a:spcBef>
              <a:buSzPts val="2000"/>
              <a:buChar char="-"/>
            </a:pPr>
            <a:r>
              <a:rPr lang="en-US" sz="1600" dirty="0"/>
              <a:t>If more, JavaScript will ignore the extra arguments and just use the arguments necessary for the parameters</a:t>
            </a:r>
          </a:p>
          <a:p>
            <a:pPr indent="-355600">
              <a:spcBef>
                <a:spcPts val="1200"/>
              </a:spcBef>
              <a:buSzPts val="2000"/>
              <a:buChar char="-"/>
            </a:pPr>
            <a:r>
              <a:rPr lang="en-US" sz="1600" dirty="0"/>
              <a:t>If fewer, the parameters missing arguments are assigned the value undefined</a:t>
            </a:r>
          </a:p>
          <a:p>
            <a:pPr indent="-355600">
              <a:spcBef>
                <a:spcPts val="1200"/>
              </a:spcBef>
              <a:buSzPts val="2000"/>
              <a:buChar char="-"/>
            </a:pPr>
            <a:endParaRPr lang="en-US" sz="1800" dirty="0"/>
          </a:p>
        </p:txBody>
      </p:sp>
    </p:spTree>
    <p:extLst>
      <p:ext uri="{BB962C8B-B14F-4D97-AF65-F5344CB8AC3E}">
        <p14:creationId xmlns:p14="http://schemas.microsoft.com/office/powerpoint/2010/main" val="181405920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27EAF995-41E8-F0A8-6DCD-093CCB563A9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4056E5C1-F56C-2124-CDD6-ED67BA1EBDE7}"/>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Fewer arguments (cont’d)</a:t>
            </a:r>
            <a:endParaRPr dirty="0"/>
          </a:p>
        </p:txBody>
      </p:sp>
      <p:sp>
        <p:nvSpPr>
          <p:cNvPr id="483" name="Google Shape;483;p30">
            <a:extLst>
              <a:ext uri="{FF2B5EF4-FFF2-40B4-BE49-F238E27FC236}">
                <a16:creationId xmlns:a16="http://schemas.microsoft.com/office/drawing/2014/main" id="{FE8B306B-6AA5-AC70-2900-A25DBA718E19}"/>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endParaRPr lang="en-US" sz="2000" dirty="0"/>
          </a:p>
        </p:txBody>
      </p:sp>
      <p:pic>
        <p:nvPicPr>
          <p:cNvPr id="3" name="Picture 2">
            <a:extLst>
              <a:ext uri="{FF2B5EF4-FFF2-40B4-BE49-F238E27FC236}">
                <a16:creationId xmlns:a16="http://schemas.microsoft.com/office/drawing/2014/main" id="{F4E838A0-104E-768F-B81D-6FBAA4E85102}"/>
              </a:ext>
            </a:extLst>
          </p:cNvPr>
          <p:cNvPicPr>
            <a:picLocks noChangeAspect="1"/>
          </p:cNvPicPr>
          <p:nvPr/>
        </p:nvPicPr>
        <p:blipFill>
          <a:blip r:embed="rId3"/>
          <a:stretch>
            <a:fillRect/>
          </a:stretch>
        </p:blipFill>
        <p:spPr>
          <a:xfrm>
            <a:off x="1618777" y="2102238"/>
            <a:ext cx="6060973" cy="2349322"/>
          </a:xfrm>
          <a:prstGeom prst="rect">
            <a:avLst/>
          </a:prstGeom>
        </p:spPr>
      </p:pic>
      <p:pic>
        <p:nvPicPr>
          <p:cNvPr id="5" name="Picture 4">
            <a:extLst>
              <a:ext uri="{FF2B5EF4-FFF2-40B4-BE49-F238E27FC236}">
                <a16:creationId xmlns:a16="http://schemas.microsoft.com/office/drawing/2014/main" id="{23B40BDB-EFB3-EFD1-E085-C0293CA3C69F}"/>
              </a:ext>
            </a:extLst>
          </p:cNvPr>
          <p:cNvPicPr>
            <a:picLocks noChangeAspect="1"/>
          </p:cNvPicPr>
          <p:nvPr/>
        </p:nvPicPr>
        <p:blipFill>
          <a:blip r:embed="rId4"/>
          <a:stretch>
            <a:fillRect/>
          </a:stretch>
        </p:blipFill>
        <p:spPr>
          <a:xfrm>
            <a:off x="1618777" y="1293154"/>
            <a:ext cx="5571205" cy="639830"/>
          </a:xfrm>
          <a:prstGeom prst="rect">
            <a:avLst/>
          </a:prstGeom>
        </p:spPr>
      </p:pic>
    </p:spTree>
    <p:extLst>
      <p:ext uri="{BB962C8B-B14F-4D97-AF65-F5344CB8AC3E}">
        <p14:creationId xmlns:p14="http://schemas.microsoft.com/office/powerpoint/2010/main" val="83606029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45F34D49-7D34-7A6D-9089-749EAC37CDEC}"/>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D1E32576-64AA-5135-DCE1-49D90D6DB4D4}"/>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dirty="0"/>
              <a:t>Optional arguments (cont’d)</a:t>
            </a:r>
            <a:endParaRPr sz="2400" dirty="0"/>
          </a:p>
        </p:txBody>
      </p:sp>
      <p:sp>
        <p:nvSpPr>
          <p:cNvPr id="483" name="Google Shape;483;p30">
            <a:extLst>
              <a:ext uri="{FF2B5EF4-FFF2-40B4-BE49-F238E27FC236}">
                <a16:creationId xmlns:a16="http://schemas.microsoft.com/office/drawing/2014/main" id="{59AB7ED6-6798-643D-27EC-D8BE67A05F9C}"/>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Downside – we might accidentally pass the wrong number of arguments</a:t>
            </a:r>
          </a:p>
          <a:p>
            <a:pPr indent="-355600">
              <a:spcBef>
                <a:spcPts val="1200"/>
              </a:spcBef>
              <a:buSzPts val="2000"/>
              <a:buChar char="-"/>
            </a:pPr>
            <a:r>
              <a:rPr lang="en-US" sz="2000" dirty="0"/>
              <a:t>Upside – we can use this behavior to allow a function to be called with different numbers of arguments</a:t>
            </a:r>
          </a:p>
        </p:txBody>
      </p:sp>
    </p:spTree>
    <p:extLst>
      <p:ext uri="{BB962C8B-B14F-4D97-AF65-F5344CB8AC3E}">
        <p14:creationId xmlns:p14="http://schemas.microsoft.com/office/powerpoint/2010/main" val="423937052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73655E3F-84B2-967A-C234-AD38E839153B}"/>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5C182080-CCEB-8FA2-C173-9FF5EE41590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dirty="0"/>
              <a:t>Optional arguments (cont’d)</a:t>
            </a:r>
            <a:endParaRPr sz="2400" dirty="0"/>
          </a:p>
        </p:txBody>
      </p:sp>
      <p:sp>
        <p:nvSpPr>
          <p:cNvPr id="483" name="Google Shape;483;p30">
            <a:extLst>
              <a:ext uri="{FF2B5EF4-FFF2-40B4-BE49-F238E27FC236}">
                <a16:creationId xmlns:a16="http://schemas.microsoft.com/office/drawing/2014/main" id="{165EEE3E-A3ED-509D-1AE8-5928E87A95AC}"/>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endParaRPr lang="en-US" sz="2000" dirty="0"/>
          </a:p>
        </p:txBody>
      </p:sp>
      <p:pic>
        <p:nvPicPr>
          <p:cNvPr id="3" name="Picture 2">
            <a:extLst>
              <a:ext uri="{FF2B5EF4-FFF2-40B4-BE49-F238E27FC236}">
                <a16:creationId xmlns:a16="http://schemas.microsoft.com/office/drawing/2014/main" id="{B36F4976-3DEF-5459-8FCB-4F6E51748AB3}"/>
              </a:ext>
            </a:extLst>
          </p:cNvPr>
          <p:cNvPicPr>
            <a:picLocks noChangeAspect="1"/>
          </p:cNvPicPr>
          <p:nvPr/>
        </p:nvPicPr>
        <p:blipFill>
          <a:blip r:embed="rId3"/>
          <a:stretch>
            <a:fillRect/>
          </a:stretch>
        </p:blipFill>
        <p:spPr>
          <a:xfrm>
            <a:off x="2935982" y="1346323"/>
            <a:ext cx="3705135" cy="2850104"/>
          </a:xfrm>
          <a:prstGeom prst="rect">
            <a:avLst/>
          </a:prstGeom>
        </p:spPr>
      </p:pic>
    </p:spTree>
    <p:extLst>
      <p:ext uri="{BB962C8B-B14F-4D97-AF65-F5344CB8AC3E}">
        <p14:creationId xmlns:p14="http://schemas.microsoft.com/office/powerpoint/2010/main" val="309942221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C7A7A16B-9877-2846-48AB-4A26B0B5D159}"/>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A997CFC1-D426-2100-EA1F-6C4DC9A7B3BE}"/>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Scope</a:t>
            </a:r>
            <a:endParaRPr dirty="0"/>
          </a:p>
        </p:txBody>
      </p:sp>
      <p:sp>
        <p:nvSpPr>
          <p:cNvPr id="483" name="Google Shape;483;p30">
            <a:extLst>
              <a:ext uri="{FF2B5EF4-FFF2-40B4-BE49-F238E27FC236}">
                <a16:creationId xmlns:a16="http://schemas.microsoft.com/office/drawing/2014/main" id="{9A2C185A-73C6-15A0-E41D-E4BD5F9D13CB}"/>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Scope is the part of the program in which a binding is visible (can be accessed, can be changed)</a:t>
            </a:r>
          </a:p>
          <a:p>
            <a:pPr indent="-355600">
              <a:spcBef>
                <a:spcPts val="1200"/>
              </a:spcBef>
              <a:buSzPts val="2000"/>
              <a:buChar char="-"/>
            </a:pPr>
            <a:r>
              <a:rPr lang="en-US" sz="2000" dirty="0"/>
              <a:t>Three types of scope in JavaScript</a:t>
            </a:r>
          </a:p>
          <a:p>
            <a:pPr lvl="1" indent="-355600">
              <a:spcBef>
                <a:spcPts val="1200"/>
              </a:spcBef>
              <a:buSzPts val="2000"/>
              <a:buChar char="-"/>
            </a:pPr>
            <a:r>
              <a:rPr lang="en-US" sz="1800" dirty="0"/>
              <a:t>global scope</a:t>
            </a:r>
          </a:p>
          <a:p>
            <a:pPr lvl="1" indent="-355600">
              <a:spcBef>
                <a:spcPts val="1200"/>
              </a:spcBef>
              <a:buSzPts val="2000"/>
              <a:buChar char="-"/>
            </a:pPr>
            <a:r>
              <a:rPr lang="en-US" sz="1800" dirty="0"/>
              <a:t>function scope</a:t>
            </a:r>
          </a:p>
          <a:p>
            <a:pPr lvl="1" indent="-355600">
              <a:spcBef>
                <a:spcPts val="1200"/>
              </a:spcBef>
              <a:buSzPts val="2000"/>
              <a:buChar char="-"/>
            </a:pPr>
            <a:r>
              <a:rPr lang="en-US" sz="1800" dirty="0"/>
              <a:t>block scope</a:t>
            </a:r>
          </a:p>
          <a:p>
            <a:pPr lvl="1" indent="-355600">
              <a:spcBef>
                <a:spcPts val="1200"/>
              </a:spcBef>
              <a:buSzPts val="2000"/>
              <a:buChar char="-"/>
            </a:pPr>
            <a:r>
              <a:rPr lang="en-US" sz="1800" dirty="0"/>
              <a:t>(also module scope, but that’s for later)</a:t>
            </a:r>
          </a:p>
        </p:txBody>
      </p:sp>
    </p:spTree>
    <p:extLst>
      <p:ext uri="{BB962C8B-B14F-4D97-AF65-F5344CB8AC3E}">
        <p14:creationId xmlns:p14="http://schemas.microsoft.com/office/powerpoint/2010/main" val="100213371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E86B1D14-7320-C326-3AA6-7E58CB01B60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042674B8-3168-03FA-6738-CE17065862F7}"/>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Global scope &amp; global variable</a:t>
            </a:r>
            <a:endParaRPr dirty="0"/>
          </a:p>
        </p:txBody>
      </p:sp>
      <p:sp>
        <p:nvSpPr>
          <p:cNvPr id="483" name="Google Shape;483;p30">
            <a:extLst>
              <a:ext uri="{FF2B5EF4-FFF2-40B4-BE49-F238E27FC236}">
                <a16:creationId xmlns:a16="http://schemas.microsoft.com/office/drawing/2014/main" id="{B8893BD9-C37C-2028-0665-1B96A4F855C1}"/>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r>
              <a:rPr lang="en-US" sz="2400" dirty="0">
                <a:solidFill>
                  <a:schemeClr val="accent6"/>
                </a:solidFill>
              </a:rPr>
              <a:t>Global scope</a:t>
            </a:r>
            <a:r>
              <a:rPr lang="en-US" sz="2400" dirty="0"/>
              <a:t> - encompasses the whole program</a:t>
            </a:r>
          </a:p>
          <a:p>
            <a:pPr marL="101600" indent="0">
              <a:spcBef>
                <a:spcPts val="1200"/>
              </a:spcBef>
              <a:buSzPts val="2000"/>
              <a:buNone/>
            </a:pPr>
            <a:r>
              <a:rPr lang="en-US" sz="2400" dirty="0">
                <a:solidFill>
                  <a:schemeClr val="accent6"/>
                </a:solidFill>
              </a:rPr>
              <a:t>Global variable</a:t>
            </a:r>
            <a:r>
              <a:rPr lang="en-US" sz="2400" dirty="0"/>
              <a:t> - a variable that is defined outside of any function, block or</a:t>
            </a:r>
          </a:p>
          <a:p>
            <a:pPr lvl="1" indent="-355600">
              <a:spcBef>
                <a:spcPts val="1200"/>
              </a:spcBef>
              <a:buSzPts val="2000"/>
              <a:buChar char="-"/>
            </a:pPr>
            <a:r>
              <a:rPr lang="en-US" sz="2000" dirty="0">
                <a:solidFill>
                  <a:schemeClr val="bg2">
                    <a:lumMod val="75000"/>
                  </a:schemeClr>
                </a:solidFill>
              </a:rPr>
              <a:t>Is accessible anywhere in the program</a:t>
            </a:r>
          </a:p>
        </p:txBody>
      </p:sp>
    </p:spTree>
    <p:extLst>
      <p:ext uri="{BB962C8B-B14F-4D97-AF65-F5344CB8AC3E}">
        <p14:creationId xmlns:p14="http://schemas.microsoft.com/office/powerpoint/2010/main" val="355625423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FC6D4476-8B08-F926-531A-D7443A0024EB}"/>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6D1A3C6E-4CC9-6866-5851-EA9C5081C73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Global scope/variable (cont’d)</a:t>
            </a:r>
            <a:endParaRPr dirty="0"/>
          </a:p>
        </p:txBody>
      </p:sp>
      <p:sp>
        <p:nvSpPr>
          <p:cNvPr id="483" name="Google Shape;483;p30">
            <a:extLst>
              <a:ext uri="{FF2B5EF4-FFF2-40B4-BE49-F238E27FC236}">
                <a16:creationId xmlns:a16="http://schemas.microsoft.com/office/drawing/2014/main" id="{E4BA29CB-961F-6AA6-8524-548A5D2D44AE}"/>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endParaRPr lang="en-US" sz="2400" dirty="0">
              <a:solidFill>
                <a:srgbClr val="00B050"/>
              </a:solidFill>
            </a:endParaRPr>
          </a:p>
        </p:txBody>
      </p:sp>
      <p:pic>
        <p:nvPicPr>
          <p:cNvPr id="3" name="Picture 2">
            <a:extLst>
              <a:ext uri="{FF2B5EF4-FFF2-40B4-BE49-F238E27FC236}">
                <a16:creationId xmlns:a16="http://schemas.microsoft.com/office/drawing/2014/main" id="{D11AF559-BAB5-E881-BC59-7C0B41F348AF}"/>
              </a:ext>
            </a:extLst>
          </p:cNvPr>
          <p:cNvPicPr>
            <a:picLocks noChangeAspect="1"/>
          </p:cNvPicPr>
          <p:nvPr/>
        </p:nvPicPr>
        <p:blipFill>
          <a:blip r:embed="rId3"/>
          <a:stretch>
            <a:fillRect/>
          </a:stretch>
        </p:blipFill>
        <p:spPr>
          <a:xfrm>
            <a:off x="3190100" y="1253725"/>
            <a:ext cx="3517900" cy="3035300"/>
          </a:xfrm>
          <a:prstGeom prst="rect">
            <a:avLst/>
          </a:prstGeom>
        </p:spPr>
      </p:pic>
    </p:spTree>
    <p:extLst>
      <p:ext uri="{BB962C8B-B14F-4D97-AF65-F5344CB8AC3E}">
        <p14:creationId xmlns:p14="http://schemas.microsoft.com/office/powerpoint/2010/main" val="236685473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23B7025C-39D3-861C-D8A8-6197B8280321}"/>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98D3730F-9605-FC06-4E46-453E6A82EC7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Local variable</a:t>
            </a:r>
            <a:endParaRPr dirty="0"/>
          </a:p>
        </p:txBody>
      </p:sp>
      <p:sp>
        <p:nvSpPr>
          <p:cNvPr id="483" name="Google Shape;483;p30">
            <a:extLst>
              <a:ext uri="{FF2B5EF4-FFF2-40B4-BE49-F238E27FC236}">
                <a16:creationId xmlns:a16="http://schemas.microsoft.com/office/drawing/2014/main" id="{12CDEDBE-86BB-F843-6CDC-5CFA388BEA46}"/>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r>
              <a:rPr lang="en-US" sz="2000" dirty="0">
                <a:solidFill>
                  <a:schemeClr val="accent6"/>
                </a:solidFill>
              </a:rPr>
              <a:t>Local variable</a:t>
            </a:r>
            <a:r>
              <a:rPr lang="en-US" sz="2000" dirty="0"/>
              <a:t> – a variable created for a function parameter or declared inside a function</a:t>
            </a:r>
          </a:p>
          <a:p>
            <a:pPr marL="444500" indent="-342900">
              <a:spcBef>
                <a:spcPts val="1200"/>
              </a:spcBef>
              <a:buSzPts val="2000"/>
              <a:buFontTx/>
              <a:buChar char="-"/>
            </a:pPr>
            <a:r>
              <a:rPr lang="en-US" sz="2000" dirty="0"/>
              <a:t>Related to two kinds of scope</a:t>
            </a:r>
          </a:p>
          <a:p>
            <a:pPr marL="901700" lvl="1" indent="-342900">
              <a:spcBef>
                <a:spcPts val="1200"/>
              </a:spcBef>
              <a:buSzPts val="2000"/>
              <a:buFontTx/>
              <a:buChar char="-"/>
            </a:pPr>
            <a:r>
              <a:rPr lang="en-US" sz="2000" dirty="0">
                <a:solidFill>
                  <a:schemeClr val="accent6"/>
                </a:solidFill>
              </a:rPr>
              <a:t>Function scope</a:t>
            </a:r>
          </a:p>
          <a:p>
            <a:pPr marL="901700" lvl="1" indent="-342900">
              <a:spcBef>
                <a:spcPts val="1200"/>
              </a:spcBef>
              <a:buSzPts val="2000"/>
              <a:buFontTx/>
              <a:buChar char="-"/>
            </a:pPr>
            <a:r>
              <a:rPr lang="en-US" sz="2000" dirty="0">
                <a:solidFill>
                  <a:schemeClr val="accent6"/>
                </a:solidFill>
              </a:rPr>
              <a:t>Block scope</a:t>
            </a:r>
          </a:p>
        </p:txBody>
      </p:sp>
    </p:spTree>
    <p:extLst>
      <p:ext uri="{BB962C8B-B14F-4D97-AF65-F5344CB8AC3E}">
        <p14:creationId xmlns:p14="http://schemas.microsoft.com/office/powerpoint/2010/main" val="196034477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1D864C88-6E82-3263-D5E5-CD242F939338}"/>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CE0A7570-0419-116E-B167-195B652B8BFB}"/>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scope</a:t>
            </a:r>
            <a:endParaRPr dirty="0"/>
          </a:p>
        </p:txBody>
      </p:sp>
      <p:sp>
        <p:nvSpPr>
          <p:cNvPr id="483" name="Google Shape;483;p30">
            <a:extLst>
              <a:ext uri="{FF2B5EF4-FFF2-40B4-BE49-F238E27FC236}">
                <a16:creationId xmlns:a16="http://schemas.microsoft.com/office/drawing/2014/main" id="{CE98AB97-B776-6282-DD60-DDB76B990D00}"/>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000" dirty="0"/>
              <a:t>Encompasses everything in the function but nothing outside the function</a:t>
            </a:r>
          </a:p>
          <a:p>
            <a:pPr indent="-355600">
              <a:spcBef>
                <a:spcPts val="1200"/>
              </a:spcBef>
              <a:buSzPts val="2000"/>
              <a:buChar char="-"/>
            </a:pPr>
            <a:r>
              <a:rPr lang="en-US" sz="2000" dirty="0"/>
              <a:t>Only a variable declared with </a:t>
            </a:r>
            <a:r>
              <a:rPr lang="en-US" sz="2000" dirty="0">
                <a:solidFill>
                  <a:schemeClr val="accent6"/>
                </a:solidFill>
              </a:rPr>
              <a:t>var</a:t>
            </a:r>
            <a:r>
              <a:rPr lang="en-US" sz="2000" dirty="0"/>
              <a:t> has function scope (not let or const)</a:t>
            </a:r>
          </a:p>
          <a:p>
            <a:pPr indent="-355600">
              <a:spcBef>
                <a:spcPts val="1200"/>
              </a:spcBef>
              <a:buSzPts val="2000"/>
              <a:buFont typeface="Fira Code"/>
              <a:buChar char="-"/>
            </a:pPr>
            <a:r>
              <a:rPr lang="en-US" sz="2000" dirty="0"/>
              <a:t>Every time the function is called, new instances of its bindings/variables are created</a:t>
            </a:r>
          </a:p>
        </p:txBody>
      </p:sp>
    </p:spTree>
    <p:extLst>
      <p:ext uri="{BB962C8B-B14F-4D97-AF65-F5344CB8AC3E}">
        <p14:creationId xmlns:p14="http://schemas.microsoft.com/office/powerpoint/2010/main" val="22066130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B7F47EF5-47D4-8980-181C-40C00B80AD44}"/>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302FD5CB-56EA-6C55-4FBC-B26BC3D26C8D}"/>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scope (cont’d)</a:t>
            </a:r>
            <a:endParaRPr dirty="0"/>
          </a:p>
        </p:txBody>
      </p:sp>
      <p:sp>
        <p:nvSpPr>
          <p:cNvPr id="483" name="Google Shape;483;p30">
            <a:extLst>
              <a:ext uri="{FF2B5EF4-FFF2-40B4-BE49-F238E27FC236}">
                <a16:creationId xmlns:a16="http://schemas.microsoft.com/office/drawing/2014/main" id="{433942E8-D558-4C3A-5EAA-B529AA94D911}"/>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br>
              <a:rPr lang="en-US" sz="1600" dirty="0"/>
            </a:br>
            <a:endParaRPr lang="en-US" sz="1600" dirty="0">
              <a:solidFill>
                <a:srgbClr val="00B050"/>
              </a:solidFill>
            </a:endParaRPr>
          </a:p>
        </p:txBody>
      </p:sp>
      <p:pic>
        <p:nvPicPr>
          <p:cNvPr id="5" name="Picture 4">
            <a:extLst>
              <a:ext uri="{FF2B5EF4-FFF2-40B4-BE49-F238E27FC236}">
                <a16:creationId xmlns:a16="http://schemas.microsoft.com/office/drawing/2014/main" id="{AD95534F-CC44-E292-85FF-C01C037B0E5D}"/>
              </a:ext>
            </a:extLst>
          </p:cNvPr>
          <p:cNvPicPr>
            <a:picLocks noChangeAspect="1"/>
          </p:cNvPicPr>
          <p:nvPr/>
        </p:nvPicPr>
        <p:blipFill>
          <a:blip r:embed="rId3"/>
          <a:stretch>
            <a:fillRect/>
          </a:stretch>
        </p:blipFill>
        <p:spPr>
          <a:xfrm>
            <a:off x="2022898" y="1280583"/>
            <a:ext cx="5098203" cy="2981584"/>
          </a:xfrm>
          <a:prstGeom prst="rect">
            <a:avLst/>
          </a:prstGeom>
        </p:spPr>
      </p:pic>
    </p:spTree>
    <p:extLst>
      <p:ext uri="{BB962C8B-B14F-4D97-AF65-F5344CB8AC3E}">
        <p14:creationId xmlns:p14="http://schemas.microsoft.com/office/powerpoint/2010/main" val="11436875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915B2EAF-6D1B-9683-394F-A7EF3E9E361B}"/>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DC08EACF-D3F8-FA12-710C-9A525461D286}"/>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Block scope</a:t>
            </a:r>
            <a:endParaRPr dirty="0"/>
          </a:p>
        </p:txBody>
      </p:sp>
      <p:sp>
        <p:nvSpPr>
          <p:cNvPr id="483" name="Google Shape;483;p30">
            <a:extLst>
              <a:ext uri="{FF2B5EF4-FFF2-40B4-BE49-F238E27FC236}">
                <a16:creationId xmlns:a16="http://schemas.microsoft.com/office/drawing/2014/main" id="{0A144333-12A5-3E01-A8B5-50C121755BD5}"/>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indent="-355600">
              <a:spcBef>
                <a:spcPts val="1200"/>
              </a:spcBef>
              <a:buSzPts val="2000"/>
              <a:buChar char="-"/>
            </a:pPr>
            <a:r>
              <a:rPr lang="en-US" sz="2400" dirty="0"/>
              <a:t>Encompasses only the code between the curly braces in which the variable is declare</a:t>
            </a:r>
          </a:p>
          <a:p>
            <a:pPr indent="-355600">
              <a:spcBef>
                <a:spcPts val="1200"/>
              </a:spcBef>
              <a:buSzPts val="2000"/>
              <a:buChar char="-"/>
            </a:pPr>
            <a:r>
              <a:rPr lang="en-US" sz="2400" dirty="0"/>
              <a:t>Variables declared with let and const have block scope</a:t>
            </a:r>
            <a:endParaRPr lang="en-US" sz="2400" dirty="0">
              <a:solidFill>
                <a:srgbClr val="00B050"/>
              </a:solidFill>
            </a:endParaRPr>
          </a:p>
          <a:p>
            <a:pPr marL="101600" indent="0">
              <a:spcBef>
                <a:spcPts val="1200"/>
              </a:spcBef>
              <a:buSzPts val="2000"/>
              <a:buNone/>
            </a:pPr>
            <a:endParaRPr lang="en-US" sz="2000" dirty="0"/>
          </a:p>
        </p:txBody>
      </p:sp>
    </p:spTree>
    <p:extLst>
      <p:ext uri="{BB962C8B-B14F-4D97-AF65-F5344CB8AC3E}">
        <p14:creationId xmlns:p14="http://schemas.microsoft.com/office/powerpoint/2010/main" val="67512286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D5BC9B75-16CD-E436-DC22-F1E218D3E3E6}"/>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641668CA-54D7-E766-4944-D472E968BC6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Block scope (cont’d)</a:t>
            </a:r>
            <a:endParaRPr dirty="0"/>
          </a:p>
        </p:txBody>
      </p:sp>
      <p:sp>
        <p:nvSpPr>
          <p:cNvPr id="483" name="Google Shape;483;p30">
            <a:extLst>
              <a:ext uri="{FF2B5EF4-FFF2-40B4-BE49-F238E27FC236}">
                <a16:creationId xmlns:a16="http://schemas.microsoft.com/office/drawing/2014/main" id="{8274BD90-9591-F0AC-714B-F5E8FC7FF378}"/>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01600" indent="0">
              <a:spcBef>
                <a:spcPts val="1200"/>
              </a:spcBef>
              <a:buSzPts val="2000"/>
              <a:buNone/>
            </a:pPr>
            <a:endParaRPr lang="en-US" sz="2000" dirty="0"/>
          </a:p>
        </p:txBody>
      </p:sp>
      <p:pic>
        <p:nvPicPr>
          <p:cNvPr id="3" name="Picture 2">
            <a:extLst>
              <a:ext uri="{FF2B5EF4-FFF2-40B4-BE49-F238E27FC236}">
                <a16:creationId xmlns:a16="http://schemas.microsoft.com/office/drawing/2014/main" id="{862C384F-2EA8-A915-35A9-F164BD9FBF4C}"/>
              </a:ext>
            </a:extLst>
          </p:cNvPr>
          <p:cNvPicPr>
            <a:picLocks noChangeAspect="1"/>
          </p:cNvPicPr>
          <p:nvPr/>
        </p:nvPicPr>
        <p:blipFill>
          <a:blip r:embed="rId3"/>
          <a:stretch>
            <a:fillRect/>
          </a:stretch>
        </p:blipFill>
        <p:spPr>
          <a:xfrm>
            <a:off x="1597152" y="1622772"/>
            <a:ext cx="6703796" cy="2297206"/>
          </a:xfrm>
          <a:prstGeom prst="rect">
            <a:avLst/>
          </a:prstGeom>
        </p:spPr>
      </p:pic>
    </p:spTree>
    <p:extLst>
      <p:ext uri="{BB962C8B-B14F-4D97-AF65-F5344CB8AC3E}">
        <p14:creationId xmlns:p14="http://schemas.microsoft.com/office/powerpoint/2010/main" val="24754743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481">
          <a:extLst>
            <a:ext uri="{FF2B5EF4-FFF2-40B4-BE49-F238E27FC236}">
              <a16:creationId xmlns:a16="http://schemas.microsoft.com/office/drawing/2014/main" id="{8D6D2FA8-89DA-F2C6-670F-6599607DC332}"/>
            </a:ext>
          </a:extLst>
        </p:cNvPr>
        <p:cNvGrpSpPr/>
        <p:nvPr/>
      </p:nvGrpSpPr>
      <p:grpSpPr>
        <a:xfrm>
          <a:off x="0" y="0"/>
          <a:ext cx="0" cy="0"/>
          <a:chOff x="0" y="0"/>
          <a:chExt cx="0" cy="0"/>
        </a:xfrm>
      </p:grpSpPr>
      <p:sp>
        <p:nvSpPr>
          <p:cNvPr id="482" name="Google Shape;482;p30">
            <a:extLst>
              <a:ext uri="{FF2B5EF4-FFF2-40B4-BE49-F238E27FC236}">
                <a16:creationId xmlns:a16="http://schemas.microsoft.com/office/drawing/2014/main" id="{B74A7669-1CF2-17E1-F4CE-23B171815D2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Function hoisting</a:t>
            </a:r>
            <a:endParaRPr dirty="0"/>
          </a:p>
        </p:txBody>
      </p:sp>
      <p:sp>
        <p:nvSpPr>
          <p:cNvPr id="483" name="Google Shape;483;p30">
            <a:extLst>
              <a:ext uri="{FF2B5EF4-FFF2-40B4-BE49-F238E27FC236}">
                <a16:creationId xmlns:a16="http://schemas.microsoft.com/office/drawing/2014/main" id="{76F40C77-218A-1DD4-91A5-F25769A9B8A6}"/>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Function declarations create functions that are </a:t>
            </a:r>
            <a:r>
              <a:rPr lang="en-US" sz="2000" dirty="0">
                <a:solidFill>
                  <a:schemeClr val="accent6"/>
                </a:solidFill>
              </a:rPr>
              <a:t>hoisted</a:t>
            </a:r>
            <a:endParaRPr sz="2000" dirty="0">
              <a:solidFill>
                <a:schemeClr val="accent6"/>
              </a:solidFill>
            </a:endParaRPr>
          </a:p>
          <a:p>
            <a:pPr marL="457200" lvl="0" indent="-355600" algn="l" rtl="0">
              <a:spcBef>
                <a:spcPts val="1200"/>
              </a:spcBef>
              <a:spcAft>
                <a:spcPts val="0"/>
              </a:spcAft>
              <a:buSzPts val="2000"/>
              <a:buChar char="-"/>
            </a:pPr>
            <a:r>
              <a:rPr lang="en-US" sz="1800" dirty="0"/>
              <a:t>multiply(6, 5);</a:t>
            </a:r>
          </a:p>
          <a:p>
            <a:pPr marL="457200" lvl="0" indent="-355600" algn="l" rtl="0">
              <a:spcBef>
                <a:spcPts val="1200"/>
              </a:spcBef>
              <a:spcAft>
                <a:spcPts val="0"/>
              </a:spcAft>
              <a:buSzPts val="2000"/>
              <a:buChar char="-"/>
            </a:pPr>
            <a:endParaRPr sz="2000" dirty="0"/>
          </a:p>
        </p:txBody>
      </p:sp>
    </p:spTree>
    <p:extLst>
      <p:ext uri="{BB962C8B-B14F-4D97-AF65-F5344CB8AC3E}">
        <p14:creationId xmlns:p14="http://schemas.microsoft.com/office/powerpoint/2010/main" val="314251375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78F2FD-1E58-FE3B-631D-94C8476D4306}"/>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E9AEA601-D8AB-DC00-B9C6-D99324EA8777}"/>
              </a:ext>
            </a:extLst>
          </p:cNvPr>
          <p:cNvSpPr>
            <a:spLocks noGrp="1"/>
          </p:cNvSpPr>
          <p:nvPr>
            <p:ph type="subTitle" idx="1"/>
          </p:nvPr>
        </p:nvSpPr>
        <p:spPr/>
        <p:txBody>
          <a:bodyPr/>
          <a:lstStyle/>
          <a:p>
            <a:r>
              <a:rPr lang="en-US" dirty="0"/>
              <a:t>BREAK</a:t>
            </a:r>
          </a:p>
        </p:txBody>
      </p:sp>
    </p:spTree>
    <p:extLst>
      <p:ext uri="{BB962C8B-B14F-4D97-AF65-F5344CB8AC3E}">
        <p14:creationId xmlns:p14="http://schemas.microsoft.com/office/powerpoint/2010/main" val="14960523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87"/>
        <p:cNvGrpSpPr/>
        <p:nvPr/>
      </p:nvGrpSpPr>
      <p:grpSpPr>
        <a:xfrm>
          <a:off x="0" y="0"/>
          <a:ext cx="0" cy="0"/>
          <a:chOff x="0" y="0"/>
          <a:chExt cx="0" cy="0"/>
        </a:xfrm>
      </p:grpSpPr>
      <p:sp>
        <p:nvSpPr>
          <p:cNvPr id="488" name="Google Shape;488;p3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489" name="Google Shape;489;p3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495" name="Google Shape;495;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496" name="Google Shape;496;p32"/>
          <p:cNvPicPr preferRelativeResize="0"/>
          <p:nvPr/>
        </p:nvPicPr>
        <p:blipFill>
          <a:blip r:embed="rId3">
            <a:alphaModFix/>
          </a:blip>
          <a:stretch>
            <a:fillRect/>
          </a:stretch>
        </p:blipFill>
        <p:spPr>
          <a:xfrm>
            <a:off x="3374075" y="2290150"/>
            <a:ext cx="2828925" cy="161925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Bindings</a:t>
            </a:r>
            <a:endParaRPr/>
          </a:p>
        </p:txBody>
      </p:sp>
      <p:sp>
        <p:nvSpPr>
          <p:cNvPr id="502" name="Google Shape;502;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Association of a name with a value</a:t>
            </a:r>
            <a:endParaRPr sz="2000"/>
          </a:p>
          <a:p>
            <a:pPr marL="457200" lvl="0" indent="-342900" algn="l" rtl="0">
              <a:spcBef>
                <a:spcPts val="1200"/>
              </a:spcBef>
              <a:spcAft>
                <a:spcPts val="0"/>
              </a:spcAft>
              <a:buSzPts val="1800"/>
              <a:buChar char="-"/>
            </a:pPr>
            <a:r>
              <a:rPr lang="en" sz="1800"/>
              <a:t>Also referred to as </a:t>
            </a:r>
            <a:r>
              <a:rPr lang="en" sz="1800">
                <a:solidFill>
                  <a:schemeClr val="accent6"/>
                </a:solidFill>
              </a:rPr>
              <a:t>Named Binding</a:t>
            </a:r>
            <a:endParaRPr sz="1800">
              <a:solidFill>
                <a:schemeClr val="accent6"/>
              </a:solidFill>
            </a:endParaRPr>
          </a:p>
          <a:p>
            <a:pPr marL="457200" lvl="0" indent="-342900" algn="l" rtl="0">
              <a:spcBef>
                <a:spcPts val="1000"/>
              </a:spcBef>
              <a:spcAft>
                <a:spcPts val="0"/>
              </a:spcAft>
              <a:buSzPts val="1800"/>
              <a:buChar char="-"/>
            </a:pPr>
            <a:r>
              <a:rPr lang="en" sz="1800"/>
              <a:t>Purpose </a:t>
            </a:r>
            <a:endParaRPr sz="1800"/>
          </a:p>
          <a:p>
            <a:pPr marL="914400" lvl="1" indent="-330200" algn="l" rtl="0">
              <a:spcBef>
                <a:spcPts val="1000"/>
              </a:spcBef>
              <a:spcAft>
                <a:spcPts val="0"/>
              </a:spcAft>
              <a:buSzPts val="1600"/>
              <a:buChar char="-"/>
            </a:pPr>
            <a:r>
              <a:rPr lang="en" sz="1600"/>
              <a:t>To store values generated by expressions in your code</a:t>
            </a:r>
            <a:endParaRPr sz="1600"/>
          </a:p>
          <a:p>
            <a:pPr marL="914400" lvl="1" indent="-330200" algn="l" rtl="0">
              <a:spcBef>
                <a:spcPts val="1000"/>
              </a:spcBef>
              <a:spcAft>
                <a:spcPts val="0"/>
              </a:spcAft>
              <a:buSzPts val="1600"/>
              <a:buChar char="-"/>
            </a:pPr>
            <a:r>
              <a:rPr lang="en" sz="1600"/>
              <a:t>Allows you to reference those values in your code</a:t>
            </a:r>
            <a:endParaRPr sz="1600"/>
          </a:p>
          <a:p>
            <a:pPr marL="457200" lvl="0" indent="-342900" algn="l" rtl="0">
              <a:spcBef>
                <a:spcPts val="1000"/>
              </a:spcBef>
              <a:spcAft>
                <a:spcPts val="0"/>
              </a:spcAft>
              <a:buSzPts val="1800"/>
              <a:buChar char="-"/>
            </a:pPr>
            <a:r>
              <a:rPr lang="en" sz="1800"/>
              <a:t>Without bindings the program would not be able to remember the work it has already done</a:t>
            </a:r>
            <a:endParaRPr sz="180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508" name="Google Shape;508;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6"/>
                </a:solidFill>
              </a:rPr>
              <a:t>Variable</a:t>
            </a:r>
            <a:r>
              <a:rPr lang="en" sz="2000"/>
              <a:t> - a type of binding that allows you to update the value associated with a particular name as needed</a:t>
            </a:r>
            <a:endParaRPr sz="2000"/>
          </a:p>
          <a:p>
            <a:pPr marL="0" lvl="0" indent="0" algn="l" rtl="0">
              <a:spcBef>
                <a:spcPts val="1200"/>
              </a:spcBef>
              <a:spcAft>
                <a:spcPts val="0"/>
              </a:spcAft>
              <a:buNone/>
            </a:pPr>
            <a:r>
              <a:rPr lang="en" sz="2000">
                <a:solidFill>
                  <a:schemeClr val="accent6"/>
                </a:solidFill>
              </a:rPr>
              <a:t>Constant</a:t>
            </a:r>
            <a:r>
              <a:rPr lang="en" sz="2000"/>
              <a:t> - a type of binding where the value associated with a particular name cannot be changed</a:t>
            </a:r>
            <a:endParaRPr sz="2000"/>
          </a:p>
          <a:p>
            <a:pPr marL="0" lvl="0" indent="0" algn="l" rtl="0">
              <a:spcBef>
                <a:spcPts val="1200"/>
              </a:spcBef>
              <a:spcAft>
                <a:spcPts val="120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1BF4C5-AA97-F432-184B-24EE96443C3C}"/>
              </a:ext>
            </a:extLst>
          </p:cNvPr>
          <p:cNvSpPr>
            <a:spLocks noGrp="1"/>
          </p:cNvSpPr>
          <p:nvPr>
            <p:ph type="title"/>
          </p:nvPr>
        </p:nvSpPr>
        <p:spPr/>
        <p:txBody>
          <a:bodyPr/>
          <a:lstStyle/>
          <a:p>
            <a:r>
              <a:rPr lang="en-US" dirty="0"/>
              <a:t>Declaring and assigning variables</a:t>
            </a:r>
          </a:p>
        </p:txBody>
      </p:sp>
      <p:sp>
        <p:nvSpPr>
          <p:cNvPr id="3" name="Text Placeholder 2">
            <a:extLst>
              <a:ext uri="{FF2B5EF4-FFF2-40B4-BE49-F238E27FC236}">
                <a16:creationId xmlns:a16="http://schemas.microsoft.com/office/drawing/2014/main" id="{73977A68-6E06-4E6B-0301-206EF143CBCB}"/>
              </a:ext>
            </a:extLst>
          </p:cNvPr>
          <p:cNvSpPr>
            <a:spLocks noGrp="1"/>
          </p:cNvSpPr>
          <p:nvPr>
            <p:ph type="body" idx="1"/>
          </p:nvPr>
        </p:nvSpPr>
        <p:spPr/>
        <p:txBody>
          <a:bodyPr/>
          <a:lstStyle/>
          <a:p>
            <a:pPr>
              <a:spcAft>
                <a:spcPts val="600"/>
              </a:spcAft>
            </a:pPr>
            <a:r>
              <a:rPr lang="en-US" sz="2000" dirty="0"/>
              <a:t>Two steps:</a:t>
            </a:r>
          </a:p>
          <a:p>
            <a:pPr lvl="1">
              <a:spcAft>
                <a:spcPts val="600"/>
              </a:spcAft>
            </a:pPr>
            <a:r>
              <a:rPr lang="en-US" sz="1800" dirty="0"/>
              <a:t>let age; // declaring</a:t>
            </a:r>
          </a:p>
          <a:p>
            <a:pPr lvl="1">
              <a:spcAft>
                <a:spcPts val="600"/>
              </a:spcAft>
            </a:pPr>
            <a:r>
              <a:rPr lang="en-US" sz="1800" dirty="0"/>
              <a:t>age = 42; // assigning</a:t>
            </a:r>
          </a:p>
          <a:p>
            <a:pPr>
              <a:spcAft>
                <a:spcPts val="600"/>
              </a:spcAft>
            </a:pPr>
            <a:r>
              <a:rPr lang="en-US" sz="2000" dirty="0"/>
              <a:t>One step:</a:t>
            </a:r>
          </a:p>
          <a:p>
            <a:pPr lvl="1">
              <a:spcAft>
                <a:spcPts val="600"/>
              </a:spcAft>
            </a:pPr>
            <a:r>
              <a:rPr lang="en-US" sz="1800" dirty="0"/>
              <a:t>let age = 42; // declaring and assigning</a:t>
            </a:r>
          </a:p>
        </p:txBody>
      </p:sp>
    </p:spTree>
    <p:extLst>
      <p:ext uri="{BB962C8B-B14F-4D97-AF65-F5344CB8AC3E}">
        <p14:creationId xmlns:p14="http://schemas.microsoft.com/office/powerpoint/2010/main" val="322466802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6D11B9-972F-97A6-CCCF-97F472C75B63}"/>
              </a:ext>
            </a:extLst>
          </p:cNvPr>
          <p:cNvSpPr>
            <a:spLocks noGrp="1"/>
          </p:cNvSpPr>
          <p:nvPr>
            <p:ph type="title"/>
          </p:nvPr>
        </p:nvSpPr>
        <p:spPr/>
        <p:txBody>
          <a:bodyPr/>
          <a:lstStyle/>
          <a:p>
            <a:r>
              <a:rPr lang="en-US" dirty="0"/>
              <a:t>Variable naming</a:t>
            </a:r>
          </a:p>
        </p:txBody>
      </p:sp>
      <p:sp>
        <p:nvSpPr>
          <p:cNvPr id="3" name="Text Placeholder 2">
            <a:extLst>
              <a:ext uri="{FF2B5EF4-FFF2-40B4-BE49-F238E27FC236}">
                <a16:creationId xmlns:a16="http://schemas.microsoft.com/office/drawing/2014/main" id="{76DC3AEC-F858-419D-B7F5-7E5B0C8BBADD}"/>
              </a:ext>
            </a:extLst>
          </p:cNvPr>
          <p:cNvSpPr>
            <a:spLocks noGrp="1"/>
          </p:cNvSpPr>
          <p:nvPr>
            <p:ph type="body" idx="1"/>
          </p:nvPr>
        </p:nvSpPr>
        <p:spPr/>
        <p:txBody>
          <a:bodyPr/>
          <a:lstStyle/>
          <a:p>
            <a:pPr>
              <a:spcAft>
                <a:spcPts val="600"/>
              </a:spcAft>
            </a:pPr>
            <a:r>
              <a:rPr lang="en-US" sz="1800" dirty="0"/>
              <a:t>Cannot contain spaces</a:t>
            </a:r>
          </a:p>
          <a:p>
            <a:pPr>
              <a:spcAft>
                <a:spcPts val="600"/>
              </a:spcAft>
            </a:pPr>
            <a:r>
              <a:rPr lang="en-US" sz="1800" dirty="0"/>
              <a:t>Can use underscores</a:t>
            </a:r>
          </a:p>
          <a:p>
            <a:pPr>
              <a:spcAft>
                <a:spcPts val="600"/>
              </a:spcAft>
            </a:pPr>
            <a:r>
              <a:rPr lang="en-US" sz="1800" dirty="0"/>
              <a:t>Should use camelCase</a:t>
            </a:r>
          </a:p>
          <a:p>
            <a:pPr lvl="1">
              <a:spcAft>
                <a:spcPts val="600"/>
              </a:spcAft>
            </a:pPr>
            <a:r>
              <a:rPr lang="en-US" sz="1600" dirty="0"/>
              <a:t>If variable is one word, first letter is lowercase</a:t>
            </a:r>
          </a:p>
          <a:p>
            <a:pPr lvl="2">
              <a:spcAft>
                <a:spcPts val="600"/>
              </a:spcAft>
            </a:pPr>
            <a:r>
              <a:rPr lang="en-US" dirty="0"/>
              <a:t>let car = ”Audi”;</a:t>
            </a:r>
          </a:p>
          <a:p>
            <a:pPr lvl="1">
              <a:spcAft>
                <a:spcPts val="600"/>
              </a:spcAft>
            </a:pPr>
            <a:r>
              <a:rPr lang="en-US" sz="1600" dirty="0"/>
              <a:t>If variable is two or more words put together, first letter of first word is lower case and first letter of every other word is upper case</a:t>
            </a:r>
          </a:p>
          <a:p>
            <a:pPr lvl="2">
              <a:spcAft>
                <a:spcPts val="600"/>
              </a:spcAft>
            </a:pPr>
            <a:r>
              <a:rPr lang="en-US" dirty="0"/>
              <a:t>let </a:t>
            </a:r>
            <a:r>
              <a:rPr lang="en-US" dirty="0" err="1"/>
              <a:t>numOfStudents</a:t>
            </a:r>
            <a:r>
              <a:rPr lang="en-US" dirty="0"/>
              <a:t> = 23;</a:t>
            </a:r>
          </a:p>
        </p:txBody>
      </p:sp>
    </p:spTree>
    <p:extLst>
      <p:ext uri="{BB962C8B-B14F-4D97-AF65-F5344CB8AC3E}">
        <p14:creationId xmlns:p14="http://schemas.microsoft.com/office/powerpoint/2010/main" val="156881324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4ECF2-12A8-41B2-CF2A-C25A67AA9752}"/>
              </a:ext>
            </a:extLst>
          </p:cNvPr>
          <p:cNvSpPr>
            <a:spLocks noGrp="1"/>
          </p:cNvSpPr>
          <p:nvPr>
            <p:ph type="title"/>
          </p:nvPr>
        </p:nvSpPr>
        <p:spPr/>
        <p:txBody>
          <a:bodyPr/>
          <a:lstStyle/>
          <a:p>
            <a:r>
              <a:rPr lang="en-US" dirty="0"/>
              <a:t>Variable naming (cont’d)</a:t>
            </a:r>
          </a:p>
        </p:txBody>
      </p:sp>
      <p:sp>
        <p:nvSpPr>
          <p:cNvPr id="3" name="Text Placeholder 2">
            <a:extLst>
              <a:ext uri="{FF2B5EF4-FFF2-40B4-BE49-F238E27FC236}">
                <a16:creationId xmlns:a16="http://schemas.microsoft.com/office/drawing/2014/main" id="{2C540B9C-E358-5DDF-5F35-9AD8A5366A15}"/>
              </a:ext>
            </a:extLst>
          </p:cNvPr>
          <p:cNvSpPr>
            <a:spLocks noGrp="1"/>
          </p:cNvSpPr>
          <p:nvPr>
            <p:ph type="body" idx="1"/>
          </p:nvPr>
        </p:nvSpPr>
        <p:spPr/>
        <p:txBody>
          <a:bodyPr/>
          <a:lstStyle/>
          <a:p>
            <a:pPr>
              <a:spcAft>
                <a:spcPts val="600"/>
              </a:spcAft>
            </a:pPr>
            <a:r>
              <a:rPr lang="en-US" sz="1800" dirty="0"/>
              <a:t>Name should be descriptive of what variable represents</a:t>
            </a:r>
          </a:p>
          <a:p>
            <a:pPr lvl="1">
              <a:spcAft>
                <a:spcPts val="600"/>
              </a:spcAft>
            </a:pPr>
            <a:r>
              <a:rPr lang="en-US" sz="1600" dirty="0"/>
              <a:t>Ex: for bank account balance:</a:t>
            </a:r>
            <a:r>
              <a:rPr lang="en-US" dirty="0"/>
              <a:t>	</a:t>
            </a:r>
          </a:p>
          <a:p>
            <a:pPr lvl="2">
              <a:spcAft>
                <a:spcPts val="600"/>
              </a:spcAft>
            </a:pPr>
            <a:r>
              <a:rPr lang="en-US" dirty="0"/>
              <a:t>let x = ”$10.00”; // WRONG</a:t>
            </a:r>
          </a:p>
          <a:p>
            <a:pPr lvl="2">
              <a:spcAft>
                <a:spcPts val="600"/>
              </a:spcAft>
            </a:pPr>
            <a:r>
              <a:rPr lang="en-US" dirty="0"/>
              <a:t>let </a:t>
            </a:r>
            <a:r>
              <a:rPr lang="en-US" dirty="0" err="1"/>
              <a:t>accountBalance</a:t>
            </a:r>
            <a:r>
              <a:rPr lang="en-US" dirty="0"/>
              <a:t> = “$10.00”; // RIGHT</a:t>
            </a:r>
          </a:p>
          <a:p>
            <a:pPr lvl="1">
              <a:spcAft>
                <a:spcPts val="600"/>
              </a:spcAft>
            </a:pPr>
            <a:r>
              <a:rPr lang="en-US" sz="1600" dirty="0"/>
              <a:t>Exception: temporary variables that serve a utility purpose such as incrementing a loop</a:t>
            </a:r>
          </a:p>
          <a:p>
            <a:endParaRPr lang="en-US" dirty="0"/>
          </a:p>
        </p:txBody>
      </p:sp>
    </p:spTree>
    <p:extLst>
      <p:ext uri="{BB962C8B-B14F-4D97-AF65-F5344CB8AC3E}">
        <p14:creationId xmlns:p14="http://schemas.microsoft.com/office/powerpoint/2010/main" val="103301359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0F96F-A12D-5A37-B30C-C6A39A3F54F2}"/>
              </a:ext>
            </a:extLst>
          </p:cNvPr>
          <p:cNvSpPr>
            <a:spLocks noGrp="1"/>
          </p:cNvSpPr>
          <p:nvPr>
            <p:ph type="title"/>
          </p:nvPr>
        </p:nvSpPr>
        <p:spPr/>
        <p:txBody>
          <a:bodyPr/>
          <a:lstStyle/>
          <a:p>
            <a:r>
              <a:rPr lang="en-US" dirty="0"/>
              <a:t>Reserved words (variable naming)</a:t>
            </a:r>
          </a:p>
        </p:txBody>
      </p:sp>
      <p:sp>
        <p:nvSpPr>
          <p:cNvPr id="3" name="Text Placeholder 2">
            <a:extLst>
              <a:ext uri="{FF2B5EF4-FFF2-40B4-BE49-F238E27FC236}">
                <a16:creationId xmlns:a16="http://schemas.microsoft.com/office/drawing/2014/main" id="{D819AB7B-1AAD-B36C-CA07-A192EEB94266}"/>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A9AC8681-C0E3-DE84-E5D3-F8D474A3D668}"/>
              </a:ext>
            </a:extLst>
          </p:cNvPr>
          <p:cNvPicPr>
            <a:picLocks noChangeAspect="1"/>
          </p:cNvPicPr>
          <p:nvPr/>
        </p:nvPicPr>
        <p:blipFill>
          <a:blip r:embed="rId2"/>
          <a:stretch>
            <a:fillRect/>
          </a:stretch>
        </p:blipFill>
        <p:spPr>
          <a:xfrm>
            <a:off x="1415550" y="1063175"/>
            <a:ext cx="7018300" cy="3585620"/>
          </a:xfrm>
          <a:prstGeom prst="rect">
            <a:avLst/>
          </a:prstGeom>
        </p:spPr>
      </p:pic>
    </p:spTree>
    <p:extLst>
      <p:ext uri="{BB962C8B-B14F-4D97-AF65-F5344CB8AC3E}">
        <p14:creationId xmlns:p14="http://schemas.microsoft.com/office/powerpoint/2010/main" val="290656292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Stores sequences of characters enclosed in single quotes (</a:t>
            </a:r>
            <a:r>
              <a:rPr lang="en" sz="2000">
                <a:solidFill>
                  <a:srgbClr val="F2F2F2"/>
                </a:solidFill>
              </a:rPr>
              <a:t>‘</a:t>
            </a:r>
            <a:r>
              <a:rPr lang="en" sz="2000"/>
              <a:t>), double quotes (</a:t>
            </a:r>
            <a:r>
              <a:rPr lang="en" sz="2000">
                <a:solidFill>
                  <a:srgbClr val="F2F2F2"/>
                </a:solidFill>
              </a:rPr>
              <a:t>“</a:t>
            </a:r>
            <a:r>
              <a:rPr lang="en" sz="2000"/>
              <a:t>) or backticks (</a:t>
            </a:r>
            <a:r>
              <a:rPr lang="en" sz="2000">
                <a:solidFill>
                  <a:srgbClr val="F2F2F2"/>
                </a:solidFill>
              </a:rPr>
              <a:t>`</a:t>
            </a:r>
            <a:r>
              <a:rPr lang="en" sz="2000"/>
              <a:t>)</a:t>
            </a:r>
            <a:endParaRPr sz="2000"/>
          </a:p>
          <a:p>
            <a:pPr marL="457200" lvl="0" indent="-342900" algn="l" rtl="0">
              <a:spcBef>
                <a:spcPts val="1200"/>
              </a:spcBef>
              <a:spcAft>
                <a:spcPts val="0"/>
              </a:spcAft>
              <a:buSzPts val="1800"/>
              <a:buChar char="-"/>
            </a:pPr>
            <a:r>
              <a:rPr lang="en" sz="1800"/>
              <a:t>Problem with using single quotes - you can’t then use single quotes as an apostrophe without ‘escaping’ it</a:t>
            </a:r>
            <a:endParaRPr sz="1800"/>
          </a:p>
          <a:p>
            <a:pPr marL="914400" lvl="1" indent="-330200" algn="l" rtl="0">
              <a:spcBef>
                <a:spcPts val="1000"/>
              </a:spcBef>
              <a:spcAft>
                <a:spcPts val="0"/>
              </a:spcAft>
              <a:buSzPts val="1600"/>
              <a:buChar char="-"/>
            </a:pPr>
            <a:r>
              <a:rPr lang="en" sz="1600"/>
              <a:t>Will end string prematurely and cause error</a:t>
            </a:r>
            <a:endParaRPr sz="1600"/>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Escaping a character is done using a backslash (</a:t>
            </a:r>
            <a:r>
              <a:rPr lang="en" sz="1700">
                <a:solidFill>
                  <a:srgbClr val="F2F2F2"/>
                </a:solidFill>
              </a:rPr>
              <a:t>\</a:t>
            </a:r>
            <a:r>
              <a:rPr lang="en" sz="1700"/>
              <a:t>)</a:t>
            </a:r>
            <a:endParaRPr sz="1700"/>
          </a:p>
          <a:p>
            <a:pPr marL="457200" lvl="0" indent="-336550" algn="l" rtl="0">
              <a:spcBef>
                <a:spcPts val="0"/>
              </a:spcBef>
              <a:spcAft>
                <a:spcPts val="0"/>
              </a:spcAft>
              <a:buSzPts val="1700"/>
              <a:buChar char="-"/>
            </a:pPr>
            <a:r>
              <a:rPr lang="en" sz="1700"/>
              <a:t>Used with special characters in a string so they are taken as the literal character rather than as a special character</a:t>
            </a:r>
            <a:endParaRPr sz="1700"/>
          </a:p>
          <a:p>
            <a:pPr marL="457200" lvl="0" indent="-336550" algn="l" rtl="0">
              <a:spcBef>
                <a:spcPts val="0"/>
              </a:spcBef>
              <a:spcAft>
                <a:spcPts val="0"/>
              </a:spcAft>
              <a:buSzPts val="1700"/>
              <a:buChar char="-"/>
            </a:pPr>
            <a:r>
              <a:rPr lang="en" sz="1700"/>
              <a:t>Backslash also used with certain characters to do specific things with strings</a:t>
            </a:r>
            <a:endParaRPr sz="170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a:t>Use plus sign (+) to put two or more strings together, along with variable or numbers to go with the strings</a:t>
            </a:r>
            <a:endParaRPr sz="1700"/>
          </a:p>
          <a:p>
            <a:pPr marL="457200" lvl="0" indent="-336550" algn="l" rtl="0">
              <a:spcBef>
                <a:spcPts val="1000"/>
              </a:spcBef>
              <a:spcAft>
                <a:spcPts val="0"/>
              </a:spcAft>
              <a:buSzPts val="1700"/>
              <a:buChar char="-"/>
            </a:pPr>
            <a:r>
              <a:rPr lang="en" sz="1700"/>
              <a:t>Hint - don’t forget spaces</a:t>
            </a:r>
            <a:endParaRPr sz="1700"/>
          </a:p>
          <a:p>
            <a:pPr marL="914400" lvl="0" indent="-317500" algn="l" rtl="0">
              <a:spcBef>
                <a:spcPts val="1000"/>
              </a:spcBef>
              <a:spcAft>
                <a:spcPts val="1000"/>
              </a:spcAft>
              <a:buSzPts val="1400"/>
              <a:buChar char="-"/>
            </a:pPr>
            <a:r>
              <a:rPr lang="en" sz="1400"/>
              <a:t>// Concatenation</a:t>
            </a:r>
            <a:br>
              <a:rPr lang="en" sz="1400"/>
            </a:br>
            <a:r>
              <a:rPr lang="en" sz="1400"/>
              <a:t>let numOfStudents = 23;</a:t>
            </a:r>
            <a:br>
              <a:rPr lang="en" sz="1400"/>
            </a:br>
            <a:r>
              <a:rPr lang="en" sz="1400"/>
              <a:t>console.log(“There are “ + numOfStudents + “ students in my class.”);</a:t>
            </a:r>
            <a:br>
              <a:rPr lang="en" sz="1400"/>
            </a:br>
            <a:r>
              <a:rPr lang="en" sz="1400"/>
              <a:t>// There are 23 students in my class.</a:t>
            </a:r>
            <a:endParaRPr sz="1700"/>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Done using backticks (</a:t>
            </a:r>
            <a:r>
              <a:rPr lang="en" sz="1700" dirty="0">
                <a:solidFill>
                  <a:srgbClr val="F2F2F2"/>
                </a:solidFill>
              </a:rPr>
              <a:t>`</a:t>
            </a:r>
            <a:r>
              <a:rPr lang="en" sz="1700" dirty="0"/>
              <a:t>)</a:t>
            </a:r>
            <a:endParaRPr sz="1700" dirty="0"/>
          </a:p>
          <a:p>
            <a:pPr marL="457200" lvl="0" indent="-336550" algn="l" rtl="0">
              <a:spcBef>
                <a:spcPts val="0"/>
              </a:spcBef>
              <a:spcAft>
                <a:spcPts val="0"/>
              </a:spcAft>
              <a:buSzPts val="1700"/>
              <a:buChar char="-"/>
            </a:pPr>
            <a:r>
              <a:rPr lang="en" sz="1700" dirty="0"/>
              <a:t>Allow you to put whole string together, including variables, instead of breaking string up and concatenating</a:t>
            </a:r>
            <a:endParaRPr sz="1700" dirty="0"/>
          </a:p>
          <a:p>
            <a:pPr marL="457200" lvl="0" indent="-336550" algn="l" rtl="0">
              <a:spcBef>
                <a:spcPts val="0"/>
              </a:spcBef>
              <a:spcAft>
                <a:spcPts val="0"/>
              </a:spcAft>
              <a:buSzPts val="1700"/>
              <a:buChar char="-"/>
            </a:pPr>
            <a:r>
              <a:rPr lang="en" sz="1700" dirty="0"/>
              <a:t>Variables are included by putting variable in curly braces </a:t>
            </a:r>
            <a:r>
              <a:rPr lang="en" sz="1700" dirty="0">
                <a:solidFill>
                  <a:srgbClr val="F2F2F2"/>
                </a:solidFill>
              </a:rPr>
              <a:t>{}</a:t>
            </a:r>
            <a:r>
              <a:rPr lang="en" sz="1700" dirty="0"/>
              <a:t> and prefixing the braces with a dollar sign (</a:t>
            </a:r>
            <a:r>
              <a:rPr lang="en" sz="1700" dirty="0">
                <a:solidFill>
                  <a:srgbClr val="F2F2F2"/>
                </a:solidFill>
              </a:rPr>
              <a:t>$</a:t>
            </a:r>
            <a:r>
              <a:rPr lang="en" sz="1700" dirty="0"/>
              <a:t>)</a:t>
            </a:r>
            <a:endParaRPr sz="1700" dirty="0"/>
          </a:p>
          <a:p>
            <a:pPr marL="914400" lvl="1" indent="-317500" algn="l" rtl="0">
              <a:spcBef>
                <a:spcPts val="0"/>
              </a:spcBef>
              <a:spcAft>
                <a:spcPts val="0"/>
              </a:spcAft>
              <a:buSzPts val="1400"/>
              <a:buChar char="-"/>
            </a:pPr>
            <a:r>
              <a:rPr lang="en" dirty="0"/>
              <a:t>// Template literal</a:t>
            </a:r>
            <a:br>
              <a:rPr lang="en" dirty="0"/>
            </a:br>
            <a:r>
              <a:rPr lang="en" dirty="0"/>
              <a:t>console.log(`There are </a:t>
            </a:r>
            <a:r>
              <a:rPr lang="en" dirty="0">
                <a:solidFill>
                  <a:schemeClr val="accent6"/>
                </a:solidFill>
              </a:rPr>
              <a:t>${</a:t>
            </a:r>
            <a:r>
              <a:rPr lang="en" dirty="0" err="1">
                <a:solidFill>
                  <a:schemeClr val="tx2">
                    <a:lumMod val="60000"/>
                    <a:lumOff val="40000"/>
                  </a:schemeClr>
                </a:solidFill>
              </a:rPr>
              <a:t>numOfStudents</a:t>
            </a:r>
            <a:r>
              <a:rPr lang="en" dirty="0">
                <a:solidFill>
                  <a:schemeClr val="accent6"/>
                </a:solidFill>
              </a:rPr>
              <a:t>}</a:t>
            </a:r>
            <a:r>
              <a:rPr lang="en" dirty="0"/>
              <a:t> students in my class.`);</a:t>
            </a:r>
            <a:br>
              <a:rPr lang="en" dirty="0"/>
            </a:br>
            <a:r>
              <a:rPr lang="en" dirty="0"/>
              <a:t>// There are 23 students in my class.</a:t>
            </a:r>
            <a:endParaRPr dirty="0"/>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Handles any numerical value</a:t>
            </a:r>
            <a:endParaRPr sz="2000"/>
          </a:p>
          <a:p>
            <a:pPr marL="457200" lvl="0" indent="-342900" algn="l" rtl="0">
              <a:spcBef>
                <a:spcPts val="1200"/>
              </a:spcBef>
              <a:spcAft>
                <a:spcPts val="0"/>
              </a:spcAft>
              <a:buSzPts val="1800"/>
              <a:buChar char="-"/>
            </a:pPr>
            <a:r>
              <a:rPr lang="en" sz="1800"/>
              <a:t>Doesn’t differentiate between integers and floats (other languages do)</a:t>
            </a:r>
            <a:endParaRPr sz="1800"/>
          </a:p>
          <a:p>
            <a:pPr marL="457200" lvl="0" indent="-342900" algn="l" rtl="0">
              <a:spcBef>
                <a:spcPts val="1000"/>
              </a:spcBef>
              <a:spcAft>
                <a:spcPts val="0"/>
              </a:spcAft>
              <a:buSzPts val="1800"/>
              <a:buChar char="-"/>
            </a:pPr>
            <a:r>
              <a:rPr lang="en" sz="1800"/>
              <a:t>Integers - numbers without decimals (15, -12, 0)</a:t>
            </a:r>
            <a:endParaRPr sz="1800"/>
          </a:p>
          <a:p>
            <a:pPr marL="457200" lvl="0" indent="-342900" algn="l" rtl="0">
              <a:spcBef>
                <a:spcPts val="1000"/>
              </a:spcBef>
              <a:spcAft>
                <a:spcPts val="0"/>
              </a:spcAft>
              <a:buSzPts val="1800"/>
              <a:buChar char="-"/>
            </a:pPr>
            <a:r>
              <a:rPr lang="en" sz="1800"/>
              <a:t>Floats - numbers with decimals (42.05, -26.00007)</a:t>
            </a:r>
            <a:endParaRPr sz="1800"/>
          </a:p>
          <a:p>
            <a:pPr marL="0" lvl="0" indent="0" algn="l" rtl="0">
              <a:spcBef>
                <a:spcPts val="1200"/>
              </a:spcBef>
              <a:spcAft>
                <a:spcPts val="1200"/>
              </a:spcAft>
              <a:buNone/>
            </a:pP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number in JavaScript:</a:t>
            </a:r>
            <a:endParaRPr sz="1800" dirty="0"/>
          </a:p>
          <a:p>
            <a:pPr marL="0" lvl="0" indent="457200" algn="l" rtl="0">
              <a:spcBef>
                <a:spcPts val="1000"/>
              </a:spcBef>
              <a:spcAft>
                <a:spcPts val="0"/>
              </a:spcAft>
              <a:buNone/>
            </a:pPr>
            <a:r>
              <a:rPr lang="en" sz="1800" dirty="0">
                <a:solidFill>
                  <a:srgbClr val="F2F2F2"/>
                </a:solidFill>
              </a:rPr>
              <a:t>1.797693134862315e+308</a:t>
            </a:r>
            <a:endParaRPr sz="1800" dirty="0">
              <a:solidFill>
                <a:srgbClr val="F2F2F2"/>
              </a:solidFill>
            </a:endParaRPr>
          </a:p>
          <a:p>
            <a:pPr marL="457200" lvl="0" indent="-342900" algn="l" rtl="0">
              <a:spcBef>
                <a:spcPts val="1000"/>
              </a:spcBef>
              <a:spcAft>
                <a:spcPts val="0"/>
              </a:spcAft>
              <a:buSzPts val="1800"/>
              <a:buChar char="-"/>
            </a:pPr>
            <a:r>
              <a:rPr lang="en" sz="1800" dirty="0"/>
              <a:t>Any number higher than that is referred to as </a:t>
            </a:r>
            <a:r>
              <a:rPr lang="en" sz="1800" dirty="0">
                <a:solidFill>
                  <a:srgbClr val="F2F2F2"/>
                </a:solidFill>
              </a:rPr>
              <a:t>Infinity</a:t>
            </a:r>
            <a:endParaRPr sz="1800" dirty="0">
              <a:solidFill>
                <a:srgbClr val="F2F2F2"/>
              </a:solidFill>
            </a:endParaRPr>
          </a:p>
          <a:p>
            <a:pPr marL="0" lvl="0" indent="0" algn="l" rtl="0">
              <a:spcBef>
                <a:spcPts val="1000"/>
              </a:spcBef>
              <a:spcAft>
                <a:spcPts val="0"/>
              </a:spcAft>
              <a:buNone/>
            </a:pPr>
            <a:r>
              <a:rPr lang="en" sz="1800" dirty="0"/>
              <a:t>Lowest number in JavaScript:</a:t>
            </a:r>
            <a:endParaRPr sz="1800" dirty="0"/>
          </a:p>
          <a:p>
            <a:pPr marL="0" lvl="0" indent="457200" algn="l" rtl="0">
              <a:spcBef>
                <a:spcPts val="1000"/>
              </a:spcBef>
              <a:spcAft>
                <a:spcPts val="0"/>
              </a:spcAft>
              <a:buNone/>
            </a:pPr>
            <a:r>
              <a:rPr lang="en" sz="1800" dirty="0">
                <a:solidFill>
                  <a:srgbClr val="F2F2F2"/>
                </a:solidFill>
              </a:rPr>
              <a:t>1.797693134862316e+308</a:t>
            </a:r>
            <a:endParaRPr sz="1800" dirty="0">
              <a:solidFill>
                <a:srgbClr val="F2F2F2"/>
              </a:solidFill>
            </a:endParaRPr>
          </a:p>
          <a:p>
            <a:pPr marL="457200" lvl="0" indent="-342900" algn="l" rtl="0">
              <a:spcBef>
                <a:spcPts val="1000"/>
              </a:spcBef>
              <a:spcAft>
                <a:spcPts val="0"/>
              </a:spcAft>
              <a:buSzPts val="1800"/>
              <a:buChar char="-"/>
            </a:pPr>
            <a:r>
              <a:rPr lang="en" sz="1800" dirty="0"/>
              <a:t>Any number lower than that is referred to as  </a:t>
            </a:r>
            <a:r>
              <a:rPr lang="en" sz="1800" dirty="0">
                <a:solidFill>
                  <a:srgbClr val="F2F2F2"/>
                </a:solidFill>
              </a:rPr>
              <a:t>-Infinity</a:t>
            </a:r>
            <a:endParaRPr sz="1800" dirty="0">
              <a:solidFill>
                <a:srgbClr val="F2F2F2"/>
              </a:solidFill>
            </a:endParaRPr>
          </a:p>
          <a:p>
            <a:pPr marL="0" lvl="0" indent="0" algn="l" rtl="0">
              <a:spcBef>
                <a:spcPts val="1200"/>
              </a:spcBef>
              <a:spcAft>
                <a:spcPts val="1200"/>
              </a:spcAft>
              <a:buNone/>
            </a:pPr>
            <a:endParaRPr dirty="0"/>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1200"/>
              </a:spcAft>
              <a:buNone/>
            </a:pPr>
            <a:r>
              <a:rPr lang="en-US" sz="1800" dirty="0" err="1"/>
              <a:t>NaN</a:t>
            </a:r>
            <a:r>
              <a:rPr lang="en-US" sz="1800" dirty="0"/>
              <a:t> – stands for “Not a Number”</a:t>
            </a:r>
          </a:p>
          <a:p>
            <a:pPr marL="342900" lvl="0" indent="-342900" algn="l" rtl="0">
              <a:spcBef>
                <a:spcPts val="1200"/>
              </a:spcBef>
              <a:spcAft>
                <a:spcPts val="1200"/>
              </a:spcAft>
              <a:buFontTx/>
              <a:buChar char="-"/>
            </a:pPr>
            <a:r>
              <a:rPr lang="en-US" sz="1600" dirty="0"/>
              <a:t>However, </a:t>
            </a:r>
            <a:r>
              <a:rPr lang="en-US" sz="1600" dirty="0" err="1"/>
              <a:t>typeof</a:t>
            </a:r>
            <a:r>
              <a:rPr lang="en-US" sz="1600" dirty="0"/>
              <a:t> </a:t>
            </a:r>
            <a:r>
              <a:rPr lang="en-US" sz="1600" dirty="0" err="1"/>
              <a:t>NaN</a:t>
            </a:r>
            <a:r>
              <a:rPr lang="en-US" sz="1600" dirty="0"/>
              <a:t> == ‘number’</a:t>
            </a:r>
          </a:p>
          <a:p>
            <a:pPr marL="800100" lvl="1" indent="-342900">
              <a:spcBef>
                <a:spcPts val="1200"/>
              </a:spcBef>
              <a:spcAft>
                <a:spcPts val="1200"/>
              </a:spcAft>
              <a:buFontTx/>
              <a:buChar char="-"/>
            </a:pPr>
            <a:r>
              <a:rPr lang="en-US" dirty="0"/>
              <a:t>It is a numeric type whose specific value cannot be represented within the limitations of the numeric type (WHAT????)</a:t>
            </a:r>
          </a:p>
          <a:p>
            <a:pPr marL="342900" indent="-342900">
              <a:spcBef>
                <a:spcPts val="1200"/>
              </a:spcBef>
              <a:spcAft>
                <a:spcPts val="1200"/>
              </a:spcAft>
              <a:buFontTx/>
              <a:buChar char="-"/>
            </a:pPr>
            <a:r>
              <a:rPr lang="en-US" sz="1600" dirty="0" err="1"/>
              <a:t>NaN</a:t>
            </a:r>
            <a:r>
              <a:rPr lang="en-US" sz="1600" dirty="0"/>
              <a:t> does not equal another </a:t>
            </a:r>
            <a:r>
              <a:rPr lang="en-US" sz="1600" dirty="0" err="1"/>
              <a:t>NaN</a:t>
            </a:r>
            <a:r>
              <a:rPr lang="en-US" sz="1600" dirty="0"/>
              <a:t> and does not even equal itself</a:t>
            </a:r>
          </a:p>
          <a:p>
            <a:pPr marL="800100" lvl="1" indent="-342900">
              <a:spcBef>
                <a:spcPts val="1200"/>
              </a:spcBef>
              <a:spcAft>
                <a:spcPts val="1200"/>
              </a:spcAft>
              <a:buFontTx/>
              <a:buChar char="-"/>
            </a:pPr>
            <a:r>
              <a:rPr lang="en-US" dirty="0"/>
              <a:t>var x = </a:t>
            </a:r>
            <a:r>
              <a:rPr lang="en-US" dirty="0" err="1"/>
              <a:t>NaN</a:t>
            </a:r>
            <a:r>
              <a:rPr lang="en-US" dirty="0"/>
              <a:t>;</a:t>
            </a:r>
            <a:br>
              <a:rPr lang="en-US" dirty="0"/>
            </a:br>
            <a:r>
              <a:rPr lang="en-US" dirty="0"/>
              <a:t>console.log(x == x); // false</a:t>
            </a:r>
            <a:endParaRPr dirty="0"/>
          </a:p>
        </p:txBody>
      </p:sp>
    </p:spTree>
    <p:extLst>
      <p:ext uri="{BB962C8B-B14F-4D97-AF65-F5344CB8AC3E}">
        <p14:creationId xmlns:p14="http://schemas.microsoft.com/office/powerpoint/2010/main" val="128456564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a:t>Adding two numbers results in a number</a:t>
            </a:r>
            <a:endParaRPr sz="2000"/>
          </a:p>
          <a:p>
            <a:pPr marL="914400" lvl="1" indent="-330200" algn="l" rtl="0">
              <a:spcBef>
                <a:spcPts val="1000"/>
              </a:spcBef>
              <a:spcAft>
                <a:spcPts val="0"/>
              </a:spcAft>
              <a:buSzPts val="1600"/>
              <a:buChar char="-"/>
            </a:pPr>
            <a:r>
              <a:rPr lang="en" sz="1600"/>
              <a:t>console.log(10 + 20); // 30</a:t>
            </a:r>
            <a:endParaRPr sz="1600"/>
          </a:p>
          <a:p>
            <a:pPr marL="457200" lvl="0" indent="-355600" algn="l" rtl="0">
              <a:spcBef>
                <a:spcPts val="1000"/>
              </a:spcBef>
              <a:spcAft>
                <a:spcPts val="0"/>
              </a:spcAft>
              <a:buSzPts val="2000"/>
              <a:buChar char="-"/>
            </a:pPr>
            <a:r>
              <a:rPr lang="en" sz="2000"/>
              <a:t>Adding two strings results in concatenation</a:t>
            </a:r>
            <a:endParaRPr sz="2000"/>
          </a:p>
          <a:p>
            <a:pPr marL="914400" lvl="1" indent="-342900" algn="l" rtl="0">
              <a:spcBef>
                <a:spcPts val="1000"/>
              </a:spcBef>
              <a:spcAft>
                <a:spcPts val="0"/>
              </a:spcAft>
              <a:buSzPts val="1800"/>
              <a:buChar char="-"/>
            </a:pPr>
            <a:r>
              <a:rPr lang="en" sz="1800"/>
              <a:t>A number surrounded by quotes is a numeric string</a:t>
            </a:r>
            <a:endParaRPr sz="1800"/>
          </a:p>
          <a:p>
            <a:pPr marL="914400" lvl="1" indent="-330200" algn="l" rtl="0">
              <a:spcBef>
                <a:spcPts val="1000"/>
              </a:spcBef>
              <a:spcAft>
                <a:spcPts val="0"/>
              </a:spcAft>
              <a:buSzPts val="1600"/>
              <a:buChar char="-"/>
            </a:pPr>
            <a:r>
              <a:rPr lang="en" sz="1600"/>
              <a:t>console.log(“10” + “20”); // 1020</a:t>
            </a:r>
            <a:endParaRPr sz="160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Adding a number and a numeric string results in concatenation</a:t>
            </a:r>
            <a:endParaRPr sz="2400"/>
          </a:p>
          <a:p>
            <a:pPr marL="0" lvl="0" indent="0" algn="l" rtl="0">
              <a:spcBef>
                <a:spcPts val="1000"/>
              </a:spcBef>
              <a:spcAft>
                <a:spcPts val="0"/>
              </a:spcAft>
              <a:buNone/>
            </a:pPr>
            <a:endParaRPr sz="2400"/>
          </a:p>
          <a:p>
            <a:pPr marL="914400" lvl="1" indent="-355600" algn="l" rtl="0">
              <a:spcBef>
                <a:spcPts val="1000"/>
              </a:spcBef>
              <a:spcAft>
                <a:spcPts val="0"/>
              </a:spcAft>
              <a:buSzPts val="2000"/>
              <a:buChar char="-"/>
            </a:pPr>
            <a:r>
              <a:rPr lang="en" sz="2000"/>
              <a:t>console.log(10 + “20”); // 1020</a:t>
            </a:r>
            <a:endParaRPr sz="2000"/>
          </a:p>
          <a:p>
            <a:pPr marL="914400" lvl="1" indent="-355600" algn="l" rtl="0">
              <a:spcBef>
                <a:spcPts val="0"/>
              </a:spcBef>
              <a:spcAft>
                <a:spcPts val="0"/>
              </a:spcAft>
              <a:buSzPts val="2000"/>
              <a:buChar char="-"/>
            </a:pPr>
            <a:r>
              <a:rPr lang="en" sz="2000"/>
              <a:t>console.log(“10” + 20); // 1020</a:t>
            </a:r>
            <a:endParaRPr sz="2000"/>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t>const bigIntOne = 135n;</a:t>
            </a:r>
            <a:endParaRPr sz="1600" dirty="0"/>
          </a:p>
          <a:p>
            <a:pPr marL="457200" lvl="0" indent="-342900" algn="l" rtl="0">
              <a:spcBef>
                <a:spcPts val="1000"/>
              </a:spcBef>
              <a:spcAft>
                <a:spcPts val="0"/>
              </a:spcAft>
              <a:buSzPts val="1800"/>
              <a:buChar char="-"/>
            </a:pPr>
            <a:r>
              <a:rPr lang="en" sz="1800" dirty="0"/>
              <a:t>Call BigInt() on a whole numerical value or a string with only an integer value</a:t>
            </a:r>
            <a:endParaRPr sz="1800" dirty="0"/>
          </a:p>
          <a:p>
            <a:pPr marL="914400" lvl="1" indent="-330200" algn="l" rtl="0">
              <a:spcBef>
                <a:spcPts val="1000"/>
              </a:spcBef>
              <a:spcAft>
                <a:spcPts val="0"/>
              </a:spcAft>
              <a:buSzPts val="1600"/>
              <a:buChar char="-"/>
            </a:pPr>
            <a:r>
              <a:rPr lang="en" sz="1600" dirty="0"/>
              <a:t>const bigIntTwo = BigInt(964);</a:t>
            </a:r>
            <a:endParaRPr sz="1600" dirty="0"/>
          </a:p>
          <a:p>
            <a:pPr marL="1371600" lvl="2" indent="-330200" algn="l" rtl="0">
              <a:spcBef>
                <a:spcPts val="0"/>
              </a:spcBef>
              <a:spcAft>
                <a:spcPts val="0"/>
              </a:spcAft>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t>const bigIntThree = BigInt(“857”);</a:t>
            </a:r>
            <a:endParaRPr sz="1600" dirty="0"/>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Type coercion involves the conversion of values from one data type to another</a:t>
            </a:r>
          </a:p>
          <a:p>
            <a:pPr marL="342900" lvl="0" indent="-342900" algn="l" rtl="0">
              <a:spcBef>
                <a:spcPts val="0"/>
              </a:spcBef>
              <a:spcAft>
                <a:spcPts val="0"/>
              </a:spcAft>
              <a:buFontTx/>
              <a:buChar char="-"/>
            </a:pPr>
            <a:r>
              <a:rPr lang="en-US" sz="1800" dirty="0"/>
              <a:t>Typically performed during operations or comparisons of different data types</a:t>
            </a:r>
          </a:p>
          <a:p>
            <a:pPr marL="342900" lvl="0" indent="-342900" algn="l" rtl="0">
              <a:spcBef>
                <a:spcPts val="0"/>
              </a:spcBef>
              <a:spcAft>
                <a:spcPts val="0"/>
              </a:spcAft>
              <a:buFontTx/>
              <a:buChar char="-"/>
            </a:pPr>
            <a:r>
              <a:rPr lang="en-US" sz="1800" dirty="0"/>
              <a:t>Done when necessary to complete the operation or comparison</a:t>
            </a:r>
          </a:p>
          <a:p>
            <a:pPr marL="800100" lvl="1" indent="-342900">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Differences from numbers</a:t>
            </a:r>
          </a:p>
          <a:p>
            <a:pPr marL="342900" lvl="0" indent="-342900" algn="l" rtl="0">
              <a:spcBef>
                <a:spcPts val="0"/>
              </a:spcBef>
              <a:spcAft>
                <a:spcPts val="0"/>
              </a:spcAft>
              <a:buFontTx/>
              <a:buChar char="-"/>
            </a:pPr>
            <a:r>
              <a:rPr lang="en-US" sz="1800" dirty="0"/>
              <a:t>Cannot be used with methods from the Math object</a:t>
            </a:r>
          </a:p>
          <a:p>
            <a:pPr marL="285750" lvl="0" indent="-285750" algn="l" rtl="0">
              <a:spcBef>
                <a:spcPts val="0"/>
              </a:spcBef>
              <a:spcAft>
                <a:spcPts val="0"/>
              </a:spcAft>
              <a:buFontTx/>
              <a:buChar char="-"/>
            </a:pPr>
            <a:r>
              <a:rPr lang="en-US" sz="1800" dirty="0"/>
              <a:t>Cannot be mixed with a number value in operations (addition, subtraction, etc.)</a:t>
            </a:r>
          </a:p>
          <a:p>
            <a:pPr marL="742950" lvl="1" indent="-285750">
              <a:buFontTx/>
              <a:buChar char="-"/>
            </a:pPr>
            <a:r>
              <a:rPr lang="en-US" sz="1600" dirty="0"/>
              <a:t>Would need to be coerced to the same type (change </a:t>
            </a:r>
            <a:r>
              <a:rPr lang="en-US" sz="1600" dirty="0" err="1"/>
              <a:t>BigInt</a:t>
            </a:r>
            <a:r>
              <a:rPr lang="en-US" sz="1600" dirty="0"/>
              <a: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Two values: true or false</a:t>
            </a:r>
          </a:p>
          <a:p>
            <a:pPr marL="0" lvl="0" indent="0" algn="l" rtl="0">
              <a:spcBef>
                <a:spcPts val="0"/>
              </a:spcBef>
              <a:spcAft>
                <a:spcPts val="1200"/>
              </a:spcAft>
              <a:buNone/>
            </a:pPr>
            <a:r>
              <a:rPr lang="en-US" sz="2000" dirty="0"/>
              <a:t>Can convert a non-</a:t>
            </a:r>
            <a:r>
              <a:rPr lang="en-US" sz="2000" dirty="0" err="1"/>
              <a:t>boolean</a:t>
            </a:r>
            <a:r>
              <a:rPr lang="en-US" sz="2000" dirty="0"/>
              <a:t> value (like a string) to a </a:t>
            </a:r>
            <a:r>
              <a:rPr lang="en-US" sz="2000" dirty="0" err="1"/>
              <a:t>boolean</a:t>
            </a:r>
            <a:r>
              <a:rPr lang="en-US" sz="2000" dirty="0"/>
              <a:t> one of two ways</a:t>
            </a:r>
          </a:p>
          <a:p>
            <a:pPr marL="342900" lvl="0" indent="-342900" algn="l" rtl="0">
              <a:spcBef>
                <a:spcPts val="0"/>
              </a:spcBef>
              <a:spcAft>
                <a:spcPts val="1200"/>
              </a:spcAft>
              <a:buFontTx/>
              <a:buChar char="-"/>
            </a:pPr>
            <a:r>
              <a:rPr lang="en-US" sz="1800" dirty="0"/>
              <a:t>Precede the value with two exclamation marks (!!</a:t>
            </a:r>
            <a:r>
              <a:rPr lang="en-US" sz="1800" dirty="0" err="1"/>
              <a:t>numOfStudents</a:t>
            </a:r>
            <a:r>
              <a:rPr lang="en-US" sz="1800" dirty="0"/>
              <a:t>)</a:t>
            </a:r>
          </a:p>
          <a:p>
            <a:pPr marL="342900" lvl="0" indent="-342900" algn="l" rtl="0">
              <a:spcBef>
                <a:spcPts val="0"/>
              </a:spcBef>
              <a:spcAft>
                <a:spcPts val="1200"/>
              </a:spcAft>
              <a:buFontTx/>
              <a:buChar char="-"/>
            </a:pPr>
            <a:r>
              <a:rPr lang="en-US" sz="1800" dirty="0"/>
              <a:t>Use the Boolean function – Boolean()</a:t>
            </a:r>
          </a:p>
          <a:p>
            <a:pPr marL="800100" lvl="1" indent="-342900">
              <a:spcAft>
                <a:spcPts val="1200"/>
              </a:spcAft>
              <a:buFontTx/>
              <a:buChar char="-"/>
            </a:pPr>
            <a:r>
              <a:rPr lang="en-US" sz="1600" dirty="0"/>
              <a:t>Boolean(</a:t>
            </a:r>
            <a:r>
              <a:rPr lang="en-US" sz="1600" dirty="0" err="1"/>
              <a:t>numOfStudents</a:t>
            </a:r>
            <a:r>
              <a:rPr lang="en-US" sz="1600" dirty="0"/>
              <a:t>)</a:t>
            </a:r>
          </a:p>
          <a:p>
            <a:pPr marL="800100" lvl="1" indent="-342900">
              <a:spcAft>
                <a:spcPts val="1200"/>
              </a:spcAft>
              <a:buFontTx/>
              <a:buChar char="-"/>
            </a:pPr>
            <a:r>
              <a:rPr lang="en-US" sz="1600" dirty="0"/>
              <a:t>Never use the word new with Boolean()</a:t>
            </a:r>
            <a:endParaRPr sz="1600"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352758614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a:t>
            </a:r>
            <a:r>
              <a:rPr lang="en-US" sz="1600" dirty="0" err="1"/>
              <a:t>NaN</a:t>
            </a:r>
            <a:r>
              <a:rPr lang="en-US" sz="1600" dirty="0"/>
              <a:t>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a:t>
            </a:r>
            <a:r>
              <a:rPr lang="en-US" sz="1600" dirty="0" err="1"/>
              <a:t>BigInts</a:t>
            </a:r>
            <a:r>
              <a:rPr lang="en-US" sz="1600" dirty="0"/>
              <a:t>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t>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t>let str1 = “JavaScript is fun!”;</a:t>
            </a:r>
            <a:br>
              <a:rPr lang="en-US" dirty="0"/>
            </a:br>
            <a:r>
              <a:rPr lang="en-US" dirty="0"/>
              <a:t>let str2 = “JavaScript is fun!”;</a:t>
            </a:r>
            <a:br>
              <a:rPr lang="en-US" dirty="0"/>
            </a:br>
            <a:r>
              <a:rPr lang="en-US" dirty="0" err="1"/>
              <a:t>console.log</a:t>
            </a:r>
            <a:r>
              <a:rPr lang="en-US" dirty="0"/>
              <a:t>(str1 == str2); // true</a:t>
            </a:r>
          </a:p>
          <a:p>
            <a:pPr marL="628650" lvl="1" indent="-171450">
              <a:spcAft>
                <a:spcPts val="1200"/>
              </a:spcAft>
              <a:buFont typeface="Arial" panose="020B0604020202020204" pitchFamily="34" charset="0"/>
              <a:buChar char="•"/>
            </a:pPr>
            <a:r>
              <a:rPr lang="en-US" dirty="0"/>
              <a:t>let sym1 = Symbol(“JavaScript is fun!”);</a:t>
            </a:r>
            <a:br>
              <a:rPr lang="en-US" dirty="0"/>
            </a:br>
            <a:r>
              <a:rPr lang="en-US" dirty="0"/>
              <a:t>let sym2 = Symbol(“JavaScript is fun!”);</a:t>
            </a:r>
            <a:br>
              <a:rPr lang="en-US" dirty="0"/>
            </a:br>
            <a:r>
              <a:rPr lang="en-US" dirty="0" err="1"/>
              <a:t>console.log</a:t>
            </a:r>
            <a:r>
              <a:rPr lang="en-US" dirty="0"/>
              <a:t>(sym1 == sym2); // false</a:t>
            </a:r>
          </a:p>
          <a:p>
            <a:pPr marL="0" lvl="0" indent="0" algn="l" rtl="0">
              <a:spcBef>
                <a:spcPts val="0"/>
              </a:spcBef>
              <a:spcAft>
                <a:spcPts val="1200"/>
              </a:spcAft>
              <a:buNone/>
            </a:pPr>
            <a:endParaRPr dirty="0"/>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undefined – means the variable has not been assigned a value</a:t>
            </a:r>
          </a:p>
          <a:p>
            <a:pPr marL="0" lvl="0" indent="0" algn="l" rtl="0">
              <a:spcBef>
                <a:spcPts val="0"/>
              </a:spcBef>
              <a:spcAft>
                <a:spcPts val="1200"/>
              </a:spcAft>
              <a:buNone/>
            </a:pPr>
            <a:r>
              <a:rPr lang="en-US" sz="2000" dirty="0"/>
              <a:t>	var a;</a:t>
            </a:r>
            <a:br>
              <a:rPr lang="en-US" sz="2000" dirty="0"/>
            </a:br>
            <a:r>
              <a:rPr lang="en-US" sz="2000" dirty="0"/>
              <a:t>	console.log(a); // undefined</a:t>
            </a:r>
            <a:br>
              <a:rPr lang="en-US" sz="2000" dirty="0"/>
            </a:br>
            <a:r>
              <a:rPr lang="en-US" sz="2000" dirty="0"/>
              <a:t>	</a:t>
            </a:r>
            <a:r>
              <a:rPr lang="en-US" sz="2000" dirty="0" err="1"/>
              <a:t>typeof</a:t>
            </a:r>
            <a:r>
              <a:rPr lang="en-US" sz="2000" dirty="0"/>
              <a:t> (a); // ‘undefined’</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2000" dirty="0"/>
              <a:t>BAD PRACTICE – would cause a variable that has not been assigned a value and a variable that has been manually given a value of undefined to be considered equal</a:t>
            </a:r>
          </a:p>
        </p:txBody>
      </p:sp>
    </p:spTree>
    <p:extLst>
      <p:ext uri="{BB962C8B-B14F-4D97-AF65-F5344CB8AC3E}">
        <p14:creationId xmlns:p14="http://schemas.microsoft.com/office/powerpoint/2010/main" val="155836020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null – means the variable has no value or an empty value</a:t>
            </a:r>
          </a:p>
          <a:p>
            <a:pPr marL="342900" lvl="0" indent="-342900" algn="l" rtl="0">
              <a:spcBef>
                <a:spcPts val="0"/>
              </a:spcBef>
              <a:spcAft>
                <a:spcPts val="1200"/>
              </a:spcAft>
              <a:buFontTx/>
              <a:buChar char="-"/>
            </a:pPr>
            <a:r>
              <a:rPr lang="en-US" sz="2000" dirty="0"/>
              <a:t>BUT – it is a type of assignment value because you can assign a value of null to a variable</a:t>
            </a:r>
          </a:p>
          <a:p>
            <a:pPr marL="342900" lvl="0" indent="-342900" algn="l" rtl="0">
              <a:spcBef>
                <a:spcPts val="0"/>
              </a:spcBef>
              <a:spcAft>
                <a:spcPts val="1200"/>
              </a:spcAft>
              <a:buFontTx/>
              <a:buChar char="-"/>
            </a:pPr>
            <a:r>
              <a:rPr lang="en-US" sz="2000" dirty="0"/>
              <a:t>null == undefined but null !== undefined (more on this later)</a:t>
            </a:r>
          </a:p>
          <a:p>
            <a:pPr marL="342900" lvl="0" indent="-342900" algn="l" rtl="0">
              <a:spcBef>
                <a:spcPts val="0"/>
              </a:spcBef>
              <a:spcAft>
                <a:spcPts val="1200"/>
              </a:spcAft>
              <a:buFontTx/>
              <a:buChar char="-"/>
            </a:pPr>
            <a:r>
              <a:rPr lang="en-US" sz="2000" dirty="0" err="1"/>
              <a:t>typeof</a:t>
            </a:r>
            <a:r>
              <a:rPr lang="en-US" sz="2000" dirty="0"/>
              <a:t> null; // ‘object’</a:t>
            </a:r>
            <a:endParaRPr sz="2000"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extLst>
      <p:ext uri="{BB962C8B-B14F-4D97-AF65-F5344CB8AC3E}">
        <p14:creationId xmlns:p14="http://schemas.microsoft.com/office/powerpoint/2010/main" val="1343983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dirty="0"/>
              <a:t>Array</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pPr>
              <a:spcAft>
                <a:spcPts val="600"/>
              </a:spcAft>
            </a:pPr>
            <a:r>
              <a:rPr lang="en-US" sz="2000" dirty="0"/>
              <a:t>An array is a list of values</a:t>
            </a:r>
          </a:p>
          <a:p>
            <a:pPr lvl="1">
              <a:spcAft>
                <a:spcPts val="600"/>
              </a:spcAft>
            </a:pPr>
            <a:r>
              <a:rPr lang="en-US" sz="1600" dirty="0"/>
              <a:t>const fruits = [“Banana”, “Apple”, “Orange”, “Kiwi”];</a:t>
            </a:r>
          </a:p>
          <a:p>
            <a:pPr>
              <a:spcAft>
                <a:spcPts val="600"/>
              </a:spcAft>
            </a:pPr>
            <a:r>
              <a:rPr lang="en-US" sz="2000" dirty="0"/>
              <a:t>Without arrays we would need a separate variable for each value</a:t>
            </a:r>
          </a:p>
          <a:p>
            <a:pPr lvl="1">
              <a:spcAft>
                <a:spcPts val="600"/>
              </a:spcAft>
            </a:pPr>
            <a:r>
              <a:rPr lang="en-US" sz="1600" dirty="0"/>
              <a:t>const fruit1 = “Banana”;</a:t>
            </a:r>
            <a:br>
              <a:rPr lang="en-US" sz="1600" dirty="0"/>
            </a:br>
            <a:r>
              <a:rPr lang="en-US" sz="1600" dirty="0"/>
              <a:t>const fruit2 = “Apple”;</a:t>
            </a:r>
            <a:br>
              <a:rPr lang="en-US" sz="1600" dirty="0"/>
            </a:br>
            <a:r>
              <a:rPr lang="en-US" sz="1600" dirty="0"/>
              <a:t>const fruit3 = “Orange”;</a:t>
            </a:r>
            <a:br>
              <a:rPr lang="en-US" sz="1600" dirty="0"/>
            </a:br>
            <a:r>
              <a:rPr lang="en-US" sz="1600" dirty="0"/>
              <a:t>const fruit4 = “Kiwi”;</a:t>
            </a:r>
          </a:p>
          <a:p>
            <a:pPr lvl="1">
              <a:spcAft>
                <a:spcPts val="600"/>
              </a:spcAft>
            </a:pPr>
            <a:r>
              <a:rPr lang="en-US" sz="1600" dirty="0"/>
              <a:t>Problematic when it comes to adding new values or comparing each value with another</a:t>
            </a:r>
          </a:p>
        </p:txBody>
      </p:sp>
    </p:spTree>
    <p:extLst>
      <p:ext uri="{BB962C8B-B14F-4D97-AF65-F5344CB8AC3E}">
        <p14:creationId xmlns:p14="http://schemas.microsoft.com/office/powerpoint/2010/main" val="37583199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50E86-4563-41C8-9E1E-FEAF5E341B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428FAB-B4F6-D849-FBA3-2ACF67E019CF}"/>
              </a:ext>
            </a:extLst>
          </p:cNvPr>
          <p:cNvSpPr>
            <a:spLocks noGrp="1"/>
          </p:cNvSpPr>
          <p:nvPr>
            <p:ph type="title"/>
          </p:nvPr>
        </p:nvSpPr>
        <p:spPr/>
        <p:txBody>
          <a:bodyPr/>
          <a:lstStyle/>
          <a:p>
            <a:r>
              <a:rPr lang="en-US" dirty="0"/>
              <a:t>Array Literal Notation</a:t>
            </a:r>
          </a:p>
        </p:txBody>
      </p:sp>
      <p:sp>
        <p:nvSpPr>
          <p:cNvPr id="3" name="Text Placeholder 2">
            <a:extLst>
              <a:ext uri="{FF2B5EF4-FFF2-40B4-BE49-F238E27FC236}">
                <a16:creationId xmlns:a16="http://schemas.microsoft.com/office/drawing/2014/main" id="{86C693CB-1800-7688-613F-E3B0CA47FC97}"/>
              </a:ext>
            </a:extLst>
          </p:cNvPr>
          <p:cNvSpPr>
            <a:spLocks noGrp="1"/>
          </p:cNvSpPr>
          <p:nvPr>
            <p:ph type="body" idx="1"/>
          </p:nvPr>
        </p:nvSpPr>
        <p:spPr/>
        <p:txBody>
          <a:bodyPr/>
          <a:lstStyle/>
          <a:p>
            <a:pPr>
              <a:spcAft>
                <a:spcPts val="1200"/>
              </a:spcAft>
            </a:pPr>
            <a:r>
              <a:rPr lang="en-US" sz="2000" dirty="0"/>
              <a:t>Two square brackets [] define the beginning and end of the array</a:t>
            </a:r>
          </a:p>
          <a:p>
            <a:pPr>
              <a:spcAft>
                <a:spcPts val="600"/>
              </a:spcAft>
            </a:pPr>
            <a:r>
              <a:rPr lang="en-US" sz="2000" dirty="0"/>
              <a:t>The individual values included in the array are written between the square brackets and are separated by commas</a:t>
            </a:r>
          </a:p>
        </p:txBody>
      </p:sp>
    </p:spTree>
    <p:extLst>
      <p:ext uri="{BB962C8B-B14F-4D97-AF65-F5344CB8AC3E}">
        <p14:creationId xmlns:p14="http://schemas.microsoft.com/office/powerpoint/2010/main" val="248399465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27547-F79D-0EF0-E042-F1341748AE4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9687F3-187D-B22C-0DC8-DE2833E27EDC}"/>
              </a:ext>
            </a:extLst>
          </p:cNvPr>
          <p:cNvSpPr>
            <a:spLocks noGrp="1"/>
          </p:cNvSpPr>
          <p:nvPr>
            <p:ph type="title"/>
          </p:nvPr>
        </p:nvSpPr>
        <p:spPr/>
        <p:txBody>
          <a:bodyPr/>
          <a:lstStyle/>
          <a:p>
            <a:r>
              <a:rPr lang="en-US" dirty="0"/>
              <a:t>Declaring an array</a:t>
            </a:r>
          </a:p>
        </p:txBody>
      </p:sp>
      <p:sp>
        <p:nvSpPr>
          <p:cNvPr id="3" name="Text Placeholder 2">
            <a:extLst>
              <a:ext uri="{FF2B5EF4-FFF2-40B4-BE49-F238E27FC236}">
                <a16:creationId xmlns:a16="http://schemas.microsoft.com/office/drawing/2014/main" id="{EDC50999-A5DB-282A-B2BA-CAB7AF1AEC95}"/>
              </a:ext>
            </a:extLst>
          </p:cNvPr>
          <p:cNvSpPr>
            <a:spLocks noGrp="1"/>
          </p:cNvSpPr>
          <p:nvPr>
            <p:ph type="body" idx="1"/>
          </p:nvPr>
        </p:nvSpPr>
        <p:spPr/>
        <p:txBody>
          <a:bodyPr/>
          <a:lstStyle/>
          <a:p>
            <a:pPr>
              <a:spcAft>
                <a:spcPts val="1200"/>
              </a:spcAft>
            </a:pPr>
            <a:r>
              <a:rPr lang="en-US" sz="2000" dirty="0"/>
              <a:t>An array can be declared, using literal notation, as empty from the outset or containing values</a:t>
            </a:r>
          </a:p>
          <a:p>
            <a:pPr lvl="1">
              <a:spcAft>
                <a:spcPts val="1200"/>
              </a:spcAft>
            </a:pPr>
            <a:r>
              <a:rPr lang="en-US" sz="1600" dirty="0"/>
              <a:t>const clothes = [];</a:t>
            </a:r>
            <a:br>
              <a:rPr lang="en-US" sz="1600" dirty="0"/>
            </a:br>
            <a:r>
              <a:rPr lang="en-US" sz="1600" dirty="0"/>
              <a:t>const shoes = [‘Ugg’, ‘Birks’, ‘Reebok’];</a:t>
            </a:r>
          </a:p>
          <a:p>
            <a:pPr>
              <a:spcAft>
                <a:spcPts val="1200"/>
              </a:spcAft>
            </a:pPr>
            <a:r>
              <a:rPr lang="en-US" sz="2000" dirty="0"/>
              <a:t>You can also declare an array using the constructor Array()</a:t>
            </a:r>
          </a:p>
          <a:p>
            <a:pPr lvl="1">
              <a:spcAft>
                <a:spcPts val="1200"/>
              </a:spcAft>
            </a:pPr>
            <a:r>
              <a:rPr lang="en-US" sz="1600" dirty="0"/>
              <a:t>let toys = new Array(‘car’, ‘boat’, ‘soldier’, ‘yoyo’);</a:t>
            </a:r>
          </a:p>
        </p:txBody>
      </p:sp>
    </p:spTree>
    <p:extLst>
      <p:ext uri="{BB962C8B-B14F-4D97-AF65-F5344CB8AC3E}">
        <p14:creationId xmlns:p14="http://schemas.microsoft.com/office/powerpoint/2010/main" val="202276432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B11C36-1EB1-9962-E35F-0F17D09E525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780DFC-9894-BBE7-79F4-5DEC2837040C}"/>
              </a:ext>
            </a:extLst>
          </p:cNvPr>
          <p:cNvSpPr>
            <a:spLocks noGrp="1"/>
          </p:cNvSpPr>
          <p:nvPr>
            <p:ph type="title"/>
          </p:nvPr>
        </p:nvSpPr>
        <p:spPr/>
        <p:txBody>
          <a:bodyPr/>
          <a:lstStyle/>
          <a:p>
            <a:r>
              <a:rPr lang="en-US" dirty="0"/>
              <a:t>Declaring an array (cont’d)</a:t>
            </a:r>
          </a:p>
        </p:txBody>
      </p:sp>
      <p:sp>
        <p:nvSpPr>
          <p:cNvPr id="3" name="Text Placeholder 2">
            <a:extLst>
              <a:ext uri="{FF2B5EF4-FFF2-40B4-BE49-F238E27FC236}">
                <a16:creationId xmlns:a16="http://schemas.microsoft.com/office/drawing/2014/main" id="{27777D0B-D4CC-8DB0-FEA5-9099CD9ACA92}"/>
              </a:ext>
            </a:extLst>
          </p:cNvPr>
          <p:cNvSpPr>
            <a:spLocks noGrp="1"/>
          </p:cNvSpPr>
          <p:nvPr>
            <p:ph type="body" idx="1"/>
          </p:nvPr>
        </p:nvSpPr>
        <p:spPr/>
        <p:txBody>
          <a:bodyPr/>
          <a:lstStyle/>
          <a:p>
            <a:pPr>
              <a:spcAft>
                <a:spcPts val="1200"/>
              </a:spcAft>
            </a:pPr>
            <a:r>
              <a:rPr lang="en-US" sz="2000" dirty="0"/>
              <a:t>When using the array constructor, the word new is not actually required</a:t>
            </a:r>
          </a:p>
          <a:p>
            <a:pPr lvl="1">
              <a:spcAft>
                <a:spcPts val="1200"/>
              </a:spcAft>
            </a:pPr>
            <a:r>
              <a:rPr lang="en-US" sz="1600" dirty="0"/>
              <a:t>let colors = Array(‘purple’, ‘yellow’, ‘green’, ‘orange’, ‘blue’);</a:t>
            </a:r>
          </a:p>
          <a:p>
            <a:pPr>
              <a:spcAft>
                <a:spcPts val="1200"/>
              </a:spcAft>
            </a:pPr>
            <a:r>
              <a:rPr lang="en-US" sz="2000" dirty="0"/>
              <a:t>Passing in a single number with the array constructor fills the array with that number of empty values</a:t>
            </a:r>
          </a:p>
          <a:p>
            <a:pPr lvl="1">
              <a:spcAft>
                <a:spcPts val="1200"/>
              </a:spcAft>
            </a:pPr>
            <a:r>
              <a:rPr lang="en-US" sz="1600" dirty="0"/>
              <a:t>let </a:t>
            </a:r>
            <a:r>
              <a:rPr lang="en-US" sz="1600" dirty="0" err="1"/>
              <a:t>myArray</a:t>
            </a:r>
            <a:r>
              <a:rPr lang="en-US" sz="1600" dirty="0"/>
              <a:t> = new Array(4);  // [,,,]</a:t>
            </a:r>
          </a:p>
        </p:txBody>
      </p:sp>
    </p:spTree>
    <p:extLst>
      <p:ext uri="{BB962C8B-B14F-4D97-AF65-F5344CB8AC3E}">
        <p14:creationId xmlns:p14="http://schemas.microsoft.com/office/powerpoint/2010/main" val="176776841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DD9B3-078C-CEA7-F07D-54D82C0E3AC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0AB83F-0F20-1DA8-E679-BF516010D1EB}"/>
              </a:ext>
            </a:extLst>
          </p:cNvPr>
          <p:cNvSpPr>
            <a:spLocks noGrp="1"/>
          </p:cNvSpPr>
          <p:nvPr>
            <p:ph type="title"/>
          </p:nvPr>
        </p:nvSpPr>
        <p:spPr/>
        <p:txBody>
          <a:bodyPr/>
          <a:lstStyle/>
          <a:p>
            <a:r>
              <a:rPr lang="en-US" dirty="0"/>
              <a:t>Array (cont’d)</a:t>
            </a:r>
          </a:p>
        </p:txBody>
      </p:sp>
      <p:sp>
        <p:nvSpPr>
          <p:cNvPr id="3" name="Text Placeholder 2">
            <a:extLst>
              <a:ext uri="{FF2B5EF4-FFF2-40B4-BE49-F238E27FC236}">
                <a16:creationId xmlns:a16="http://schemas.microsoft.com/office/drawing/2014/main" id="{5752DC13-E18C-31F6-F47B-4DAD88A882CC}"/>
              </a:ext>
            </a:extLst>
          </p:cNvPr>
          <p:cNvSpPr>
            <a:spLocks noGrp="1"/>
          </p:cNvSpPr>
          <p:nvPr>
            <p:ph type="body" idx="1"/>
          </p:nvPr>
        </p:nvSpPr>
        <p:spPr/>
        <p:txBody>
          <a:bodyPr/>
          <a:lstStyle/>
          <a:p>
            <a:pPr>
              <a:spcAft>
                <a:spcPts val="600"/>
              </a:spcAft>
            </a:pPr>
            <a:r>
              <a:rPr lang="en-US" sz="2000" dirty="0"/>
              <a:t>An array can be written on a single line or on multiple lines</a:t>
            </a:r>
          </a:p>
          <a:p>
            <a:pPr lvl="1">
              <a:spcAft>
                <a:spcPts val="600"/>
              </a:spcAft>
            </a:pPr>
            <a:r>
              <a:rPr lang="en-US" sz="1800" dirty="0"/>
              <a:t>const </a:t>
            </a:r>
            <a:r>
              <a:rPr lang="en-US" sz="1800" dirty="0" err="1"/>
              <a:t>shoppingCart</a:t>
            </a:r>
            <a:r>
              <a:rPr lang="en-US" sz="1800" dirty="0"/>
              <a:t> = [</a:t>
            </a:r>
            <a:br>
              <a:rPr lang="en-US" sz="1800" dirty="0"/>
            </a:br>
            <a:r>
              <a:rPr lang="en-US" sz="1800" dirty="0"/>
              <a:t>  ‘Record Player’,</a:t>
            </a:r>
            <a:br>
              <a:rPr lang="en-US" sz="1800" dirty="0"/>
            </a:br>
            <a:r>
              <a:rPr lang="en-US" sz="1800" dirty="0"/>
              <a:t>  ‘Loudspeaker’,</a:t>
            </a:r>
            <a:br>
              <a:rPr lang="en-US" sz="1800" dirty="0"/>
            </a:br>
            <a:r>
              <a:rPr lang="en-US" sz="1800" dirty="0"/>
              <a:t>  ‘Preamplifier’,</a:t>
            </a:r>
            <a:br>
              <a:rPr lang="en-US" sz="1800" dirty="0"/>
            </a:br>
            <a:r>
              <a:rPr lang="en-US" sz="1800" dirty="0"/>
              <a:t>  ‘Loudspeaker Cables’</a:t>
            </a:r>
            <a:br>
              <a:rPr lang="en-US" sz="1800" dirty="0"/>
            </a:br>
            <a:r>
              <a:rPr lang="en-US" sz="1800" dirty="0"/>
              <a:t>];</a:t>
            </a:r>
          </a:p>
          <a:p>
            <a:pPr lvl="1">
              <a:spcAft>
                <a:spcPts val="600"/>
              </a:spcAft>
            </a:pPr>
            <a:r>
              <a:rPr lang="en-US" sz="1800" dirty="0"/>
              <a:t>const </a:t>
            </a:r>
            <a:r>
              <a:rPr lang="en-US" sz="1800" dirty="0" err="1"/>
              <a:t>highscores</a:t>
            </a:r>
            <a:r>
              <a:rPr lang="en-US" sz="1800" dirty="0"/>
              <a:t> = [74334, 24344, 54333];</a:t>
            </a:r>
          </a:p>
        </p:txBody>
      </p:sp>
    </p:spTree>
    <p:extLst>
      <p:ext uri="{BB962C8B-B14F-4D97-AF65-F5344CB8AC3E}">
        <p14:creationId xmlns:p14="http://schemas.microsoft.com/office/powerpoint/2010/main" val="156591552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74B14-3123-E67E-3C76-4BE2F6E800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EFF67C-28BB-4175-AA30-7C06A23CDE29}"/>
              </a:ext>
            </a:extLst>
          </p:cNvPr>
          <p:cNvSpPr>
            <a:spLocks noGrp="1"/>
          </p:cNvSpPr>
          <p:nvPr>
            <p:ph type="title"/>
          </p:nvPr>
        </p:nvSpPr>
        <p:spPr/>
        <p:txBody>
          <a:bodyPr/>
          <a:lstStyle/>
          <a:p>
            <a:r>
              <a:rPr lang="en-US" dirty="0"/>
              <a:t>Array - data types</a:t>
            </a:r>
          </a:p>
        </p:txBody>
      </p:sp>
      <p:sp>
        <p:nvSpPr>
          <p:cNvPr id="3" name="Text Placeholder 2">
            <a:extLst>
              <a:ext uri="{FF2B5EF4-FFF2-40B4-BE49-F238E27FC236}">
                <a16:creationId xmlns:a16="http://schemas.microsoft.com/office/drawing/2014/main" id="{387124E7-3F19-6DF1-3499-1A068C0F5653}"/>
              </a:ext>
            </a:extLst>
          </p:cNvPr>
          <p:cNvSpPr>
            <a:spLocks noGrp="1"/>
          </p:cNvSpPr>
          <p:nvPr>
            <p:ph type="body" idx="1"/>
          </p:nvPr>
        </p:nvSpPr>
        <p:spPr/>
        <p:txBody>
          <a:bodyPr/>
          <a:lstStyle/>
          <a:p>
            <a:pPr>
              <a:spcAft>
                <a:spcPts val="600"/>
              </a:spcAft>
            </a:pPr>
            <a:r>
              <a:rPr lang="en-US" sz="2000" dirty="0"/>
              <a:t>Arrays in JavaScript can contain values with different data types</a:t>
            </a:r>
          </a:p>
          <a:p>
            <a:pPr lvl="1">
              <a:spcAft>
                <a:spcPts val="600"/>
              </a:spcAft>
            </a:pPr>
            <a:r>
              <a:rPr lang="en-US" sz="1800" dirty="0"/>
              <a:t>const values = [‘John Doe’, 22, true];</a:t>
            </a:r>
          </a:p>
        </p:txBody>
      </p:sp>
    </p:spTree>
    <p:extLst>
      <p:ext uri="{BB962C8B-B14F-4D97-AF65-F5344CB8AC3E}">
        <p14:creationId xmlns:p14="http://schemas.microsoft.com/office/powerpoint/2010/main" val="217326689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40338-4068-6104-81A5-FC4ACEA9980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F2DBB65-38D0-2A09-F226-C54BAAEE1E0A}"/>
              </a:ext>
            </a:extLst>
          </p:cNvPr>
          <p:cNvSpPr>
            <a:spLocks noGrp="1"/>
          </p:cNvSpPr>
          <p:nvPr>
            <p:ph type="title"/>
          </p:nvPr>
        </p:nvSpPr>
        <p:spPr/>
        <p:txBody>
          <a:bodyPr/>
          <a:lstStyle/>
          <a:p>
            <a:r>
              <a:rPr lang="en-US" dirty="0"/>
              <a:t>Structure of arrays</a:t>
            </a:r>
          </a:p>
        </p:txBody>
      </p:sp>
      <p:sp>
        <p:nvSpPr>
          <p:cNvPr id="3" name="Text Placeholder 2">
            <a:extLst>
              <a:ext uri="{FF2B5EF4-FFF2-40B4-BE49-F238E27FC236}">
                <a16:creationId xmlns:a16="http://schemas.microsoft.com/office/drawing/2014/main" id="{C890535C-4B42-CBC5-E579-FCBAC87DF926}"/>
              </a:ext>
            </a:extLst>
          </p:cNvPr>
          <p:cNvSpPr>
            <a:spLocks noGrp="1"/>
          </p:cNvSpPr>
          <p:nvPr>
            <p:ph type="body" idx="1"/>
          </p:nvPr>
        </p:nvSpPr>
        <p:spPr/>
        <p:txBody>
          <a:bodyPr/>
          <a:lstStyle/>
          <a:p>
            <a:pPr>
              <a:spcAft>
                <a:spcPts val="600"/>
              </a:spcAft>
            </a:pPr>
            <a:r>
              <a:rPr lang="en-US" sz="1800" dirty="0"/>
              <a:t>Arrays have an index-based structure that starts at 0 and increases by 1 for each entry</a:t>
            </a:r>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r>
              <a:rPr lang="en-US" sz="1800" dirty="0"/>
              <a:t>The last element of an array is at index n-1, where n is the length of the array</a:t>
            </a:r>
          </a:p>
        </p:txBody>
      </p:sp>
      <p:pic>
        <p:nvPicPr>
          <p:cNvPr id="5" name="Picture 4">
            <a:extLst>
              <a:ext uri="{FF2B5EF4-FFF2-40B4-BE49-F238E27FC236}">
                <a16:creationId xmlns:a16="http://schemas.microsoft.com/office/drawing/2014/main" id="{D4B0C756-124C-5585-E99F-5FCDB9CA75FE}"/>
              </a:ext>
            </a:extLst>
          </p:cNvPr>
          <p:cNvPicPr>
            <a:picLocks noChangeAspect="1"/>
          </p:cNvPicPr>
          <p:nvPr/>
        </p:nvPicPr>
        <p:blipFill>
          <a:blip r:embed="rId2"/>
          <a:stretch>
            <a:fillRect/>
          </a:stretch>
        </p:blipFill>
        <p:spPr>
          <a:xfrm>
            <a:off x="3235267" y="1945533"/>
            <a:ext cx="2673465" cy="1596196"/>
          </a:xfrm>
          <a:prstGeom prst="rect">
            <a:avLst/>
          </a:prstGeom>
        </p:spPr>
      </p:pic>
    </p:spTree>
    <p:extLst>
      <p:ext uri="{BB962C8B-B14F-4D97-AF65-F5344CB8AC3E}">
        <p14:creationId xmlns:p14="http://schemas.microsoft.com/office/powerpoint/2010/main" val="217357326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E5388-D9C9-3220-6533-41E0AC4BDB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4BA591C-D4AC-CFA1-40E9-35F216F72065}"/>
              </a:ext>
            </a:extLst>
          </p:cNvPr>
          <p:cNvSpPr>
            <a:spLocks noGrp="1"/>
          </p:cNvSpPr>
          <p:nvPr>
            <p:ph type="title"/>
          </p:nvPr>
        </p:nvSpPr>
        <p:spPr/>
        <p:txBody>
          <a:bodyPr/>
          <a:lstStyle/>
          <a:p>
            <a:r>
              <a:rPr lang="en-US" dirty="0"/>
              <a:t>Using array index numbers</a:t>
            </a:r>
          </a:p>
        </p:txBody>
      </p:sp>
      <p:sp>
        <p:nvSpPr>
          <p:cNvPr id="3" name="Text Placeholder 2">
            <a:extLst>
              <a:ext uri="{FF2B5EF4-FFF2-40B4-BE49-F238E27FC236}">
                <a16:creationId xmlns:a16="http://schemas.microsoft.com/office/drawing/2014/main" id="{81F863D6-82C5-F45E-5984-B4FE8964DA17}"/>
              </a:ext>
            </a:extLst>
          </p:cNvPr>
          <p:cNvSpPr>
            <a:spLocks noGrp="1"/>
          </p:cNvSpPr>
          <p:nvPr>
            <p:ph type="body" idx="1"/>
          </p:nvPr>
        </p:nvSpPr>
        <p:spPr/>
        <p:txBody>
          <a:bodyPr/>
          <a:lstStyle/>
          <a:p>
            <a:pPr>
              <a:spcAft>
                <a:spcPts val="600"/>
              </a:spcAft>
            </a:pPr>
            <a:r>
              <a:rPr lang="en-US" sz="1800" dirty="0"/>
              <a:t>You can reference a value in an array by using the name of the array followed by square brackets containing the index number of the value you want</a:t>
            </a:r>
          </a:p>
          <a:p>
            <a:pPr lvl="1">
              <a:spcAft>
                <a:spcPts val="600"/>
              </a:spcAft>
            </a:pPr>
            <a:r>
              <a:rPr lang="en-US" sz="1600" dirty="0"/>
              <a:t>const cars = [‘Audi’, ‘BMW’, ’Chrysler’, ‘Dodge’];</a:t>
            </a:r>
          </a:p>
          <a:p>
            <a:pPr lvl="1">
              <a:spcAft>
                <a:spcPts val="600"/>
              </a:spcAft>
            </a:pPr>
            <a:r>
              <a:rPr lang="en-US" sz="1600" dirty="0"/>
              <a:t>console.log(cars[1]);  // BMW</a:t>
            </a:r>
          </a:p>
        </p:txBody>
      </p:sp>
    </p:spTree>
    <p:extLst>
      <p:ext uri="{BB962C8B-B14F-4D97-AF65-F5344CB8AC3E}">
        <p14:creationId xmlns:p14="http://schemas.microsoft.com/office/powerpoint/2010/main" val="105347297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C50A2-4846-8DF7-C6D9-0C2DDED8A49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ACECD23-3E76-ABD0-AF9C-A0A787F6D0E0}"/>
              </a:ext>
            </a:extLst>
          </p:cNvPr>
          <p:cNvSpPr>
            <a:spLocks noGrp="1"/>
          </p:cNvSpPr>
          <p:nvPr>
            <p:ph type="title"/>
          </p:nvPr>
        </p:nvSpPr>
        <p:spPr/>
        <p:txBody>
          <a:bodyPr/>
          <a:lstStyle/>
          <a:p>
            <a:r>
              <a:rPr lang="en-US" dirty="0" err="1"/>
              <a:t>Array.length</a:t>
            </a:r>
            <a:endParaRPr lang="en-US" dirty="0"/>
          </a:p>
        </p:txBody>
      </p:sp>
      <p:sp>
        <p:nvSpPr>
          <p:cNvPr id="3" name="Text Placeholder 2">
            <a:extLst>
              <a:ext uri="{FF2B5EF4-FFF2-40B4-BE49-F238E27FC236}">
                <a16:creationId xmlns:a16="http://schemas.microsoft.com/office/drawing/2014/main" id="{936367AE-0CC8-E016-F7C6-2E2B0ED2DA7A}"/>
              </a:ext>
            </a:extLst>
          </p:cNvPr>
          <p:cNvSpPr>
            <a:spLocks noGrp="1"/>
          </p:cNvSpPr>
          <p:nvPr>
            <p:ph type="body" idx="1"/>
          </p:nvPr>
        </p:nvSpPr>
        <p:spPr/>
        <p:txBody>
          <a:bodyPr/>
          <a:lstStyle/>
          <a:p>
            <a:pPr>
              <a:spcAft>
                <a:spcPts val="600"/>
              </a:spcAft>
            </a:pPr>
            <a:r>
              <a:rPr lang="en-US" sz="2400" dirty="0"/>
              <a:t>Arrays know their own length</a:t>
            </a:r>
          </a:p>
          <a:p>
            <a:pPr lvl="1">
              <a:spcAft>
                <a:spcPts val="600"/>
              </a:spcAft>
            </a:pPr>
            <a:r>
              <a:rPr lang="en-US" sz="2000" dirty="0"/>
              <a:t>const doll = [‘Susie’, ‘Addy’, ‘Jennifer’];</a:t>
            </a:r>
          </a:p>
          <a:p>
            <a:pPr lvl="1">
              <a:spcAft>
                <a:spcPts val="600"/>
              </a:spcAft>
            </a:pPr>
            <a:r>
              <a:rPr lang="en-US" sz="2000" dirty="0"/>
              <a:t>console.log(</a:t>
            </a:r>
            <a:r>
              <a:rPr lang="en-US" sz="2000" dirty="0" err="1"/>
              <a:t>doll.length</a:t>
            </a:r>
            <a:r>
              <a:rPr lang="en-US" sz="2000" dirty="0"/>
              <a:t>);  // 3</a:t>
            </a:r>
          </a:p>
        </p:txBody>
      </p:sp>
    </p:spTree>
    <p:extLst>
      <p:ext uri="{BB962C8B-B14F-4D97-AF65-F5344CB8AC3E}">
        <p14:creationId xmlns:p14="http://schemas.microsoft.com/office/powerpoint/2010/main" val="66416255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657001-9712-1A83-6737-2F7FE168BE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7C70C-E3B2-9433-7F89-3EA9BBAC4175}"/>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ADFA2A85-70D1-E444-1788-9048FD71CDB3}"/>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169995553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ED325E-FB09-1B27-48C5-CE3CCACA50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294871-574F-698A-8B83-CFD3357AAD2B}"/>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BFA8F1BF-1CC7-66AD-E5DD-4F88A809458D}"/>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9925077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74C029-FA2F-C863-EB9E-F34D3B016080}"/>
              </a:ext>
            </a:extLst>
          </p:cNvPr>
          <p:cNvSpPr>
            <a:spLocks noGrp="1"/>
          </p:cNvSpPr>
          <p:nvPr>
            <p:ph type="title"/>
          </p:nvPr>
        </p:nvSpPr>
        <p:spPr/>
        <p:txBody>
          <a:bodyPr/>
          <a:lstStyle/>
          <a:p>
            <a:r>
              <a:rPr lang="en-US" dirty="0"/>
              <a:t>Multidimensional arrays</a:t>
            </a:r>
          </a:p>
        </p:txBody>
      </p:sp>
      <p:sp>
        <p:nvSpPr>
          <p:cNvPr id="3" name="Text Placeholder 2">
            <a:extLst>
              <a:ext uri="{FF2B5EF4-FFF2-40B4-BE49-F238E27FC236}">
                <a16:creationId xmlns:a16="http://schemas.microsoft.com/office/drawing/2014/main" id="{4FAB1982-0956-774C-93DF-A649CA962280}"/>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C80BF357-4DA7-211A-6DA0-3DC56A4706B1}"/>
              </a:ext>
            </a:extLst>
          </p:cNvPr>
          <p:cNvPicPr>
            <a:picLocks noChangeAspect="1"/>
          </p:cNvPicPr>
          <p:nvPr/>
        </p:nvPicPr>
        <p:blipFill>
          <a:blip r:embed="rId2"/>
          <a:stretch>
            <a:fillRect/>
          </a:stretch>
        </p:blipFill>
        <p:spPr>
          <a:xfrm>
            <a:off x="2392354" y="1101607"/>
            <a:ext cx="4359292" cy="3348954"/>
          </a:xfrm>
          <a:prstGeom prst="rect">
            <a:avLst/>
          </a:prstGeom>
        </p:spPr>
      </p:pic>
    </p:spTree>
    <p:extLst>
      <p:ext uri="{BB962C8B-B14F-4D97-AF65-F5344CB8AC3E}">
        <p14:creationId xmlns:p14="http://schemas.microsoft.com/office/powerpoint/2010/main" val="190655849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9EB21D-62C6-C9FE-1983-FF56B783B5F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1F0DDBB-4328-A0CF-66B9-968CBBD7CC6D}"/>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429E7108-D723-2C8D-0ECD-224553944878}"/>
              </a:ext>
            </a:extLst>
          </p:cNvPr>
          <p:cNvSpPr>
            <a:spLocks noGrp="1"/>
          </p:cNvSpPr>
          <p:nvPr>
            <p:ph type="body" idx="1"/>
          </p:nvPr>
        </p:nvSpPr>
        <p:spPr/>
        <p:txBody>
          <a:bodyPr/>
          <a:lstStyle/>
          <a:p>
            <a:endParaRPr lang="en-US" dirty="0"/>
          </a:p>
        </p:txBody>
      </p:sp>
      <p:pic>
        <p:nvPicPr>
          <p:cNvPr id="6" name="Picture 5">
            <a:extLst>
              <a:ext uri="{FF2B5EF4-FFF2-40B4-BE49-F238E27FC236}">
                <a16:creationId xmlns:a16="http://schemas.microsoft.com/office/drawing/2014/main" id="{CFF07239-DDD3-13E6-4791-BA257996C16E}"/>
              </a:ext>
            </a:extLst>
          </p:cNvPr>
          <p:cNvPicPr>
            <a:picLocks noChangeAspect="1"/>
          </p:cNvPicPr>
          <p:nvPr/>
        </p:nvPicPr>
        <p:blipFill>
          <a:blip r:embed="rId2"/>
          <a:stretch>
            <a:fillRect/>
          </a:stretch>
        </p:blipFill>
        <p:spPr>
          <a:xfrm>
            <a:off x="2282756" y="1063175"/>
            <a:ext cx="4486381" cy="3420075"/>
          </a:xfrm>
          <a:prstGeom prst="rect">
            <a:avLst/>
          </a:prstGeom>
        </p:spPr>
      </p:pic>
    </p:spTree>
    <p:extLst>
      <p:ext uri="{BB962C8B-B14F-4D97-AF65-F5344CB8AC3E}">
        <p14:creationId xmlns:p14="http://schemas.microsoft.com/office/powerpoint/2010/main" val="35572566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B26C6B-0295-BE3F-D89A-ED31D5B7339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7AD49A4-2F30-A726-EDBC-5B3AA963793B}"/>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72619620-2A40-2D1C-AC14-BD6BD383A5A3}"/>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BE6E6EC7-0968-C23B-C83C-359032DBA0D7}"/>
              </a:ext>
            </a:extLst>
          </p:cNvPr>
          <p:cNvPicPr>
            <a:picLocks noChangeAspect="1"/>
          </p:cNvPicPr>
          <p:nvPr/>
        </p:nvPicPr>
        <p:blipFill>
          <a:blip r:embed="rId2"/>
          <a:stretch>
            <a:fillRect/>
          </a:stretch>
        </p:blipFill>
        <p:spPr>
          <a:xfrm>
            <a:off x="1779277" y="1266591"/>
            <a:ext cx="6339546" cy="3009568"/>
          </a:xfrm>
          <a:prstGeom prst="rect">
            <a:avLst/>
          </a:prstGeom>
        </p:spPr>
      </p:pic>
    </p:spTree>
    <p:extLst>
      <p:ext uri="{BB962C8B-B14F-4D97-AF65-F5344CB8AC3E}">
        <p14:creationId xmlns:p14="http://schemas.microsoft.com/office/powerpoint/2010/main" val="173322944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93044-78EC-C21C-CD3E-F781FFE288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E5674F-959C-4720-BED8-C7501771D1ED}"/>
              </a:ext>
            </a:extLst>
          </p:cNvPr>
          <p:cNvSpPr>
            <a:spLocks noGrp="1"/>
          </p:cNvSpPr>
          <p:nvPr>
            <p:ph type="title"/>
          </p:nvPr>
        </p:nvSpPr>
        <p:spPr/>
        <p:txBody>
          <a:bodyPr/>
          <a:lstStyle/>
          <a:p>
            <a:r>
              <a:rPr lang="en-US"/>
              <a:t>Object</a:t>
            </a:r>
          </a:p>
        </p:txBody>
      </p:sp>
      <p:sp>
        <p:nvSpPr>
          <p:cNvPr id="3" name="Text Placeholder 2">
            <a:extLst>
              <a:ext uri="{FF2B5EF4-FFF2-40B4-BE49-F238E27FC236}">
                <a16:creationId xmlns:a16="http://schemas.microsoft.com/office/drawing/2014/main" id="{CB1E6B12-23F8-5A4E-B88B-6B24C11FB57F}"/>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12534789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45309</TotalTime>
  <Words>6026</Words>
  <Application>Microsoft Macintosh PowerPoint</Application>
  <PresentationFormat>On-screen Show (16:9)</PresentationFormat>
  <Paragraphs>797</Paragraphs>
  <Slides>136</Slides>
  <Notes>116</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136</vt:i4>
      </vt:variant>
    </vt:vector>
  </HeadingPairs>
  <TitlesOfParts>
    <vt:vector size="146" baseType="lpstr">
      <vt:lpstr>Roboto Medium</vt:lpstr>
      <vt:lpstr>Fira Code</vt:lpstr>
      <vt:lpstr>Proxima Nova Semibold</vt:lpstr>
      <vt:lpstr>Arial</vt:lpstr>
      <vt:lpstr>Proxima Nova</vt:lpstr>
      <vt:lpstr>Montserrat</vt:lpstr>
      <vt:lpstr>Calibri</vt:lpstr>
      <vt:lpstr>Amatic SC</vt:lpstr>
      <vt:lpstr>Programming Language Workshop for Beginners by Slidesgo</vt:lpstr>
      <vt:lpstr>Slidesgo Final Pages</vt:lpstr>
      <vt:lpstr>JavaScript {</vt:lpstr>
      <vt:lpstr>Review of what we’ve learned - functions</vt:lpstr>
      <vt:lpstr>Functions – review (cont’d)</vt:lpstr>
      <vt:lpstr>Functions as first-class objects</vt:lpstr>
      <vt:lpstr>Defining functions</vt:lpstr>
      <vt:lpstr>Function declaration</vt:lpstr>
      <vt:lpstr>Function declaration (cont’d)</vt:lpstr>
      <vt:lpstr>Function expression</vt:lpstr>
      <vt:lpstr>Function expression (cont’d)</vt:lpstr>
      <vt:lpstr>Anonymous function</vt:lpstr>
      <vt:lpstr>Named function</vt:lpstr>
      <vt:lpstr>Arrow function</vt:lpstr>
      <vt:lpstr>Arrow function (cont’d)</vt:lpstr>
      <vt:lpstr>Arrow function (cont’d)</vt:lpstr>
      <vt:lpstr>Arrow function (cont’d)</vt:lpstr>
      <vt:lpstr>Optional arguments</vt:lpstr>
      <vt:lpstr>Optional arguments</vt:lpstr>
      <vt:lpstr>Fewer arguments (cont’d)</vt:lpstr>
      <vt:lpstr>Optional arguments (cont’d)</vt:lpstr>
      <vt:lpstr>Optional arguments (cont’d)</vt:lpstr>
      <vt:lpstr>Scope</vt:lpstr>
      <vt:lpstr>Global scope &amp; global variable</vt:lpstr>
      <vt:lpstr>Global scope/variable (cont’d)</vt:lpstr>
      <vt:lpstr>Local variable</vt:lpstr>
      <vt:lpstr>Function scope</vt:lpstr>
      <vt:lpstr>Function scope (cont’d)</vt:lpstr>
      <vt:lpstr>Block scope</vt:lpstr>
      <vt:lpstr>Block scope (cont’d)</vt:lpstr>
      <vt:lpstr>Function hoisting</vt:lpstr>
      <vt:lpstr>PowerPoint Presentation</vt:lpstr>
      <vt:lpstr>Bits</vt:lpstr>
      <vt:lpstr>Binary</vt:lpstr>
      <vt:lpstr>Bindings</vt:lpstr>
      <vt:lpstr>Binding - variables and constants</vt:lpstr>
      <vt:lpstr>Declaring and assigning variables</vt:lpstr>
      <vt:lpstr>Variable naming</vt:lpstr>
      <vt:lpstr>Variable naming (cont’d)</vt:lpstr>
      <vt:lpstr>Reserved words (variable naming)</vt:lpstr>
      <vt:lpstr>JavaScript {</vt:lpstr>
      <vt:lpstr>Two categories of data types</vt:lpstr>
      <vt:lpstr>7 Primitive Data Types</vt:lpstr>
      <vt:lpstr>Data type string</vt:lpstr>
      <vt:lpstr>Escape character (string)</vt:lpstr>
      <vt:lpstr>Escape character (string)</vt:lpstr>
      <vt:lpstr>Newline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NaN (number) </vt:lpstr>
      <vt:lpstr>Adding numbers and strings (number) </vt:lpstr>
      <vt:lpstr>Adding numbers and strings (number) </vt:lpstr>
      <vt:lpstr>Adding numbers and strings (number) </vt:lpstr>
      <vt:lpstr>Adding numbers and strings (number) </vt:lpstr>
      <vt:lpstr>Data type BigInt</vt:lpstr>
      <vt:lpstr>Data type BigInt (cont’d)</vt:lpstr>
      <vt:lpstr>Type Coercion (BigInt)</vt:lpstr>
      <vt:lpstr>BigInt vs number (BigInt)</vt:lpstr>
      <vt:lpstr>Data type boolean</vt:lpstr>
      <vt:lpstr>Truthy/falsy values (boolean)</vt:lpstr>
      <vt:lpstr>Truthy/falsy values (boolean)</vt:lpstr>
      <vt:lpstr>Truthy/falsy values (cont’d)</vt:lpstr>
      <vt:lpstr>Symbol</vt:lpstr>
      <vt:lpstr>undefined </vt:lpstr>
      <vt:lpstr>undefined (cont’d)</vt:lpstr>
      <vt:lpstr>null </vt:lpstr>
      <vt:lpstr>Non-primitive data types</vt:lpstr>
      <vt:lpstr>Array</vt:lpstr>
      <vt:lpstr>Array Literal Notation</vt:lpstr>
      <vt:lpstr>Declaring an array</vt:lpstr>
      <vt:lpstr>Declaring an array (cont’d)</vt:lpstr>
      <vt:lpstr>Array (cont’d)</vt:lpstr>
      <vt:lpstr>Array - data types</vt:lpstr>
      <vt:lpstr>Structure of arrays</vt:lpstr>
      <vt:lpstr>Using array index numbers</vt:lpstr>
      <vt:lpstr>Array.length</vt:lpstr>
      <vt:lpstr>Looping through an array</vt:lpstr>
      <vt:lpstr>Looping through an array</vt:lpstr>
      <vt:lpstr>Multidimensional arrays</vt:lpstr>
      <vt:lpstr>Multidimensional arrays (cont’d)</vt:lpstr>
      <vt:lpstr>Multidimensional arrays (cont’d)</vt:lpstr>
      <vt:lpstr>Object</vt:lpstr>
      <vt:lpstr>Immutability</vt:lpstr>
      <vt:lpstr>Copying by value vs by reference</vt:lpstr>
      <vt:lpstr>Copying by value vs by reference</vt:lpstr>
      <vt:lpstr>Copying by value</vt:lpstr>
      <vt:lpstr>Copy by reference</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17</cp:revision>
  <dcterms:modified xsi:type="dcterms:W3CDTF">2025-03-07T00:29:38Z</dcterms:modified>
</cp:coreProperties>
</file>